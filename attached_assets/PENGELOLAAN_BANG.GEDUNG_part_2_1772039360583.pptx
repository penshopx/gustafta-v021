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sldIdLst>
    <p:sldId id="269" r:id="rId2"/>
    <p:sldId id="459" r:id="rId3"/>
    <p:sldId id="487" r:id="rId4"/>
    <p:sldId id="488" r:id="rId5"/>
    <p:sldId id="486" r:id="rId6"/>
    <p:sldId id="365" r:id="rId7"/>
    <p:sldId id="499" r:id="rId8"/>
    <p:sldId id="502" r:id="rId9"/>
    <p:sldId id="500" r:id="rId10"/>
    <p:sldId id="501" r:id="rId11"/>
    <p:sldId id="489" r:id="rId12"/>
    <p:sldId id="490" r:id="rId13"/>
    <p:sldId id="491" r:id="rId14"/>
    <p:sldId id="492" r:id="rId15"/>
    <p:sldId id="493" r:id="rId16"/>
    <p:sldId id="494" r:id="rId17"/>
    <p:sldId id="366" r:id="rId18"/>
    <p:sldId id="484" r:id="rId19"/>
    <p:sldId id="440" r:id="rId20"/>
    <p:sldId id="416" r:id="rId21"/>
    <p:sldId id="418" r:id="rId22"/>
    <p:sldId id="419" r:id="rId23"/>
    <p:sldId id="420" r:id="rId24"/>
    <p:sldId id="421" r:id="rId25"/>
    <p:sldId id="422" r:id="rId26"/>
    <p:sldId id="398" r:id="rId27"/>
    <p:sldId id="367" r:id="rId28"/>
    <p:sldId id="368" r:id="rId29"/>
    <p:sldId id="369" r:id="rId30"/>
    <p:sldId id="370" r:id="rId31"/>
    <p:sldId id="371" r:id="rId32"/>
    <p:sldId id="373" r:id="rId33"/>
    <p:sldId id="374" r:id="rId34"/>
    <p:sldId id="375" r:id="rId35"/>
    <p:sldId id="376" r:id="rId36"/>
    <p:sldId id="377" r:id="rId37"/>
    <p:sldId id="390" r:id="rId38"/>
    <p:sldId id="391" r:id="rId39"/>
    <p:sldId id="465" r:id="rId40"/>
    <p:sldId id="393" r:id="rId41"/>
    <p:sldId id="394" r:id="rId42"/>
    <p:sldId id="467" r:id="rId43"/>
    <p:sldId id="468" r:id="rId44"/>
    <p:sldId id="478" r:id="rId45"/>
    <p:sldId id="479" r:id="rId46"/>
    <p:sldId id="483" r:id="rId47"/>
    <p:sldId id="480" r:id="rId48"/>
    <p:sldId id="395" r:id="rId49"/>
    <p:sldId id="460" r:id="rId50"/>
    <p:sldId id="461" r:id="rId51"/>
    <p:sldId id="462" r:id="rId52"/>
    <p:sldId id="463" r:id="rId53"/>
    <p:sldId id="476" r:id="rId54"/>
    <p:sldId id="477" r:id="rId55"/>
    <p:sldId id="469" r:id="rId56"/>
    <p:sldId id="470" r:id="rId57"/>
    <p:sldId id="471" r:id="rId58"/>
    <p:sldId id="472" r:id="rId59"/>
    <p:sldId id="473" r:id="rId60"/>
    <p:sldId id="475" r:id="rId61"/>
    <p:sldId id="474" r:id="rId62"/>
    <p:sldId id="397" r:id="rId63"/>
    <p:sldId id="496"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282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rijani Surjawinata" initials="A" lastIdx="3"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394" autoAdjust="0"/>
  </p:normalViewPr>
  <p:slideViewPr>
    <p:cSldViewPr showGuides="1">
      <p:cViewPr varScale="1">
        <p:scale>
          <a:sx n="77" d="100"/>
          <a:sy n="77" d="100"/>
        </p:scale>
        <p:origin x="1206" y="78"/>
      </p:cViewPr>
      <p:guideLst>
        <p:guide orient="horz" pos="2256"/>
        <p:guide pos="28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0-16T12:40:03.833" idx="1">
    <p:pos x="10" y="10"/>
    <p:tex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DD4DB6-CE64-4EF4-A2F2-6A61383EA22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DD4DB6-CE64-4EF4-A2F2-6A61383EA22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DD4DB6-CE64-4EF4-A2F2-6A61383EA22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DD4DB6-CE64-4EF4-A2F2-6A61383EA22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DD4DB6-CE64-4EF4-A2F2-6A61383EA224}"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DD4DB6-CE64-4EF4-A2F2-6A61383EA224}"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D4DB6-CE64-4EF4-A2F2-6A61383EA224}"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D4DB6-CE64-4EF4-A2F2-6A61383EA22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D4DB6-CE64-4EF4-A2F2-6A61383EA22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DD4DB6-CE64-4EF4-A2F2-6A61383EA22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DD4DB6-CE64-4EF4-A2F2-6A61383EA22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602850-BD0B-4543-A689-2823D5F7E4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D4DB6-CE64-4EF4-A2F2-6A61383EA224}" type="datetimeFigureOut">
              <a:rPr lang="en-US" smtClean="0"/>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602850-BD0B-4543-A689-2823D5F7E4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080504" y="4563018"/>
            <a:ext cx="184730" cy="800219"/>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endParaRPr lang="en-US" sz="28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a:p>
            <a:pPr algn="ctr"/>
            <a:endParaRPr lang="en-US"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pic>
        <p:nvPicPr>
          <p:cNvPr id="2" name="Picture 1" descr="The twisting tower agora"/>
          <p:cNvPicPr>
            <a:picLocks noChangeAspect="1"/>
          </p:cNvPicPr>
          <p:nvPr/>
        </p:nvPicPr>
        <p:blipFill>
          <a:blip r:embed="rId2"/>
          <a:stretch>
            <a:fillRect/>
          </a:stretch>
        </p:blipFill>
        <p:spPr>
          <a:xfrm>
            <a:off x="6100445" y="862965"/>
            <a:ext cx="2405380" cy="5244465"/>
          </a:xfrm>
          <a:prstGeom prst="rect">
            <a:avLst/>
          </a:prstGeom>
        </p:spPr>
      </p:pic>
      <p:sp>
        <p:nvSpPr>
          <p:cNvPr id="14" name="TextBox 7"/>
          <p:cNvSpPr txBox="1"/>
          <p:nvPr/>
        </p:nvSpPr>
        <p:spPr>
          <a:xfrm>
            <a:off x="1905000" y="5639038"/>
            <a:ext cx="309880" cy="337185"/>
          </a:xfrm>
          <a:prstGeom prst="rect">
            <a:avLst/>
          </a:prstGeom>
          <a:noFill/>
        </p:spPr>
        <p:txBody>
          <a:bodyPr wrap="none" rtlCol="0">
            <a:spAutoFit/>
          </a:bodyPr>
          <a:lstStyle/>
          <a:p>
            <a:endParaRPr lang="en-SG" altLang="en-US" sz="1600" dirty="0">
              <a:solidFill>
                <a:srgbClr val="0070C0"/>
              </a:solidFill>
            </a:endParaRPr>
          </a:p>
        </p:txBody>
      </p:sp>
      <p:sp>
        <p:nvSpPr>
          <p:cNvPr id="7" name="TextBox 7"/>
          <p:cNvSpPr txBox="1"/>
          <p:nvPr/>
        </p:nvSpPr>
        <p:spPr>
          <a:xfrm>
            <a:off x="1600200" y="5363210"/>
            <a:ext cx="3978910" cy="530860"/>
          </a:xfrm>
          <a:prstGeom prst="rect">
            <a:avLst/>
          </a:prstGeom>
          <a:noFill/>
        </p:spPr>
        <p:txBody>
          <a:bodyPr wrap="square" rtlCol="0">
            <a:noAutofit/>
            <a:scene3d>
              <a:camera prst="orthographicFront"/>
              <a:lightRig rig="threePt" dir="t"/>
            </a:scene3d>
          </a:bodyPr>
          <a:lstStyle/>
          <a:p>
            <a:pPr algn="ctr"/>
            <a:r>
              <a:rPr lang="en-SG" altLang="en-US" sz="2000" dirty="0">
                <a:solidFill>
                  <a:schemeClr val="tx1"/>
                </a:solidFill>
                <a:effectLst>
                  <a:outerShdw blurRad="38100" dist="19050" dir="2700000" algn="tl" rotWithShape="0">
                    <a:schemeClr val="dk1">
                      <a:alpha val="40000"/>
                    </a:schemeClr>
                  </a:outerShdw>
                </a:effectLst>
              </a:rPr>
              <a:t>by  Nanang Puguh Wibowo</a:t>
            </a:r>
          </a:p>
          <a:p>
            <a:r>
              <a:rPr lang="en-SG" altLang="en-US" sz="2000" dirty="0">
                <a:solidFill>
                  <a:schemeClr val="tx1"/>
                </a:solidFill>
                <a:effectLst>
                  <a:outerShdw blurRad="38100" dist="19050" dir="2700000" algn="tl" rotWithShape="0">
                    <a:schemeClr val="dk1">
                      <a:alpha val="40000"/>
                    </a:schemeClr>
                  </a:outerShdw>
                </a:effectLst>
              </a:rPr>
              <a:t> </a:t>
            </a:r>
          </a:p>
        </p:txBody>
      </p:sp>
      <p:sp>
        <p:nvSpPr>
          <p:cNvPr id="6" name="Text Box 5"/>
          <p:cNvSpPr txBox="1"/>
          <p:nvPr/>
        </p:nvSpPr>
        <p:spPr>
          <a:xfrm>
            <a:off x="3321685" y="2134235"/>
            <a:ext cx="462915" cy="3121025"/>
          </a:xfrm>
          <a:prstGeom prst="rect">
            <a:avLst/>
          </a:prstGeom>
          <a:noFill/>
        </p:spPr>
        <p:txBody>
          <a:bodyPr wrap="square" rtlCol="0">
            <a:noAutofit/>
          </a:bodyPr>
          <a:lstStyle/>
          <a:p>
            <a:pPr algn="ctr"/>
            <a:endParaRPr lang="en-SG" altLang="en-US" sz="3600" b="1" dirty="0">
              <a:solidFill>
                <a:srgbClr val="FF0000"/>
              </a:solidFill>
            </a:endParaRPr>
          </a:p>
        </p:txBody>
      </p:sp>
      <p:sp>
        <p:nvSpPr>
          <p:cNvPr id="8" name="Text Box 7"/>
          <p:cNvSpPr txBox="1"/>
          <p:nvPr/>
        </p:nvSpPr>
        <p:spPr>
          <a:xfrm>
            <a:off x="735330" y="914400"/>
            <a:ext cx="5194935" cy="878840"/>
          </a:xfrm>
          <a:prstGeom prst="rect">
            <a:avLst/>
          </a:prstGeom>
          <a:noFill/>
        </p:spPr>
        <p:txBody>
          <a:bodyPr wrap="square" rtlCol="0">
            <a:noAutofit/>
          </a:bodyPr>
          <a:lstStyle/>
          <a:p>
            <a:r>
              <a:rPr lang="en-SG" altLang="en-US" sz="2800" dirty="0">
                <a:solidFill>
                  <a:srgbClr val="0070C0"/>
                </a:solidFill>
              </a:rPr>
              <a:t>MANAJER PENGELOLA</a:t>
            </a:r>
            <a:endParaRPr lang="en-SG" altLang="en-US" sz="2000" dirty="0">
              <a:solidFill>
                <a:srgbClr val="0070C0"/>
              </a:solidFill>
            </a:endParaRPr>
          </a:p>
          <a:p>
            <a:pPr algn="r"/>
            <a:r>
              <a:rPr lang="en-SG" altLang="en-US" sz="2000" dirty="0">
                <a:solidFill>
                  <a:srgbClr val="0070C0"/>
                </a:solidFill>
              </a:rPr>
              <a:t> </a:t>
            </a:r>
            <a:r>
              <a:rPr lang="en-SG" altLang="en-US" sz="2800" dirty="0">
                <a:solidFill>
                  <a:srgbClr val="00B050"/>
                </a:solidFill>
              </a:rPr>
              <a:t>BANGUNAN GEDUNG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C4B35D-92BA-4915-A8CC-E7C9E54A6033}"/>
              </a:ext>
            </a:extLst>
          </p:cNvPr>
          <p:cNvSpPr txBox="1"/>
          <p:nvPr/>
        </p:nvSpPr>
        <p:spPr>
          <a:xfrm>
            <a:off x="762000" y="838200"/>
            <a:ext cx="4572000" cy="830997"/>
          </a:xfrm>
          <a:prstGeom prst="rect">
            <a:avLst/>
          </a:prstGeom>
          <a:noFill/>
        </p:spPr>
        <p:txBody>
          <a:bodyPr wrap="square">
            <a:spAutoFit/>
          </a:bodyPr>
          <a:lstStyle/>
          <a:p>
            <a:r>
              <a:rPr lang="en-SG" altLang="en-US" sz="2400" dirty="0">
                <a:solidFill>
                  <a:srgbClr val="0070C0"/>
                </a:solidFill>
              </a:rPr>
              <a:t>MANAJER PENGELOLA</a:t>
            </a:r>
          </a:p>
          <a:p>
            <a:pPr algn="r"/>
            <a:r>
              <a:rPr lang="en-SG" altLang="en-US" sz="2400" dirty="0">
                <a:solidFill>
                  <a:srgbClr val="0070C0"/>
                </a:solidFill>
              </a:rPr>
              <a:t> </a:t>
            </a:r>
            <a:r>
              <a:rPr lang="en-SG" altLang="en-US" sz="2400" dirty="0">
                <a:solidFill>
                  <a:srgbClr val="00B050"/>
                </a:solidFill>
              </a:rPr>
              <a:t>BANGUNAN GEDUNG</a:t>
            </a:r>
          </a:p>
        </p:txBody>
      </p:sp>
      <p:pic>
        <p:nvPicPr>
          <p:cNvPr id="5" name="Picture 4" descr="The twisting tower agora">
            <a:extLst>
              <a:ext uri="{FF2B5EF4-FFF2-40B4-BE49-F238E27FC236}">
                <a16:creationId xmlns:a16="http://schemas.microsoft.com/office/drawing/2014/main" id="{FB65EAD2-14C4-4A54-AF2B-4AA4B90923B6}"/>
              </a:ext>
            </a:extLst>
          </p:cNvPr>
          <p:cNvPicPr>
            <a:picLocks noChangeAspect="1"/>
          </p:cNvPicPr>
          <p:nvPr/>
        </p:nvPicPr>
        <p:blipFill>
          <a:blip r:embed="rId2"/>
          <a:stretch>
            <a:fillRect/>
          </a:stretch>
        </p:blipFill>
        <p:spPr>
          <a:xfrm>
            <a:off x="6100445" y="862965"/>
            <a:ext cx="2405380" cy="5244465"/>
          </a:xfrm>
          <a:prstGeom prst="rect">
            <a:avLst/>
          </a:prstGeom>
        </p:spPr>
      </p:pic>
      <p:sp>
        <p:nvSpPr>
          <p:cNvPr id="10" name="TextBox 9">
            <a:extLst>
              <a:ext uri="{FF2B5EF4-FFF2-40B4-BE49-F238E27FC236}">
                <a16:creationId xmlns:a16="http://schemas.microsoft.com/office/drawing/2014/main" id="{F6C15677-AC6B-4BF5-9A87-F094E96CFE61}"/>
              </a:ext>
            </a:extLst>
          </p:cNvPr>
          <p:cNvSpPr txBox="1"/>
          <p:nvPr/>
        </p:nvSpPr>
        <p:spPr>
          <a:xfrm>
            <a:off x="3200400" y="1752600"/>
            <a:ext cx="381000" cy="3970318"/>
          </a:xfrm>
          <a:prstGeom prst="rect">
            <a:avLst/>
          </a:prstGeom>
          <a:noFill/>
        </p:spPr>
        <p:txBody>
          <a:bodyPr wrap="square">
            <a:spAutoFit/>
          </a:bodyPr>
          <a:lstStyle/>
          <a:p>
            <a:pPr algn="ctr"/>
            <a:r>
              <a:rPr lang="en-SG" altLang="en-US" sz="2800" b="1" dirty="0">
                <a:solidFill>
                  <a:srgbClr val="FF0000"/>
                </a:solidFill>
              </a:rPr>
              <a:t>S</a:t>
            </a:r>
          </a:p>
          <a:p>
            <a:pPr algn="ctr"/>
            <a:r>
              <a:rPr lang="en-SG" altLang="en-US" sz="2800" b="1" dirty="0">
                <a:solidFill>
                  <a:srgbClr val="FF0000"/>
                </a:solidFill>
              </a:rPr>
              <a:t> K </a:t>
            </a:r>
          </a:p>
          <a:p>
            <a:pPr algn="ctr"/>
            <a:endParaRPr lang="en-SG" altLang="en-US" sz="2800" b="1" dirty="0">
              <a:solidFill>
                <a:srgbClr val="FF0000"/>
              </a:solidFill>
            </a:endParaRPr>
          </a:p>
          <a:p>
            <a:pPr algn="ctr"/>
            <a:r>
              <a:rPr lang="en-SG" altLang="en-US" sz="2800" b="1" dirty="0">
                <a:solidFill>
                  <a:srgbClr val="FF0000"/>
                </a:solidFill>
              </a:rPr>
              <a:t>K </a:t>
            </a:r>
          </a:p>
          <a:p>
            <a:pPr algn="ctr"/>
            <a:endParaRPr lang="en-SG" altLang="en-US" sz="2800" b="1" dirty="0">
              <a:solidFill>
                <a:srgbClr val="FF0000"/>
              </a:solidFill>
            </a:endParaRPr>
          </a:p>
          <a:p>
            <a:pPr algn="ctr"/>
            <a:r>
              <a:rPr lang="en-SG" altLang="en-US" sz="2800" b="1" dirty="0">
                <a:solidFill>
                  <a:srgbClr val="FF0000"/>
                </a:solidFill>
              </a:rPr>
              <a:t>N</a:t>
            </a:r>
          </a:p>
          <a:p>
            <a:pPr algn="ctr"/>
            <a:endParaRPr lang="en-SG" altLang="en-US" sz="2800" b="1" dirty="0">
              <a:solidFill>
                <a:srgbClr val="FF0000"/>
              </a:solidFill>
            </a:endParaRPr>
          </a:p>
          <a:p>
            <a:pPr algn="ctr"/>
            <a:r>
              <a:rPr lang="en-SG" altLang="en-US" sz="2800" b="1" dirty="0">
                <a:solidFill>
                  <a:srgbClr val="FF0000"/>
                </a:solidFill>
              </a:rPr>
              <a:t>I</a:t>
            </a:r>
          </a:p>
        </p:txBody>
      </p:sp>
      <p:sp>
        <p:nvSpPr>
          <p:cNvPr id="12" name="TextBox 11">
            <a:extLst>
              <a:ext uri="{FF2B5EF4-FFF2-40B4-BE49-F238E27FC236}">
                <a16:creationId xmlns:a16="http://schemas.microsoft.com/office/drawing/2014/main" id="{3D7D1BD5-C85A-4288-8EFE-4A6B998C4DC7}"/>
              </a:ext>
            </a:extLst>
          </p:cNvPr>
          <p:cNvSpPr txBox="1"/>
          <p:nvPr/>
        </p:nvSpPr>
        <p:spPr>
          <a:xfrm>
            <a:off x="1145223" y="5839724"/>
            <a:ext cx="4572000" cy="369332"/>
          </a:xfrm>
          <a:prstGeom prst="rect">
            <a:avLst/>
          </a:prstGeom>
          <a:noFill/>
        </p:spPr>
        <p:txBody>
          <a:bodyPr wrap="square">
            <a:spAutoFit/>
          </a:bodyPr>
          <a:lstStyle/>
          <a:p>
            <a:pPr algn="ctr"/>
            <a:r>
              <a:rPr lang="en-SG" altLang="en-US" sz="1800" dirty="0">
                <a:solidFill>
                  <a:schemeClr val="tx1"/>
                </a:solidFill>
                <a:effectLst>
                  <a:outerShdw blurRad="38100" dist="19050" dir="2700000" algn="tl" rotWithShape="0">
                    <a:schemeClr val="dk1">
                      <a:alpha val="40000"/>
                    </a:schemeClr>
                  </a:outerShdw>
                </a:effectLst>
              </a:rPr>
              <a:t>by  </a:t>
            </a:r>
            <a:r>
              <a:rPr lang="en-SG" altLang="en-US" sz="1800" dirty="0" err="1">
                <a:solidFill>
                  <a:schemeClr val="tx1"/>
                </a:solidFill>
                <a:effectLst>
                  <a:outerShdw blurRad="38100" dist="19050" dir="2700000" algn="tl" rotWithShape="0">
                    <a:schemeClr val="dk1">
                      <a:alpha val="40000"/>
                    </a:schemeClr>
                  </a:outerShdw>
                </a:effectLst>
              </a:rPr>
              <a:t>Nanang</a:t>
            </a:r>
            <a:r>
              <a:rPr lang="en-SG" altLang="en-US" sz="1800" dirty="0">
                <a:solidFill>
                  <a:schemeClr val="tx1"/>
                </a:solidFill>
                <a:effectLst>
                  <a:outerShdw blurRad="38100" dist="19050" dir="2700000" algn="tl" rotWithShape="0">
                    <a:schemeClr val="dk1">
                      <a:alpha val="40000"/>
                    </a:schemeClr>
                  </a:outerShdw>
                </a:effectLst>
              </a:rPr>
              <a:t> </a:t>
            </a:r>
            <a:r>
              <a:rPr lang="en-SG" altLang="en-US" sz="1800" dirty="0" err="1">
                <a:solidFill>
                  <a:schemeClr val="tx1"/>
                </a:solidFill>
                <a:effectLst>
                  <a:outerShdw blurRad="38100" dist="19050" dir="2700000" algn="tl" rotWithShape="0">
                    <a:schemeClr val="dk1">
                      <a:alpha val="40000"/>
                    </a:schemeClr>
                  </a:outerShdw>
                </a:effectLst>
              </a:rPr>
              <a:t>Puguh</a:t>
            </a:r>
            <a:r>
              <a:rPr lang="en-SG" altLang="en-US" sz="1800" dirty="0">
                <a:solidFill>
                  <a:schemeClr val="tx1"/>
                </a:solidFill>
                <a:effectLst>
                  <a:outerShdw blurRad="38100" dist="19050" dir="2700000" algn="tl" rotWithShape="0">
                    <a:schemeClr val="dk1">
                      <a:alpha val="40000"/>
                    </a:schemeClr>
                  </a:outerShdw>
                </a:effectLst>
              </a:rPr>
              <a:t> Wibowo</a:t>
            </a:r>
          </a:p>
        </p:txBody>
      </p:sp>
    </p:spTree>
    <p:extLst>
      <p:ext uri="{BB962C8B-B14F-4D97-AF65-F5344CB8AC3E}">
        <p14:creationId xmlns:p14="http://schemas.microsoft.com/office/powerpoint/2010/main" val="1072330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C679F3-B61C-45D4-889C-C295F5388F44}"/>
              </a:ext>
            </a:extLst>
          </p:cNvPr>
          <p:cNvSpPr txBox="1"/>
          <p:nvPr/>
        </p:nvSpPr>
        <p:spPr>
          <a:xfrm>
            <a:off x="952500" y="609600"/>
            <a:ext cx="7239000" cy="3046988"/>
          </a:xfrm>
          <a:prstGeom prst="rect">
            <a:avLst/>
          </a:prstGeom>
          <a:noFill/>
        </p:spPr>
        <p:txBody>
          <a:bodyPr wrap="square">
            <a:spAutoFit/>
          </a:bodyPr>
          <a:lstStyle/>
          <a:p>
            <a:r>
              <a:rPr lang="en-ID" sz="2800" b="1" i="1" u="sng" dirty="0"/>
              <a:t>MANAJER PENGELOLAAN GEDUNG </a:t>
            </a:r>
            <a:r>
              <a:rPr lang="en-ID" sz="2400" dirty="0"/>
              <a:t>: </a:t>
            </a:r>
          </a:p>
          <a:p>
            <a:endParaRPr lang="en-ID" sz="2400" dirty="0"/>
          </a:p>
          <a:p>
            <a:r>
              <a:rPr lang="en-ID" sz="2800" dirty="0" err="1"/>
              <a:t>Profesional</a:t>
            </a:r>
            <a:r>
              <a:rPr lang="en-ID" sz="2800" dirty="0"/>
              <a:t> yang </a:t>
            </a:r>
            <a:r>
              <a:rPr lang="en-ID" sz="2800" dirty="0" err="1"/>
              <a:t>bertanggung</a:t>
            </a:r>
            <a:r>
              <a:rPr lang="en-ID" sz="2800" dirty="0"/>
              <a:t> </a:t>
            </a:r>
            <a:r>
              <a:rPr lang="en-ID" sz="2800" dirty="0" err="1"/>
              <a:t>jawab</a:t>
            </a:r>
            <a:r>
              <a:rPr lang="en-ID" sz="2800" dirty="0"/>
              <a:t> </a:t>
            </a:r>
            <a:r>
              <a:rPr lang="en-ID" sz="2800" dirty="0" err="1"/>
              <a:t>atas</a:t>
            </a:r>
            <a:r>
              <a:rPr lang="en-ID" sz="2800" dirty="0"/>
              <a:t>  </a:t>
            </a:r>
            <a:r>
              <a:rPr lang="en-ID" sz="2800" dirty="0" err="1"/>
              <a:t>operasional</a:t>
            </a:r>
            <a:r>
              <a:rPr lang="en-ID" sz="2800" dirty="0"/>
              <a:t> ,</a:t>
            </a:r>
            <a:r>
              <a:rPr lang="en-ID" sz="2800" dirty="0" err="1"/>
              <a:t>pemeliharaan</a:t>
            </a:r>
            <a:r>
              <a:rPr lang="en-ID" sz="2800" dirty="0"/>
              <a:t>, </a:t>
            </a:r>
            <a:r>
              <a:rPr lang="en-ID" sz="2800" dirty="0" err="1"/>
              <a:t>kinerja</a:t>
            </a:r>
            <a:r>
              <a:rPr lang="en-ID" sz="2800" dirty="0"/>
              <a:t> </a:t>
            </a:r>
            <a:r>
              <a:rPr lang="en-ID" sz="2800" dirty="0" err="1"/>
              <a:t>gedung</a:t>
            </a:r>
            <a:r>
              <a:rPr lang="en-ID" sz="2800" dirty="0"/>
              <a:t> agar  </a:t>
            </a:r>
            <a:r>
              <a:rPr lang="en-ID" sz="2800" dirty="0" err="1"/>
              <a:t>berfungsi</a:t>
            </a:r>
            <a:r>
              <a:rPr lang="en-ID" sz="2800" dirty="0"/>
              <a:t> </a:t>
            </a:r>
            <a:r>
              <a:rPr lang="en-ID" sz="2800" dirty="0" err="1"/>
              <a:t>secara</a:t>
            </a:r>
            <a:r>
              <a:rPr lang="en-ID" sz="2800" dirty="0"/>
              <a:t> optimal, </a:t>
            </a:r>
            <a:r>
              <a:rPr lang="en-ID" sz="2800" dirty="0" err="1"/>
              <a:t>efisien</a:t>
            </a:r>
            <a:r>
              <a:rPr lang="en-ID" sz="2800" dirty="0"/>
              <a:t>, </a:t>
            </a:r>
            <a:r>
              <a:rPr lang="en-ID" sz="2800" dirty="0" err="1"/>
              <a:t>aman</a:t>
            </a:r>
            <a:r>
              <a:rPr lang="en-ID" sz="2800" dirty="0"/>
              <a:t>, </a:t>
            </a:r>
            <a:r>
              <a:rPr lang="en-ID" sz="2800" dirty="0" err="1"/>
              <a:t>nyaman</a:t>
            </a:r>
            <a:r>
              <a:rPr lang="en-ID" sz="2800" dirty="0"/>
              <a:t>, dan </a:t>
            </a:r>
            <a:r>
              <a:rPr lang="en-ID" sz="2800" dirty="0" err="1"/>
              <a:t>dapat</a:t>
            </a:r>
            <a:r>
              <a:rPr lang="en-ID" sz="2800" dirty="0"/>
              <a:t> </a:t>
            </a:r>
            <a:r>
              <a:rPr lang="en-ID" sz="2800" dirty="0" err="1"/>
              <a:t>mendatangkan</a:t>
            </a:r>
            <a:r>
              <a:rPr lang="en-ID" sz="2800" dirty="0"/>
              <a:t> </a:t>
            </a:r>
            <a:r>
              <a:rPr lang="en-ID" sz="2800" dirty="0" err="1"/>
              <a:t>nilai</a:t>
            </a:r>
            <a:r>
              <a:rPr lang="en-ID" sz="2800" dirty="0"/>
              <a:t> </a:t>
            </a:r>
            <a:r>
              <a:rPr lang="en-ID" sz="2800" dirty="0" err="1"/>
              <a:t>ekonomis</a:t>
            </a:r>
            <a:r>
              <a:rPr lang="en-ID" sz="2800" dirty="0"/>
              <a:t> </a:t>
            </a:r>
            <a:r>
              <a:rPr lang="en-ID" sz="2800" dirty="0" err="1"/>
              <a:t>serta</a:t>
            </a:r>
            <a:r>
              <a:rPr lang="en-ID" sz="2800" dirty="0"/>
              <a:t> </a:t>
            </a:r>
            <a:r>
              <a:rPr lang="en-ID" sz="2800" dirty="0" err="1"/>
              <a:t>dapat</a:t>
            </a:r>
            <a:r>
              <a:rPr lang="en-ID" sz="2800" dirty="0"/>
              <a:t> </a:t>
            </a:r>
            <a:r>
              <a:rPr lang="en-ID" sz="2800" dirty="0" err="1"/>
              <a:t>menyesuaikan</a:t>
            </a:r>
            <a:r>
              <a:rPr lang="en-ID" sz="2800" dirty="0"/>
              <a:t> </a:t>
            </a:r>
            <a:r>
              <a:rPr lang="en-ID" sz="2800" dirty="0" err="1"/>
              <a:t>tuntutan</a:t>
            </a:r>
            <a:r>
              <a:rPr lang="en-ID" sz="2800" dirty="0"/>
              <a:t> </a:t>
            </a:r>
            <a:r>
              <a:rPr lang="en-ID" sz="2800" dirty="0" err="1"/>
              <a:t>lingkungan</a:t>
            </a:r>
            <a:endParaRPr lang="en-ID" sz="2800" dirty="0"/>
          </a:p>
        </p:txBody>
      </p:sp>
    </p:spTree>
    <p:extLst>
      <p:ext uri="{BB962C8B-B14F-4D97-AF65-F5344CB8AC3E}">
        <p14:creationId xmlns:p14="http://schemas.microsoft.com/office/powerpoint/2010/main" val="1596222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7199F8-D151-40CA-B7B6-B229A8A505AE}"/>
              </a:ext>
            </a:extLst>
          </p:cNvPr>
          <p:cNvSpPr>
            <a:spLocks noChangeArrowheads="1"/>
          </p:cNvSpPr>
          <p:nvPr/>
        </p:nvSpPr>
        <p:spPr bwMode="auto">
          <a:xfrm>
            <a:off x="838199" y="1369061"/>
            <a:ext cx="7467601" cy="48566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Operasional</a:t>
            </a:r>
            <a:r>
              <a:rPr kumimoji="0" lang="en-US" altLang="en-US" sz="2000" b="1" i="0" u="none" strike="noStrike" cap="none" normalizeH="0" baseline="0" dirty="0">
                <a:ln>
                  <a:noFill/>
                </a:ln>
                <a:solidFill>
                  <a:srgbClr val="0A0A0A"/>
                </a:solidFill>
                <a:effectLst/>
                <a:latin typeface="Google Sans"/>
              </a:rPr>
              <a:t> dan </a:t>
            </a:r>
            <a:r>
              <a:rPr kumimoji="0" lang="en-US" altLang="en-US" sz="2000" b="1" i="0" u="none" strike="noStrike" cap="none" normalizeH="0" baseline="0" dirty="0" err="1">
                <a:ln>
                  <a:noFill/>
                </a:ln>
                <a:solidFill>
                  <a:srgbClr val="0A0A0A"/>
                </a:solidFill>
                <a:effectLst/>
                <a:latin typeface="Google Sans"/>
              </a:rPr>
              <a:t>pemeliharaan</a:t>
            </a:r>
            <a:r>
              <a:rPr kumimoji="0" lang="en-US" altLang="en-US" sz="2000" b="1" i="0" u="none" strike="noStrike" cap="none" normalizeH="0" baseline="0" dirty="0">
                <a:ln>
                  <a:noFill/>
                </a:ln>
                <a:solidFill>
                  <a:srgbClr val="0A0A0A"/>
                </a:solidFill>
                <a:effectLst/>
                <a:latin typeface="Google Sans"/>
              </a:rPr>
              <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Mengawasi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pemeliharaan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rutin</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perbaikan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infrastruktur</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seperti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sistem</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kelistrikan</a:t>
            </a:r>
            <a:r>
              <a:rPr kumimoji="0" lang="en-US" altLang="en-US" sz="2000" b="0" i="0" u="none" strike="noStrike" cap="none" normalizeH="0" baseline="0" dirty="0">
                <a:ln>
                  <a:noFill/>
                </a:ln>
                <a:solidFill>
                  <a:srgbClr val="0A0A0A"/>
                </a:solidFill>
                <a:effectLst/>
                <a:latin typeface="Google Sans"/>
              </a:rPr>
              <a:t>, lift, dan </a:t>
            </a:r>
            <a:r>
              <a:rPr kumimoji="0" lang="en-US" altLang="en-US" sz="2000" b="0" i="0" u="none" strike="noStrike" cap="none" normalizeH="0" baseline="0" dirty="0" err="1">
                <a:ln>
                  <a:noFill/>
                </a:ln>
                <a:solidFill>
                  <a:srgbClr val="0A0A0A"/>
                </a:solidFill>
                <a:effectLst/>
                <a:latin typeface="Google Sans"/>
              </a:rPr>
              <a:t>sanitasi</a:t>
            </a:r>
            <a:r>
              <a:rPr kumimoji="0" lang="en-US" altLang="en-US" sz="2000" b="0" i="0" u="none" strike="noStrike" cap="none" normalizeH="0" baseline="0" dirty="0">
                <a:ln>
                  <a:noFill/>
                </a:ln>
                <a:solidFill>
                  <a:srgbClr val="0A0A0A"/>
                </a:solidFill>
                <a:effectLst/>
                <a:latin typeface="Google Sans"/>
              </a:rPr>
              <a:t>.</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Keamanan</a:t>
            </a:r>
            <a:r>
              <a:rPr kumimoji="0" lang="en-US" altLang="en-US" sz="2000" b="1" i="0" u="none" strike="noStrike" cap="none" normalizeH="0" baseline="0" dirty="0">
                <a:ln>
                  <a:noFill/>
                </a:ln>
                <a:solidFill>
                  <a:srgbClr val="0A0A0A"/>
                </a:solidFill>
                <a:effectLst/>
                <a:latin typeface="Google Sans"/>
              </a:rPr>
              <a:t> dan </a:t>
            </a:r>
            <a:r>
              <a:rPr kumimoji="0" lang="en-US" altLang="en-US" sz="2000" b="1" i="0" u="none" strike="noStrike" cap="none" normalizeH="0" baseline="0" dirty="0" err="1">
                <a:ln>
                  <a:noFill/>
                </a:ln>
                <a:solidFill>
                  <a:srgbClr val="0A0A0A"/>
                </a:solidFill>
                <a:effectLst/>
                <a:latin typeface="Google Sans"/>
              </a:rPr>
              <a:t>keselamatan</a:t>
            </a:r>
            <a:r>
              <a:rPr kumimoji="0" lang="en-US" altLang="en-US" sz="2000" b="1" i="0" u="none" strike="noStrike" cap="none" normalizeH="0" baseline="0" dirty="0">
                <a:ln>
                  <a:noFill/>
                </a:ln>
                <a:solidFill>
                  <a:srgbClr val="0A0A0A"/>
                </a:solidFill>
                <a:effectLst/>
                <a:latin typeface="Google Sans"/>
              </a:rPr>
              <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Memastikan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keamanan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gedung</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dengan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mengelola</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staf</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keamanan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membuat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protokol</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darurat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seperti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jalur</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evakuasi</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menjaga</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lingkungan</a:t>
            </a:r>
            <a:r>
              <a:rPr kumimoji="0" lang="en-US" altLang="en-US" sz="2000" b="0" i="0" u="none" strike="noStrike" cap="none" normalizeH="0" baseline="0" dirty="0">
                <a:ln>
                  <a:noFill/>
                </a:ln>
                <a:solidFill>
                  <a:srgbClr val="0A0A0A"/>
                </a:solidFill>
                <a:effectLst/>
                <a:latin typeface="Google Sans"/>
              </a:rPr>
              <a:t> yang </a:t>
            </a:r>
            <a:r>
              <a:rPr kumimoji="0" lang="en-US" altLang="en-US" sz="2000" b="0" i="0" u="none" strike="noStrike" cap="none" normalizeH="0" baseline="0" dirty="0" err="1">
                <a:ln>
                  <a:noFill/>
                </a:ln>
                <a:solidFill>
                  <a:srgbClr val="0A0A0A"/>
                </a:solidFill>
                <a:effectLst/>
                <a:latin typeface="Google Sans"/>
              </a:rPr>
              <a:t>aman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bagi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penghuni</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pengunjung</a:t>
            </a:r>
            <a:r>
              <a:rPr kumimoji="0" lang="en-US" altLang="en-US" sz="200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Anggaran</a:t>
            </a:r>
            <a:r>
              <a:rPr kumimoji="0" lang="en-US" altLang="en-US" sz="2000" b="1" i="0" u="none" strike="noStrike" cap="none" normalizeH="0" baseline="0" dirty="0">
                <a:ln>
                  <a:noFill/>
                </a:ln>
                <a:solidFill>
                  <a:srgbClr val="0A0A0A"/>
                </a:solidFill>
                <a:effectLst/>
                <a:latin typeface="Google Sans"/>
              </a:rPr>
              <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Membuat</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memantau</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anggaran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untuk</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pemeliharaan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perbaikan</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pengeluaran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operasional</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gedung</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lainnya</a:t>
            </a:r>
            <a:r>
              <a:rPr kumimoji="0" lang="en-US" altLang="en-US" sz="200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Hubungan</a:t>
            </a:r>
            <a:r>
              <a:rPr kumimoji="0" lang="en-US" altLang="en-US" sz="2000" b="1" i="0" u="none" strike="noStrike" cap="none" normalizeH="0" baseline="0" dirty="0">
                <a:ln>
                  <a:noFill/>
                </a:ln>
                <a:solidFill>
                  <a:srgbClr val="0A0A0A"/>
                </a:solidFill>
                <a:effectLst/>
                <a:latin typeface="Google Sans"/>
              </a:rPr>
              <a:t> </a:t>
            </a:r>
            <a:r>
              <a:rPr kumimoji="0" lang="en-US" altLang="en-US" sz="2000" b="1" i="0" u="none" strike="noStrike" cap="none" normalizeH="0" baseline="0" dirty="0" err="1">
                <a:ln>
                  <a:noFill/>
                </a:ln>
                <a:solidFill>
                  <a:srgbClr val="0A0A0A"/>
                </a:solidFill>
                <a:effectLst/>
                <a:latin typeface="Google Sans"/>
              </a:rPr>
              <a:t>penyewa</a:t>
            </a:r>
            <a:r>
              <a:rPr kumimoji="0" lang="en-US" altLang="en-US" sz="2000" b="1" i="0" u="none" strike="noStrike" cap="none" normalizeH="0" baseline="0" dirty="0">
                <a:ln>
                  <a:noFill/>
                </a:ln>
                <a:solidFill>
                  <a:srgbClr val="0A0A0A"/>
                </a:solidFill>
                <a:effectLst/>
                <a:latin typeface="Google Sans"/>
              </a:rPr>
              <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Menyampaikan</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menindaklanjuti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kebutuhan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penghuni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gedung</a:t>
            </a:r>
            <a:r>
              <a:rPr kumimoji="0" lang="en-US" altLang="en-US" sz="200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Manajemen</a:t>
            </a:r>
            <a:r>
              <a:rPr kumimoji="0" lang="en-US" altLang="en-US" sz="2000" b="1" i="0" u="none" strike="noStrike" cap="none" normalizeH="0" baseline="0" dirty="0">
                <a:ln>
                  <a:noFill/>
                </a:ln>
                <a:solidFill>
                  <a:srgbClr val="0A0A0A"/>
                </a:solidFill>
                <a:effectLst/>
                <a:latin typeface="Google Sans"/>
              </a:rPr>
              <a:t> vendor:</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Memverifikasi</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mengawasi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kinerja</a:t>
            </a:r>
            <a:r>
              <a:rPr kumimoji="0" lang="en-US" altLang="en-US" sz="2000" b="0" i="0" u="none" strike="noStrike" cap="none" normalizeH="0" baseline="0" dirty="0">
                <a:ln>
                  <a:noFill/>
                </a:ln>
                <a:solidFill>
                  <a:srgbClr val="0A0A0A"/>
                </a:solidFill>
                <a:effectLst/>
                <a:latin typeface="Google Sans"/>
              </a:rPr>
              <a:t> vendor dan </a:t>
            </a:r>
            <a:r>
              <a:rPr kumimoji="0" lang="en-US" altLang="en-US" sz="2000" b="0" i="0" u="none" strike="noStrike" cap="none" normalizeH="0" baseline="0" dirty="0" err="1">
                <a:ln>
                  <a:noFill/>
                </a:ln>
                <a:solidFill>
                  <a:srgbClr val="0A0A0A"/>
                </a:solidFill>
                <a:effectLst/>
                <a:latin typeface="Google Sans"/>
              </a:rPr>
              <a:t>kontraktor</a:t>
            </a:r>
            <a:r>
              <a:rPr kumimoji="0" lang="en-US" altLang="en-US" sz="2000" b="0" i="0" u="none" strike="noStrike" cap="none" normalizeH="0" baseline="0" dirty="0">
                <a:ln>
                  <a:noFill/>
                </a:ln>
                <a:solidFill>
                  <a:srgbClr val="0A0A0A"/>
                </a:solidFill>
                <a:effectLst/>
                <a:latin typeface="Google Sans"/>
              </a:rPr>
              <a:t> yang </a:t>
            </a:r>
            <a:r>
              <a:rPr kumimoji="0" lang="en-US" altLang="en-US" sz="2000" b="0" i="0" u="none" strike="noStrike" cap="none" normalizeH="0" baseline="0" dirty="0" err="1">
                <a:ln>
                  <a:noFill/>
                </a:ln>
                <a:solidFill>
                  <a:srgbClr val="0A0A0A"/>
                </a:solidFill>
                <a:effectLst/>
                <a:latin typeface="Google Sans"/>
              </a:rPr>
              <a:t>bekerja</a:t>
            </a:r>
            <a:r>
              <a:rPr kumimoji="0" lang="en-US" altLang="en-US" sz="2000" b="0" i="0" u="none" strike="noStrike" cap="none" normalizeH="0" baseline="0" dirty="0">
                <a:ln>
                  <a:noFill/>
                </a:ln>
                <a:solidFill>
                  <a:srgbClr val="0A0A0A"/>
                </a:solidFill>
                <a:effectLst/>
                <a:latin typeface="Google Sans"/>
              </a:rPr>
              <a:t> di </a:t>
            </a:r>
            <a:r>
              <a:rPr kumimoji="0" lang="en-US" altLang="en-US" sz="2000" b="0" i="0" u="none" strike="noStrike" cap="none" normalizeH="0" baseline="0" dirty="0" err="1">
                <a:ln>
                  <a:noFill/>
                </a:ln>
                <a:solidFill>
                  <a:srgbClr val="0A0A0A"/>
                </a:solidFill>
                <a:effectLst/>
                <a:latin typeface="Google Sans"/>
              </a:rPr>
              <a:t>dalam</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gedung</a:t>
            </a:r>
            <a:r>
              <a:rPr kumimoji="0" lang="en-US" altLang="en-US" sz="2000" b="0" i="0" u="none" strike="noStrike" cap="none" normalizeH="0" baseline="0" dirty="0">
                <a:ln>
                  <a:noFill/>
                </a:ln>
                <a:solidFill>
                  <a:srgbClr val="0A0A0A"/>
                </a:solidFill>
                <a:effectLst/>
                <a:latin typeface="Google Sans"/>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rgbClr val="0A0A0A"/>
                </a:solidFill>
                <a:effectLst/>
                <a:latin typeface="Google Sans"/>
              </a:rPr>
              <a:t>Kepatuhan</a:t>
            </a:r>
            <a:r>
              <a:rPr kumimoji="0" lang="en-US" altLang="en-US" sz="2000" b="1" i="0" u="none" strike="noStrike" cap="none" normalizeH="0" baseline="0" dirty="0">
                <a:ln>
                  <a:noFill/>
                </a:ln>
                <a:solidFill>
                  <a:srgbClr val="0A0A0A"/>
                </a:solidFill>
                <a:effectLst/>
                <a:latin typeface="Google Sans"/>
              </a:rPr>
              <a:t>:</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Memastikan</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gedung</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mematuhi</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semua</a:t>
            </a:r>
            <a:r>
              <a:rPr kumimoji="0" lang="en-US" altLang="en-US" sz="2000" b="0" i="0" u="none" strike="noStrike" cap="none" normalizeH="0" baseline="0" dirty="0">
                <a:ln>
                  <a:noFill/>
                </a:ln>
                <a:solidFill>
                  <a:srgbClr val="0A0A0A"/>
                </a:solidFill>
                <a:effectLst/>
                <a:latin typeface="Google Sans"/>
              </a:rPr>
              <a:t> </a:t>
            </a:r>
            <a:r>
              <a:rPr kumimoji="0" lang="en-US" altLang="en-US" sz="2000" b="0" i="0" u="none" strike="noStrike" cap="none" normalizeH="0" baseline="0" dirty="0" err="1">
                <a:ln>
                  <a:noFill/>
                </a:ln>
                <a:solidFill>
                  <a:srgbClr val="0A0A0A"/>
                </a:solidFill>
                <a:effectLst/>
                <a:latin typeface="Google Sans"/>
              </a:rPr>
              <a:t>peraturan</a:t>
            </a:r>
            <a:r>
              <a:rPr kumimoji="0" lang="en-US" altLang="en-US" sz="2000" b="0" i="0" u="none" strike="noStrike" cap="none" normalizeH="0" baseline="0" dirty="0">
                <a:ln>
                  <a:noFill/>
                </a:ln>
                <a:solidFill>
                  <a:srgbClr val="0A0A0A"/>
                </a:solidFill>
                <a:effectLst/>
                <a:latin typeface="Google Sans"/>
              </a:rPr>
              <a:t> dan </a:t>
            </a:r>
            <a:r>
              <a:rPr kumimoji="0" lang="en-US" altLang="en-US" sz="2000" b="0" i="0" u="none" strike="noStrike" cap="none" normalizeH="0" baseline="0" dirty="0" err="1">
                <a:ln>
                  <a:noFill/>
                </a:ln>
                <a:solidFill>
                  <a:srgbClr val="0A0A0A"/>
                </a:solidFill>
                <a:effectLst/>
                <a:latin typeface="Google Sans"/>
              </a:rPr>
              <a:t>standar</a:t>
            </a:r>
            <a:r>
              <a:rPr kumimoji="0" lang="en-US" altLang="en-US" sz="2000" b="0" i="0" u="none" strike="noStrike" cap="none" normalizeH="0" baseline="0" dirty="0">
                <a:ln>
                  <a:noFill/>
                </a:ln>
                <a:solidFill>
                  <a:srgbClr val="0A0A0A"/>
                </a:solidFill>
                <a:effectLst/>
                <a:latin typeface="Google Sans"/>
              </a:rPr>
              <a:t> yang </a:t>
            </a:r>
            <a:r>
              <a:rPr kumimoji="0" lang="en-US" altLang="en-US" sz="2000" b="0" i="0" u="none" strike="noStrike" cap="none" normalizeH="0" baseline="0" dirty="0" err="1">
                <a:ln>
                  <a:noFill/>
                </a:ln>
                <a:solidFill>
                  <a:srgbClr val="0A0A0A"/>
                </a:solidFill>
                <a:effectLst/>
                <a:latin typeface="Google Sans"/>
              </a:rPr>
              <a:t>berlaku</a:t>
            </a:r>
            <a:r>
              <a:rPr kumimoji="0" lang="en-US" altLang="en-US" sz="2000" b="0" i="0" u="none" strike="noStrike" cap="none" normalizeH="0" baseline="0" dirty="0">
                <a:ln>
                  <a:noFill/>
                </a:ln>
                <a:solidFill>
                  <a:srgbClr val="0A0A0A"/>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3AD15E0-4E81-4F1E-AD73-0A074056AB3F}"/>
              </a:ext>
            </a:extLst>
          </p:cNvPr>
          <p:cNvSpPr txBox="1"/>
          <p:nvPr/>
        </p:nvSpPr>
        <p:spPr>
          <a:xfrm>
            <a:off x="838199" y="632246"/>
            <a:ext cx="457200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u="sng" dirty="0">
                <a:solidFill>
                  <a:srgbClr val="0A0A0A"/>
                </a:solidFill>
                <a:latin typeface="Google Sans"/>
              </a:rPr>
              <a:t>TUGAS LAIN</a:t>
            </a:r>
            <a:endParaRPr kumimoji="0" lang="en-US" altLang="en-US" sz="2800" b="0" i="0" u="sng" strike="noStrike" cap="none" normalizeH="0" baseline="0" dirty="0">
              <a:ln>
                <a:noFill/>
              </a:ln>
              <a:solidFill>
                <a:schemeClr val="tx1"/>
              </a:solidFill>
              <a:effectLst/>
            </a:endParaRPr>
          </a:p>
        </p:txBody>
      </p:sp>
    </p:spTree>
    <p:extLst>
      <p:ext uri="{BB962C8B-B14F-4D97-AF65-F5344CB8AC3E}">
        <p14:creationId xmlns:p14="http://schemas.microsoft.com/office/powerpoint/2010/main" val="1348157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23083E-3353-40AA-9A06-E3F003FB34A9}"/>
              </a:ext>
            </a:extLst>
          </p:cNvPr>
          <p:cNvSpPr txBox="1"/>
          <p:nvPr/>
        </p:nvSpPr>
        <p:spPr>
          <a:xfrm>
            <a:off x="762000" y="939141"/>
            <a:ext cx="7391400" cy="4154984"/>
          </a:xfrm>
          <a:prstGeom prst="rect">
            <a:avLst/>
          </a:prstGeom>
          <a:noFill/>
        </p:spPr>
        <p:txBody>
          <a:bodyPr wrap="square">
            <a:spAutoFit/>
          </a:bodyPr>
          <a:lstStyle/>
          <a:p>
            <a:pPr marL="0" indent="0" algn="ctr">
              <a:buNone/>
            </a:pPr>
            <a:r>
              <a:rPr lang="en-US" sz="2400" dirty="0">
                <a:sym typeface="+mn-ea"/>
              </a:rPr>
              <a:t>KOMPETENSI </a:t>
            </a:r>
            <a:r>
              <a:rPr lang="en-US" sz="2400" dirty="0" err="1">
                <a:sym typeface="+mn-ea"/>
              </a:rPr>
              <a:t>Manajer</a:t>
            </a:r>
            <a:r>
              <a:rPr lang="en-US" sz="2400" dirty="0">
                <a:sym typeface="+mn-ea"/>
              </a:rPr>
              <a:t> </a:t>
            </a:r>
            <a:r>
              <a:rPr lang="en-US" sz="2400" dirty="0" err="1">
                <a:sym typeface="+mn-ea"/>
              </a:rPr>
              <a:t>Pengelolaan</a:t>
            </a:r>
            <a:r>
              <a:rPr lang="en-US" sz="2400" dirty="0">
                <a:sym typeface="+mn-ea"/>
              </a:rPr>
              <a:t> Gedung</a:t>
            </a:r>
          </a:p>
          <a:p>
            <a:pPr marL="0" indent="0">
              <a:buNone/>
            </a:pPr>
            <a:endParaRPr lang="en-US" sz="2400" dirty="0"/>
          </a:p>
          <a:p>
            <a:pPr marL="0" indent="0">
              <a:buNone/>
            </a:pPr>
            <a:r>
              <a:rPr lang="en-US" sz="1800" dirty="0">
                <a:sym typeface="+mn-ea"/>
              </a:rPr>
              <a:t>1.Menerapkan </a:t>
            </a:r>
            <a:r>
              <a:rPr lang="en-US" sz="1800" dirty="0" err="1">
                <a:sym typeface="+mn-ea"/>
              </a:rPr>
              <a:t>Sistem</a:t>
            </a:r>
            <a:r>
              <a:rPr lang="en-US" sz="1800" dirty="0">
                <a:sym typeface="+mn-ea"/>
              </a:rPr>
              <a:t> </a:t>
            </a:r>
            <a:r>
              <a:rPr lang="en-US" sz="1800" dirty="0" err="1">
                <a:sym typeface="+mn-ea"/>
              </a:rPr>
              <a:t>Manajemen</a:t>
            </a:r>
            <a:r>
              <a:rPr lang="en-US" sz="1800" dirty="0">
                <a:sym typeface="+mn-ea"/>
              </a:rPr>
              <a:t> </a:t>
            </a:r>
            <a:r>
              <a:rPr lang="en-US" sz="1800" dirty="0" err="1">
                <a:sym typeface="+mn-ea"/>
              </a:rPr>
              <a:t>Keselamatan</a:t>
            </a:r>
            <a:r>
              <a:rPr lang="en-US" sz="1800" dirty="0">
                <a:sym typeface="+mn-ea"/>
              </a:rPr>
              <a:t> dan Kesehatan </a:t>
            </a:r>
            <a:r>
              <a:rPr lang="en-SG" altLang="en-US" sz="1800" dirty="0">
                <a:sym typeface="+mn-ea"/>
              </a:rPr>
              <a:t>  </a:t>
            </a:r>
            <a:r>
              <a:rPr lang="en-US" sz="1800" dirty="0" err="1">
                <a:sym typeface="+mn-ea"/>
              </a:rPr>
              <a:t>Kerja</a:t>
            </a:r>
            <a:r>
              <a:rPr lang="en-US" sz="1800" dirty="0">
                <a:sym typeface="+mn-ea"/>
              </a:rPr>
              <a:t> </a:t>
            </a:r>
            <a:r>
              <a:rPr lang="en-SG" altLang="en-US" sz="1800" dirty="0">
                <a:sym typeface="+mn-ea"/>
              </a:rPr>
              <a:t>     	</a:t>
            </a:r>
            <a:r>
              <a:rPr lang="en-US" sz="1800" dirty="0" err="1">
                <a:sym typeface="+mn-ea"/>
              </a:rPr>
              <a:t>serta</a:t>
            </a:r>
            <a:r>
              <a:rPr lang="en-US" sz="1800" dirty="0">
                <a:sym typeface="+mn-ea"/>
              </a:rPr>
              <a:t> </a:t>
            </a:r>
            <a:r>
              <a:rPr lang="en-US" sz="1800" dirty="0" err="1">
                <a:sym typeface="+mn-ea"/>
              </a:rPr>
              <a:t>Lingkungan</a:t>
            </a:r>
            <a:r>
              <a:rPr lang="en-US" sz="1800" dirty="0">
                <a:sym typeface="+mn-ea"/>
              </a:rPr>
              <a:t> </a:t>
            </a:r>
            <a:r>
              <a:rPr lang="en-US" sz="1800" dirty="0" err="1">
                <a:sym typeface="+mn-ea"/>
              </a:rPr>
              <a:t>Hidup</a:t>
            </a:r>
            <a:r>
              <a:rPr lang="en-US" sz="1800" dirty="0">
                <a:sym typeface="+mn-ea"/>
              </a:rPr>
              <a:t> (SMK3 LH) </a:t>
            </a:r>
            <a:endParaRPr lang="en-US" sz="1800" dirty="0"/>
          </a:p>
          <a:p>
            <a:pPr marL="0" indent="0">
              <a:buNone/>
            </a:pPr>
            <a:r>
              <a:rPr lang="en-US" sz="1800" dirty="0">
                <a:sym typeface="+mn-ea"/>
              </a:rPr>
              <a:t>2.Menentukan Target </a:t>
            </a:r>
            <a:r>
              <a:rPr lang="en-US" sz="1800" dirty="0" err="1">
                <a:sym typeface="+mn-ea"/>
              </a:rPr>
              <a:t>Keuntungan</a:t>
            </a:r>
            <a:r>
              <a:rPr lang="en-US" sz="1800" dirty="0">
                <a:sym typeface="+mn-ea"/>
              </a:rPr>
              <a:t> </a:t>
            </a:r>
            <a:endParaRPr lang="en-US" sz="1800" dirty="0"/>
          </a:p>
          <a:p>
            <a:pPr marL="0" indent="0">
              <a:buNone/>
            </a:pPr>
            <a:r>
              <a:rPr lang="en-US" sz="1800" dirty="0">
                <a:sym typeface="+mn-ea"/>
              </a:rPr>
              <a:t>3.Melaksanakan </a:t>
            </a:r>
            <a:r>
              <a:rPr lang="en-US" sz="1800" dirty="0" err="1">
                <a:sym typeface="+mn-ea"/>
              </a:rPr>
              <a:t>Pengelolaan</a:t>
            </a:r>
            <a:r>
              <a:rPr lang="en-US" sz="1800" dirty="0">
                <a:sym typeface="+mn-ea"/>
              </a:rPr>
              <a:t> </a:t>
            </a:r>
            <a:r>
              <a:rPr lang="en-US" sz="1800" dirty="0" err="1">
                <a:sym typeface="+mn-ea"/>
              </a:rPr>
              <a:t>Sumber</a:t>
            </a:r>
            <a:r>
              <a:rPr lang="en-US" sz="1800" dirty="0">
                <a:sym typeface="+mn-ea"/>
              </a:rPr>
              <a:t> </a:t>
            </a:r>
            <a:r>
              <a:rPr lang="en-US" sz="1800" dirty="0" err="1">
                <a:sym typeface="+mn-ea"/>
              </a:rPr>
              <a:t>Daya</a:t>
            </a:r>
            <a:r>
              <a:rPr lang="en-US" sz="1800" dirty="0">
                <a:sym typeface="+mn-ea"/>
              </a:rPr>
              <a:t> </a:t>
            </a:r>
            <a:r>
              <a:rPr lang="en-US" sz="1800" dirty="0" err="1">
                <a:sym typeface="+mn-ea"/>
              </a:rPr>
              <a:t>Manusia</a:t>
            </a:r>
            <a:r>
              <a:rPr lang="en-US" sz="1800" dirty="0">
                <a:sym typeface="+mn-ea"/>
              </a:rPr>
              <a:t> </a:t>
            </a:r>
            <a:endParaRPr lang="en-US" sz="1800" dirty="0"/>
          </a:p>
          <a:p>
            <a:pPr marL="0" indent="0">
              <a:buNone/>
            </a:pPr>
            <a:r>
              <a:rPr lang="en-US" sz="1800" dirty="0">
                <a:sym typeface="+mn-ea"/>
              </a:rPr>
              <a:t>4.Melaksanakan </a:t>
            </a:r>
            <a:r>
              <a:rPr lang="en-US" sz="1800" dirty="0" err="1">
                <a:sym typeface="+mn-ea"/>
              </a:rPr>
              <a:t>Pengelolaan</a:t>
            </a:r>
            <a:r>
              <a:rPr lang="en-US" sz="1800" dirty="0">
                <a:sym typeface="+mn-ea"/>
              </a:rPr>
              <a:t> </a:t>
            </a:r>
            <a:r>
              <a:rPr lang="en-US" sz="1800" dirty="0" err="1">
                <a:sym typeface="+mn-ea"/>
              </a:rPr>
              <a:t>Urusan</a:t>
            </a:r>
            <a:r>
              <a:rPr lang="en-US" sz="1800" dirty="0">
                <a:sym typeface="+mn-ea"/>
              </a:rPr>
              <a:t> </a:t>
            </a:r>
            <a:r>
              <a:rPr lang="en-US" sz="1800" dirty="0" err="1">
                <a:sym typeface="+mn-ea"/>
              </a:rPr>
              <a:t>Umum</a:t>
            </a:r>
            <a:r>
              <a:rPr lang="en-US" sz="1800" dirty="0">
                <a:sym typeface="+mn-ea"/>
              </a:rPr>
              <a:t> </a:t>
            </a:r>
            <a:endParaRPr lang="en-US" sz="1800" dirty="0"/>
          </a:p>
          <a:p>
            <a:pPr marL="0" indent="0">
              <a:buNone/>
            </a:pPr>
            <a:r>
              <a:rPr lang="en-US" sz="1800" dirty="0">
                <a:sym typeface="+mn-ea"/>
              </a:rPr>
              <a:t>5.Melaksanakan </a:t>
            </a:r>
            <a:r>
              <a:rPr lang="en-US" sz="1800" dirty="0" err="1">
                <a:sym typeface="+mn-ea"/>
              </a:rPr>
              <a:t>Pengelolaan</a:t>
            </a:r>
            <a:r>
              <a:rPr lang="en-US" sz="1800" dirty="0">
                <a:sym typeface="+mn-ea"/>
              </a:rPr>
              <a:t> </a:t>
            </a:r>
            <a:r>
              <a:rPr lang="en-US" sz="1800" dirty="0" err="1">
                <a:sym typeface="+mn-ea"/>
              </a:rPr>
              <a:t>Keuangan</a:t>
            </a:r>
            <a:r>
              <a:rPr lang="en-US" sz="1800" dirty="0">
                <a:sym typeface="+mn-ea"/>
              </a:rPr>
              <a:t> </a:t>
            </a:r>
            <a:endParaRPr lang="en-US" sz="1800" dirty="0"/>
          </a:p>
          <a:p>
            <a:pPr marL="0" indent="0">
              <a:buNone/>
            </a:pPr>
            <a:r>
              <a:rPr lang="en-US" sz="1800" dirty="0">
                <a:sym typeface="+mn-ea"/>
              </a:rPr>
              <a:t>6.Melaksanakan </a:t>
            </a:r>
            <a:r>
              <a:rPr lang="en-US" sz="1800" dirty="0" err="1">
                <a:sym typeface="+mn-ea"/>
              </a:rPr>
              <a:t>Pengelolaan</a:t>
            </a:r>
            <a:r>
              <a:rPr lang="en-US" sz="1800" dirty="0">
                <a:sym typeface="+mn-ea"/>
              </a:rPr>
              <a:t> </a:t>
            </a:r>
            <a:r>
              <a:rPr lang="en-US" sz="1800" dirty="0" err="1">
                <a:sym typeface="+mn-ea"/>
              </a:rPr>
              <a:t>Pemasaran</a:t>
            </a:r>
            <a:r>
              <a:rPr lang="en-US" sz="1800" dirty="0">
                <a:sym typeface="+mn-ea"/>
              </a:rPr>
              <a:t> </a:t>
            </a:r>
            <a:endParaRPr lang="en-US" sz="1800" dirty="0"/>
          </a:p>
          <a:p>
            <a:pPr marL="0" indent="0">
              <a:buNone/>
            </a:pPr>
            <a:r>
              <a:rPr lang="en-US" sz="1800" dirty="0">
                <a:sym typeface="+mn-ea"/>
              </a:rPr>
              <a:t>7.Melaksanakan </a:t>
            </a:r>
            <a:r>
              <a:rPr lang="en-US" sz="1800" dirty="0" err="1">
                <a:sym typeface="+mn-ea"/>
              </a:rPr>
              <a:t>Pengelolaan</a:t>
            </a:r>
            <a:r>
              <a:rPr lang="en-US" sz="1800" dirty="0">
                <a:sym typeface="+mn-ea"/>
              </a:rPr>
              <a:t> </a:t>
            </a:r>
            <a:r>
              <a:rPr lang="en-US" sz="1800" dirty="0" err="1">
                <a:sym typeface="+mn-ea"/>
              </a:rPr>
              <a:t>Keamanan</a:t>
            </a:r>
            <a:r>
              <a:rPr lang="en-US" sz="1800" dirty="0">
                <a:sym typeface="+mn-ea"/>
              </a:rPr>
              <a:t> </a:t>
            </a:r>
            <a:endParaRPr lang="en-US" sz="1800" dirty="0"/>
          </a:p>
          <a:p>
            <a:pPr marL="0" indent="0">
              <a:buNone/>
            </a:pPr>
            <a:r>
              <a:rPr lang="en-US" sz="1800" dirty="0">
                <a:sym typeface="+mn-ea"/>
              </a:rPr>
              <a:t>8.Melaksankan </a:t>
            </a:r>
            <a:r>
              <a:rPr lang="en-US" sz="1800" dirty="0" err="1">
                <a:sym typeface="+mn-ea"/>
              </a:rPr>
              <a:t>Pengelolaan</a:t>
            </a:r>
            <a:r>
              <a:rPr lang="en-US" sz="1800" dirty="0">
                <a:sym typeface="+mn-ea"/>
              </a:rPr>
              <a:t> </a:t>
            </a:r>
            <a:r>
              <a:rPr lang="en-US" sz="1800" dirty="0" err="1">
                <a:sym typeface="+mn-ea"/>
              </a:rPr>
              <a:t>Pengoperasian</a:t>
            </a:r>
            <a:r>
              <a:rPr lang="en-US" sz="1800" dirty="0">
                <a:sym typeface="+mn-ea"/>
              </a:rPr>
              <a:t> </a:t>
            </a:r>
            <a:endParaRPr lang="en-US" sz="1800" dirty="0"/>
          </a:p>
          <a:p>
            <a:pPr marL="0" indent="0">
              <a:buNone/>
            </a:pPr>
            <a:r>
              <a:rPr lang="en-US" sz="1800" dirty="0">
                <a:sym typeface="+mn-ea"/>
              </a:rPr>
              <a:t>9.Melaksanakan </a:t>
            </a:r>
            <a:r>
              <a:rPr lang="en-US" sz="1800" dirty="0" err="1">
                <a:sym typeface="+mn-ea"/>
              </a:rPr>
              <a:t>Pengelolaan</a:t>
            </a:r>
            <a:r>
              <a:rPr lang="en-US" sz="1800" dirty="0">
                <a:sym typeface="+mn-ea"/>
              </a:rPr>
              <a:t> </a:t>
            </a:r>
            <a:r>
              <a:rPr lang="en-US" sz="1800" dirty="0" err="1">
                <a:sym typeface="+mn-ea"/>
              </a:rPr>
              <a:t>Pemeliharaan</a:t>
            </a:r>
            <a:r>
              <a:rPr lang="en-US" sz="1800" dirty="0">
                <a:sym typeface="+mn-ea"/>
              </a:rPr>
              <a:t> </a:t>
            </a:r>
            <a:endParaRPr lang="en-US" sz="1800" dirty="0"/>
          </a:p>
          <a:p>
            <a:pPr marL="0" indent="0">
              <a:buNone/>
            </a:pPr>
            <a:r>
              <a:rPr lang="en-US" sz="1800" dirty="0">
                <a:sym typeface="+mn-ea"/>
              </a:rPr>
              <a:t>10.Melaksanakan </a:t>
            </a:r>
            <a:r>
              <a:rPr lang="en-US" sz="1800" dirty="0" err="1">
                <a:sym typeface="+mn-ea"/>
              </a:rPr>
              <a:t>Pengelolaan</a:t>
            </a:r>
            <a:r>
              <a:rPr lang="en-US" sz="1800" dirty="0">
                <a:sym typeface="+mn-ea"/>
              </a:rPr>
              <a:t> </a:t>
            </a:r>
            <a:r>
              <a:rPr lang="en-US" sz="1800" dirty="0" err="1">
                <a:sym typeface="+mn-ea"/>
              </a:rPr>
              <a:t>Perawatan</a:t>
            </a:r>
            <a:r>
              <a:rPr lang="en-US" sz="1800" dirty="0">
                <a:sym typeface="+mn-ea"/>
              </a:rPr>
              <a:t> </a:t>
            </a:r>
            <a:endParaRPr lang="en-US" sz="1800" dirty="0"/>
          </a:p>
          <a:p>
            <a:pPr marL="0" indent="0">
              <a:buNone/>
            </a:pPr>
            <a:r>
              <a:rPr lang="en-US" sz="1800" dirty="0">
                <a:sym typeface="+mn-ea"/>
              </a:rPr>
              <a:t>11.Membuat </a:t>
            </a:r>
            <a:r>
              <a:rPr lang="en-US" sz="1800" dirty="0" err="1">
                <a:sym typeface="+mn-ea"/>
              </a:rPr>
              <a:t>Laporan</a:t>
            </a:r>
            <a:r>
              <a:rPr lang="en-US" sz="1800" dirty="0">
                <a:sym typeface="+mn-ea"/>
              </a:rPr>
              <a:t> </a:t>
            </a:r>
            <a:r>
              <a:rPr lang="en-US" sz="1800" dirty="0" err="1">
                <a:sym typeface="+mn-ea"/>
              </a:rPr>
              <a:t>Pengelolaan</a:t>
            </a:r>
            <a:r>
              <a:rPr lang="en-US" sz="1800" dirty="0">
                <a:sym typeface="+mn-ea"/>
              </a:rPr>
              <a:t> </a:t>
            </a:r>
            <a:r>
              <a:rPr lang="en-US" sz="1800" dirty="0" err="1">
                <a:sym typeface="+mn-ea"/>
              </a:rPr>
              <a:t>Bangunan</a:t>
            </a:r>
            <a:r>
              <a:rPr lang="en-US" sz="1800" dirty="0">
                <a:sym typeface="+mn-ea"/>
              </a:rPr>
              <a:t> Gedung</a:t>
            </a:r>
            <a:endParaRPr lang="en-SG" altLang="en-US" sz="1800" dirty="0">
              <a:solidFill>
                <a:srgbClr val="0070C0"/>
              </a:solidFill>
            </a:endParaRPr>
          </a:p>
        </p:txBody>
      </p:sp>
    </p:spTree>
    <p:extLst>
      <p:ext uri="{BB962C8B-B14F-4D97-AF65-F5344CB8AC3E}">
        <p14:creationId xmlns:p14="http://schemas.microsoft.com/office/powerpoint/2010/main" val="381913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43000" y="228600"/>
            <a:ext cx="7384415" cy="659130"/>
          </a:xfrm>
          <a:prstGeom prst="rect">
            <a:avLst/>
          </a:prstGeom>
          <a:noFill/>
        </p:spPr>
        <p:txBody>
          <a:bodyPr wrap="square" rtlCol="0">
            <a:noAutofit/>
          </a:bodyPr>
          <a:lstStyle/>
          <a:p>
            <a:endParaRPr lang="en-SG" altLang="en-US" sz="2000" dirty="0">
              <a:solidFill>
                <a:srgbClr val="0070C0"/>
              </a:solidFill>
            </a:endParaRPr>
          </a:p>
        </p:txBody>
      </p:sp>
      <p:sp>
        <p:nvSpPr>
          <p:cNvPr id="3" name="Text Box 2"/>
          <p:cNvSpPr txBox="1"/>
          <p:nvPr/>
        </p:nvSpPr>
        <p:spPr>
          <a:xfrm>
            <a:off x="958215" y="228600"/>
            <a:ext cx="7582535" cy="784860"/>
          </a:xfrm>
          <a:prstGeom prst="rect">
            <a:avLst/>
          </a:prstGeom>
          <a:noFill/>
        </p:spPr>
        <p:txBody>
          <a:bodyPr wrap="square" rtlCol="0">
            <a:noAutofit/>
          </a:bodyPr>
          <a:lstStyle/>
          <a:p>
            <a:pPr marL="0" indent="0" algn="ctr">
              <a:buNone/>
            </a:pPr>
            <a:r>
              <a:rPr lang="en-SG" altLang="en-US" sz="2000" b="1" i="1" dirty="0">
                <a:sym typeface="+mn-ea"/>
              </a:rPr>
              <a:t>1.</a:t>
            </a:r>
            <a:r>
              <a:rPr lang="en-US" sz="2000" b="1" i="1" dirty="0" err="1">
                <a:sym typeface="+mn-ea"/>
              </a:rPr>
              <a:t>Menerapkan</a:t>
            </a:r>
            <a:r>
              <a:rPr lang="en-US" sz="2000" b="1" i="1" dirty="0">
                <a:sym typeface="+mn-ea"/>
              </a:rPr>
              <a:t> </a:t>
            </a:r>
            <a:r>
              <a:rPr lang="en-US" sz="2000" b="1" i="1" dirty="0" err="1">
                <a:sym typeface="+mn-ea"/>
              </a:rPr>
              <a:t>Sistem</a:t>
            </a:r>
            <a:r>
              <a:rPr lang="en-US" sz="2000" b="1" i="1" dirty="0">
                <a:sym typeface="+mn-ea"/>
              </a:rPr>
              <a:t> </a:t>
            </a:r>
            <a:r>
              <a:rPr lang="en-US" sz="2000" b="1" i="1" dirty="0" err="1">
                <a:sym typeface="+mn-ea"/>
              </a:rPr>
              <a:t>Manajemen</a:t>
            </a:r>
            <a:r>
              <a:rPr lang="en-US" sz="2000" b="1" i="1" dirty="0">
                <a:sym typeface="+mn-ea"/>
              </a:rPr>
              <a:t> </a:t>
            </a:r>
            <a:r>
              <a:rPr lang="en-US" sz="2000" b="1" i="1" dirty="0" err="1">
                <a:sym typeface="+mn-ea"/>
              </a:rPr>
              <a:t>Keselamatan</a:t>
            </a:r>
            <a:r>
              <a:rPr lang="en-US" sz="2000" b="1" i="1" dirty="0">
                <a:sym typeface="+mn-ea"/>
              </a:rPr>
              <a:t> dan Kesehatan </a:t>
            </a:r>
            <a:r>
              <a:rPr lang="en-SG" altLang="en-US" sz="2000" b="1" i="1" dirty="0">
                <a:sym typeface="+mn-ea"/>
              </a:rPr>
              <a:t>  </a:t>
            </a:r>
            <a:r>
              <a:rPr lang="en-US" sz="2000" b="1" i="1" dirty="0" err="1">
                <a:sym typeface="+mn-ea"/>
              </a:rPr>
              <a:t>Kerja</a:t>
            </a:r>
            <a:r>
              <a:rPr lang="en-US" sz="2000" b="1" i="1" dirty="0">
                <a:sym typeface="+mn-ea"/>
              </a:rPr>
              <a:t> </a:t>
            </a:r>
            <a:r>
              <a:rPr lang="en-SG" altLang="en-US" sz="2000" b="1" i="1" dirty="0">
                <a:sym typeface="+mn-ea"/>
              </a:rPr>
              <a:t>     	</a:t>
            </a:r>
            <a:r>
              <a:rPr lang="en-US" sz="2000" b="1" i="1" dirty="0" err="1">
                <a:sym typeface="+mn-ea"/>
              </a:rPr>
              <a:t>serta</a:t>
            </a:r>
            <a:r>
              <a:rPr lang="en-US" sz="2000" b="1" i="1" dirty="0">
                <a:sym typeface="+mn-ea"/>
              </a:rPr>
              <a:t> </a:t>
            </a:r>
            <a:r>
              <a:rPr lang="en-US" sz="2000" b="1" i="1" dirty="0" err="1">
                <a:sym typeface="+mn-ea"/>
              </a:rPr>
              <a:t>Lingkungan</a:t>
            </a:r>
            <a:r>
              <a:rPr lang="en-US" sz="2000" b="1" i="1" dirty="0">
                <a:sym typeface="+mn-ea"/>
              </a:rPr>
              <a:t> </a:t>
            </a:r>
            <a:r>
              <a:rPr lang="en-US" sz="2000" b="1" i="1" dirty="0" err="1">
                <a:sym typeface="+mn-ea"/>
              </a:rPr>
              <a:t>Hidup</a:t>
            </a:r>
            <a:r>
              <a:rPr lang="en-US" sz="2000" b="1" i="1" dirty="0">
                <a:sym typeface="+mn-ea"/>
              </a:rPr>
              <a:t> (SMK3 LH) </a:t>
            </a:r>
            <a:endParaRPr lang="en-SG" altLang="en-US" sz="2000" b="1" i="1" dirty="0">
              <a:solidFill>
                <a:srgbClr val="0070C0"/>
              </a:solidFill>
            </a:endParaRPr>
          </a:p>
        </p:txBody>
      </p:sp>
      <p:pic>
        <p:nvPicPr>
          <p:cNvPr id="7" name="Picture 6" descr="WhatsApp Image 2023-10-29 at 00.29.17"/>
          <p:cNvPicPr>
            <a:picLocks noChangeAspect="1"/>
          </p:cNvPicPr>
          <p:nvPr/>
        </p:nvPicPr>
        <p:blipFill>
          <a:blip r:embed="rId2"/>
          <a:stretch>
            <a:fillRect/>
          </a:stretch>
        </p:blipFill>
        <p:spPr>
          <a:xfrm>
            <a:off x="1217295" y="1091565"/>
            <a:ext cx="7308850" cy="5512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37CA8-CE94-4D8B-961B-8753D304D019}"/>
              </a:ext>
            </a:extLst>
          </p:cNvPr>
          <p:cNvSpPr txBox="1"/>
          <p:nvPr/>
        </p:nvSpPr>
        <p:spPr>
          <a:xfrm>
            <a:off x="762000" y="457201"/>
            <a:ext cx="7696200" cy="1200329"/>
          </a:xfrm>
          <a:prstGeom prst="rect">
            <a:avLst/>
          </a:prstGeom>
          <a:noFill/>
        </p:spPr>
        <p:txBody>
          <a:bodyPr wrap="square">
            <a:spAutoFit/>
          </a:bodyPr>
          <a:lstStyle/>
          <a:p>
            <a:pPr algn="just"/>
            <a:r>
              <a:rPr lang="en-ID" b="1" i="1" dirty="0">
                <a:solidFill>
                  <a:srgbClr val="1A202C"/>
                </a:solidFill>
                <a:effectLst/>
                <a:latin typeface="Montserrat" panose="00000500000000000000" pitchFamily="2" charset="0"/>
              </a:rPr>
              <a:t>Alat </a:t>
            </a:r>
            <a:r>
              <a:rPr lang="en-ID" b="1" i="1" dirty="0" err="1">
                <a:solidFill>
                  <a:srgbClr val="1A202C"/>
                </a:solidFill>
                <a:effectLst/>
                <a:latin typeface="Montserrat" panose="00000500000000000000" pitchFamily="2" charset="0"/>
              </a:rPr>
              <a:t>perlindungan</a:t>
            </a:r>
            <a:r>
              <a:rPr lang="en-ID" b="1" i="1" dirty="0">
                <a:solidFill>
                  <a:srgbClr val="1A202C"/>
                </a:solidFill>
                <a:latin typeface="Montserrat" panose="00000500000000000000" pitchFamily="2" charset="0"/>
              </a:rPr>
              <a:t> :</a:t>
            </a:r>
            <a:endParaRPr lang="en-ID" b="1" i="1" dirty="0">
              <a:solidFill>
                <a:srgbClr val="1A202C"/>
              </a:solidFill>
              <a:effectLst/>
              <a:latin typeface="Montserrat" panose="00000500000000000000" pitchFamily="2" charset="0"/>
            </a:endParaRPr>
          </a:p>
          <a:p>
            <a:pPr algn="just"/>
            <a:r>
              <a:rPr lang="en-ID" i="0" dirty="0">
                <a:solidFill>
                  <a:srgbClr val="000000"/>
                </a:solidFill>
                <a:effectLst/>
                <a:latin typeface="Montserrat" panose="00000500000000000000" pitchFamily="2" charset="0"/>
              </a:rPr>
              <a:t>Alat </a:t>
            </a:r>
            <a:r>
              <a:rPr lang="en-ID" i="0" dirty="0" err="1">
                <a:solidFill>
                  <a:srgbClr val="000000"/>
                </a:solidFill>
                <a:effectLst/>
                <a:latin typeface="Montserrat" panose="00000500000000000000" pitchFamily="2" charset="0"/>
              </a:rPr>
              <a:t>perlindungan</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diri</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adalah</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alat</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perlengkapan</a:t>
            </a:r>
            <a:r>
              <a:rPr lang="en-ID" i="0" dirty="0">
                <a:solidFill>
                  <a:srgbClr val="000000"/>
                </a:solidFill>
                <a:effectLst/>
                <a:latin typeface="Montserrat" panose="00000500000000000000" pitchFamily="2" charset="0"/>
              </a:rPr>
              <a:t> </a:t>
            </a:r>
            <a:r>
              <a:rPr lang="en-ID" dirty="0">
                <a:solidFill>
                  <a:srgbClr val="000000"/>
                </a:solidFill>
                <a:latin typeface="Montserrat" panose="00000500000000000000" pitchFamily="2" charset="0"/>
              </a:rPr>
              <a:t>yang </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berfungsi</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untuk</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melindungi</a:t>
            </a:r>
            <a:r>
              <a:rPr lang="en-ID" i="0" dirty="0">
                <a:solidFill>
                  <a:srgbClr val="000000"/>
                </a:solidFill>
                <a:effectLst/>
                <a:latin typeface="Montserrat" panose="00000500000000000000" pitchFamily="2" charset="0"/>
              </a:rPr>
              <a:t> Tenaga </a:t>
            </a:r>
            <a:r>
              <a:rPr lang="en-ID" i="0" dirty="0" err="1">
                <a:solidFill>
                  <a:srgbClr val="000000"/>
                </a:solidFill>
                <a:effectLst/>
                <a:latin typeface="Montserrat" panose="00000500000000000000" pitchFamily="2" charset="0"/>
              </a:rPr>
              <a:t>Kerja</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terhadap</a:t>
            </a:r>
            <a:r>
              <a:rPr lang="en-ID" i="0" dirty="0">
                <a:solidFill>
                  <a:srgbClr val="000000"/>
                </a:solidFill>
                <a:effectLst/>
                <a:latin typeface="Montserrat" panose="00000500000000000000" pitchFamily="2" charset="0"/>
              </a:rPr>
              <a:t> </a:t>
            </a:r>
            <a:r>
              <a:rPr lang="en-ID" i="0" dirty="0" err="1">
                <a:solidFill>
                  <a:srgbClr val="000000"/>
                </a:solidFill>
                <a:effectLst/>
                <a:latin typeface="Montserrat" panose="00000500000000000000" pitchFamily="2" charset="0"/>
              </a:rPr>
              <a:t>kecelakaan</a:t>
            </a:r>
            <a:r>
              <a:rPr lang="en-ID" i="0" dirty="0">
                <a:solidFill>
                  <a:srgbClr val="000000"/>
                </a:solidFill>
                <a:effectLst/>
                <a:latin typeface="Montserrat" panose="00000500000000000000" pitchFamily="2" charset="0"/>
              </a:rPr>
              <a:t> yang </a:t>
            </a:r>
            <a:r>
              <a:rPr lang="en-ID" i="0" dirty="0" err="1">
                <a:solidFill>
                  <a:srgbClr val="000000"/>
                </a:solidFill>
                <a:effectLst/>
                <a:latin typeface="Montserrat" panose="00000500000000000000" pitchFamily="2" charset="0"/>
              </a:rPr>
              <a:t>ditimbulkan</a:t>
            </a:r>
            <a:r>
              <a:rPr lang="en-ID" i="0" dirty="0">
                <a:solidFill>
                  <a:srgbClr val="000000"/>
                </a:solidFill>
                <a:effectLst/>
                <a:latin typeface="Montserrat" panose="00000500000000000000" pitchFamily="2" charset="0"/>
              </a:rPr>
              <a:t>. </a:t>
            </a:r>
          </a:p>
        </p:txBody>
      </p:sp>
      <p:sp>
        <p:nvSpPr>
          <p:cNvPr id="6" name="TextBox 5">
            <a:extLst>
              <a:ext uri="{FF2B5EF4-FFF2-40B4-BE49-F238E27FC236}">
                <a16:creationId xmlns:a16="http://schemas.microsoft.com/office/drawing/2014/main" id="{449FCB85-566D-4CF2-AA14-E52EC422462D}"/>
              </a:ext>
            </a:extLst>
          </p:cNvPr>
          <p:cNvSpPr txBox="1"/>
          <p:nvPr/>
        </p:nvSpPr>
        <p:spPr>
          <a:xfrm>
            <a:off x="876300" y="1828800"/>
            <a:ext cx="7391400" cy="4431983"/>
          </a:xfrm>
          <a:prstGeom prst="rect">
            <a:avLst/>
          </a:prstGeom>
          <a:noFill/>
        </p:spPr>
        <p:txBody>
          <a:bodyPr wrap="square">
            <a:spAutoFit/>
          </a:bodyPr>
          <a:lstStyle/>
          <a:p>
            <a:pPr algn="l"/>
            <a:r>
              <a:rPr lang="en-ID" sz="1200" b="0" i="0" dirty="0">
                <a:solidFill>
                  <a:srgbClr val="000000"/>
                </a:solidFill>
                <a:effectLst/>
                <a:latin typeface="Montserrat" panose="00000500000000000000" pitchFamily="2" charset="0"/>
              </a:rPr>
              <a:t>Alat </a:t>
            </a:r>
            <a:r>
              <a:rPr lang="en-ID" sz="1200" b="0" i="0" dirty="0" err="1">
                <a:solidFill>
                  <a:srgbClr val="000000"/>
                </a:solidFill>
                <a:effectLst/>
                <a:latin typeface="Montserrat" panose="00000500000000000000" pitchFamily="2" charset="0"/>
              </a:rPr>
              <a:t>Perlindung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Diri</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selanjutnya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disingkat</a:t>
            </a:r>
            <a:r>
              <a:rPr lang="en-ID" sz="1200" b="0" i="0" dirty="0">
                <a:solidFill>
                  <a:srgbClr val="000000"/>
                </a:solidFill>
                <a:effectLst/>
                <a:latin typeface="Montserrat" panose="00000500000000000000" pitchFamily="2" charset="0"/>
              </a:rPr>
              <a:t> APD </a:t>
            </a:r>
            <a:r>
              <a:rPr lang="en-ID" sz="1200" b="0" i="0" dirty="0" err="1">
                <a:solidFill>
                  <a:srgbClr val="000000"/>
                </a:solidFill>
                <a:effectLst/>
                <a:latin typeface="Montserrat" panose="00000500000000000000" pitchFamily="2" charset="0"/>
              </a:rPr>
              <a:t>adalah</a:t>
            </a:r>
            <a:r>
              <a:rPr lang="en-ID" sz="1200" b="0"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alat</a:t>
            </a:r>
            <a:r>
              <a:rPr lang="en-ID" sz="1200" b="1" i="0" dirty="0">
                <a:solidFill>
                  <a:srgbClr val="000000"/>
                </a:solidFill>
                <a:effectLst/>
                <a:latin typeface="Montserrat" panose="00000500000000000000" pitchFamily="2" charset="0"/>
              </a:rPr>
              <a:t> yang </a:t>
            </a:r>
            <a:r>
              <a:rPr lang="en-ID" sz="1200" b="1" i="0" dirty="0" err="1">
                <a:solidFill>
                  <a:srgbClr val="000000"/>
                </a:solidFill>
                <a:effectLst/>
                <a:latin typeface="Montserrat" panose="00000500000000000000" pitchFamily="2" charset="0"/>
              </a:rPr>
              <a:t>mempunyai</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kemampuan</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untuk</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melindungi</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seseorang</a:t>
            </a:r>
            <a:r>
              <a:rPr lang="en-ID" sz="1200" b="1" i="0" dirty="0">
                <a:solidFill>
                  <a:srgbClr val="000000"/>
                </a:solidFill>
                <a:effectLst/>
                <a:latin typeface="Montserrat" panose="00000500000000000000" pitchFamily="2" charset="0"/>
              </a:rPr>
              <a:t> yang </a:t>
            </a:r>
            <a:r>
              <a:rPr lang="en-ID" sz="1200" b="1" i="0" dirty="0" err="1">
                <a:solidFill>
                  <a:srgbClr val="000000"/>
                </a:solidFill>
                <a:effectLst/>
                <a:latin typeface="Montserrat" panose="00000500000000000000" pitchFamily="2" charset="0"/>
              </a:rPr>
              <a:t>fungsinya</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mengisolasi</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sebagian</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atau</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seluruh</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tubuh</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dari</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potensi</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bahaya</a:t>
            </a:r>
            <a:r>
              <a:rPr lang="en-ID" sz="1200" b="1" i="0" dirty="0">
                <a:solidFill>
                  <a:srgbClr val="000000"/>
                </a:solidFill>
                <a:effectLst/>
                <a:latin typeface="Montserrat" panose="00000500000000000000" pitchFamily="2" charset="0"/>
              </a:rPr>
              <a:t> di </a:t>
            </a:r>
            <a:r>
              <a:rPr lang="en-ID" sz="1200" b="1" i="0" dirty="0" err="1">
                <a:solidFill>
                  <a:srgbClr val="000000"/>
                </a:solidFill>
                <a:effectLst/>
                <a:latin typeface="Montserrat" panose="00000500000000000000" pitchFamily="2" charset="0"/>
              </a:rPr>
              <a:t>Tempat</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Kerja</a:t>
            </a:r>
            <a:r>
              <a:rPr lang="en-ID" sz="1200" b="1" i="0" dirty="0">
                <a:solidFill>
                  <a:srgbClr val="000000"/>
                </a:solidFill>
                <a:effectLst/>
                <a:latin typeface="Montserrat" panose="00000500000000000000" pitchFamily="2" charset="0"/>
              </a:rPr>
              <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Berikut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ini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adalah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contoh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alat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perlindungan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diri</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dapat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digunakan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ketika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pengoperasian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Pesawat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Angkat</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Pesawat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Angkut</a:t>
            </a:r>
            <a:r>
              <a:rPr lang="en-ID" sz="1200" b="0" i="0" dirty="0">
                <a:solidFill>
                  <a:srgbClr val="000000"/>
                </a:solidFill>
                <a:effectLst/>
                <a:latin typeface="Montserrat" panose="00000500000000000000" pitchFamily="2" charset="0"/>
              </a:rPr>
              <a:t>:</a:t>
            </a:r>
          </a:p>
          <a:p>
            <a:pPr marL="742950" lvl="1" indent="-285750">
              <a:buFont typeface="+mj-lt"/>
              <a:buAutoNum type="arabicPeriod"/>
            </a:pPr>
            <a:r>
              <a:rPr lang="en-ID" sz="1200" b="1" i="1" dirty="0">
                <a:solidFill>
                  <a:srgbClr val="000000"/>
                </a:solidFill>
                <a:effectLst/>
                <a:latin typeface="Montserrat" panose="00000500000000000000" pitchFamily="2" charset="0"/>
              </a:rPr>
              <a:t>Safety Helmet</a:t>
            </a:r>
            <a:br>
              <a:rPr lang="en-ID" sz="1200" b="0" i="0" dirty="0">
                <a:solidFill>
                  <a:srgbClr val="000000"/>
                </a:solidFill>
                <a:effectLst/>
                <a:latin typeface="Montserrat" panose="00000500000000000000" pitchFamily="2" charset="0"/>
              </a:rPr>
            </a:br>
            <a:r>
              <a:rPr lang="en-ID" sz="1200" b="0" i="0" dirty="0" err="1">
                <a:solidFill>
                  <a:srgbClr val="000000"/>
                </a:solidFill>
                <a:effectLst/>
                <a:latin typeface="Montserrat" panose="00000500000000000000" pitchFamily="2" charset="0"/>
              </a:rPr>
              <a:t>Berfungsi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untuk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kepala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pukulan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benturan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cedera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kepala</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disebabkan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kejatuhan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benda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keras</a:t>
            </a:r>
            <a:r>
              <a:rPr lang="en-ID" sz="1200" b="0" i="0" dirty="0">
                <a:solidFill>
                  <a:srgbClr val="000000"/>
                </a:solidFill>
                <a:effectLst/>
                <a:latin typeface="Montserrat" panose="00000500000000000000" pitchFamily="2" charset="0"/>
              </a:rPr>
              <a:t>. Safety Helmet </a:t>
            </a:r>
            <a:r>
              <a:rPr lang="en-ID" sz="1200" b="0" i="0" dirty="0" err="1">
                <a:solidFill>
                  <a:srgbClr val="000000"/>
                </a:solidFill>
                <a:effectLst/>
                <a:latin typeface="Montserrat" panose="00000500000000000000" pitchFamily="2" charset="0"/>
              </a:rPr>
              <a:t>mempunyai</a:t>
            </a:r>
            <a:r>
              <a:rPr lang="en-ID" sz="1200" b="0" i="0" dirty="0">
                <a:solidFill>
                  <a:srgbClr val="000000"/>
                </a:solidFill>
                <a:effectLst/>
                <a:latin typeface="Montserrat" panose="00000500000000000000" pitchFamily="2" charset="0"/>
              </a:rPr>
              <a:t> 3 </a:t>
            </a:r>
            <a:r>
              <a:rPr lang="en-ID" sz="1200" b="0" i="0" dirty="0" err="1">
                <a:solidFill>
                  <a:srgbClr val="000000"/>
                </a:solidFill>
                <a:effectLst/>
                <a:latin typeface="Montserrat" panose="00000500000000000000" pitchFamily="2" charset="0"/>
              </a:rPr>
              <a:t>tipe</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berbeda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bersumber</a:t>
            </a:r>
            <a:r>
              <a:rPr lang="en-ID" sz="1200" b="0" i="0" dirty="0">
                <a:solidFill>
                  <a:srgbClr val="000000"/>
                </a:solidFill>
                <a:effectLst/>
                <a:latin typeface="Montserrat" panose="00000500000000000000" pitchFamily="2" charset="0"/>
              </a:rPr>
              <a:t> pada </a:t>
            </a:r>
            <a:r>
              <a:rPr lang="en-ID" sz="1200" b="0" i="0" dirty="0" err="1">
                <a:solidFill>
                  <a:srgbClr val="000000"/>
                </a:solidFill>
                <a:effectLst/>
                <a:latin typeface="Montserrat" panose="00000500000000000000" pitchFamily="2" charset="0"/>
              </a:rPr>
              <a:t>guna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perlindungannya</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awal</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terdapat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tipe</a:t>
            </a:r>
            <a:r>
              <a:rPr lang="en-ID" sz="1200" b="0" i="0" dirty="0">
                <a:solidFill>
                  <a:srgbClr val="000000"/>
                </a:solidFill>
                <a:effectLst/>
                <a:latin typeface="Montserrat" panose="00000500000000000000" pitchFamily="2" charset="0"/>
              </a:rPr>
              <a:t> Helmet( Gram) </a:t>
            </a:r>
            <a:r>
              <a:rPr lang="en-ID" sz="1200" b="0" i="0" dirty="0" err="1">
                <a:solidFill>
                  <a:srgbClr val="000000"/>
                </a:solidFill>
                <a:effectLst/>
                <a:latin typeface="Montserrat" panose="00000500000000000000" pitchFamily="2" charset="0"/>
              </a:rPr>
              <a:t>dengan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Jenis</a:t>
            </a:r>
            <a:r>
              <a:rPr lang="en-ID" sz="1200" b="0" i="0" dirty="0">
                <a:solidFill>
                  <a:srgbClr val="000000"/>
                </a:solidFill>
                <a:effectLst/>
                <a:latin typeface="Montserrat" panose="00000500000000000000" pitchFamily="2" charset="0"/>
              </a:rPr>
              <a:t> General yang </a:t>
            </a:r>
            <a:r>
              <a:rPr lang="en-ID" sz="1200" b="0" i="0" dirty="0" err="1">
                <a:solidFill>
                  <a:srgbClr val="000000"/>
                </a:solidFill>
                <a:effectLst/>
                <a:latin typeface="Montserrat" panose="00000500000000000000" pitchFamily="2" charset="0"/>
              </a:rPr>
              <a:t>bermanfaat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untuk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kepala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suatu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benturan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maupun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mungkin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terjatuhan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barang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serta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kurangi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paparan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listrik</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mempunyai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tegangan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rendah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hingga</a:t>
            </a:r>
            <a:r>
              <a:rPr lang="en-ID" sz="1200" b="0" i="0" dirty="0">
                <a:solidFill>
                  <a:srgbClr val="000000"/>
                </a:solidFill>
                <a:effectLst/>
                <a:latin typeface="Montserrat" panose="00000500000000000000" pitchFamily="2" charset="0"/>
              </a:rPr>
              <a:t> 2.200 Volt.</a:t>
            </a:r>
            <a:br>
              <a:rPr lang="en-ID" sz="1200" b="0" i="0" dirty="0">
                <a:solidFill>
                  <a:srgbClr val="000000"/>
                </a:solidFill>
                <a:effectLst/>
                <a:latin typeface="Montserrat" panose="00000500000000000000" pitchFamily="2" charset="0"/>
              </a:rPr>
            </a:br>
            <a:r>
              <a:rPr lang="en-ID" sz="1200" b="0" i="0" dirty="0">
                <a:solidFill>
                  <a:srgbClr val="000000"/>
                </a:solidFill>
                <a:effectLst/>
                <a:latin typeface="Montserrat" panose="00000500000000000000" pitchFamily="2" charset="0"/>
              </a:rPr>
              <a:t>Helm juga </a:t>
            </a:r>
            <a:r>
              <a:rPr lang="en-ID" sz="1200" b="0" i="0" dirty="0" err="1">
                <a:solidFill>
                  <a:srgbClr val="000000"/>
                </a:solidFill>
                <a:effectLst/>
                <a:latin typeface="Montserrat" panose="00000500000000000000" pitchFamily="2" charset="0"/>
              </a:rPr>
              <a:t>memiliki</a:t>
            </a:r>
            <a:r>
              <a:rPr lang="en-ID" sz="1200" b="0" i="0" dirty="0">
                <a:solidFill>
                  <a:srgbClr val="000000"/>
                </a:solidFill>
                <a:effectLst/>
                <a:latin typeface="Montserrat" panose="00000500000000000000" pitchFamily="2" charset="0"/>
              </a:rPr>
              <a:t> arti </a:t>
            </a:r>
            <a:r>
              <a:rPr lang="en-ID" sz="1200" b="0" i="0" dirty="0" err="1">
                <a:solidFill>
                  <a:srgbClr val="000000"/>
                </a:solidFill>
                <a:effectLst/>
                <a:latin typeface="Montserrat" panose="00000500000000000000" pitchFamily="2" charset="0"/>
              </a:rPr>
              <a:t>warnanya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sendiri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Berikut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ini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adalah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penjelasan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singkat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tentang</a:t>
            </a:r>
            <a:r>
              <a:rPr lang="en-ID" sz="1200" b="0" i="0" dirty="0">
                <a:solidFill>
                  <a:srgbClr val="000000"/>
                </a:solidFill>
                <a:effectLst/>
                <a:latin typeface="Montserrat" panose="00000500000000000000" pitchFamily="2" charset="0"/>
              </a:rPr>
              <a:t> arti </a:t>
            </a:r>
            <a:r>
              <a:rPr lang="en-ID" sz="1200" b="0" i="0" dirty="0" err="1">
                <a:solidFill>
                  <a:srgbClr val="000000"/>
                </a:solidFill>
                <a:effectLst/>
                <a:latin typeface="Montserrat" panose="00000500000000000000" pitchFamily="2" charset="0"/>
              </a:rPr>
              <a:t>warna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helmet </a:t>
            </a:r>
            <a:r>
              <a:rPr lang="en-ID" sz="1200" b="0" i="0" dirty="0" err="1">
                <a:solidFill>
                  <a:srgbClr val="000000"/>
                </a:solidFill>
                <a:effectLst/>
                <a:latin typeface="Montserrat" panose="00000500000000000000" pitchFamily="2" charset="0"/>
              </a:rPr>
              <a:t>safety:</a:t>
            </a:r>
            <a:r>
              <a:rPr lang="en-ID" sz="1200" dirty="0" err="1">
                <a:solidFill>
                  <a:srgbClr val="000000"/>
                </a:solidFill>
                <a:latin typeface="Montserrat" panose="00000500000000000000" pitchFamily="2" charset="0"/>
              </a:rPr>
              <a:t>Helm</a:t>
            </a:r>
            <a:r>
              <a:rPr lang="en-ID" sz="1200" dirty="0">
                <a:solidFill>
                  <a:srgbClr val="000000"/>
                </a:solidFill>
                <a:latin typeface="Montserrat" panose="00000500000000000000" pitchFamily="2" charset="0"/>
              </a:rPr>
              <a:t>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putih</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a:t>
            </a:r>
            <a:r>
              <a:rPr lang="en-ID" sz="1200" dirty="0" err="1">
                <a:solidFill>
                  <a:srgbClr val="000000"/>
                </a:solidFill>
                <a:latin typeface="Montserrat" panose="00000500000000000000" pitchFamily="2" charset="0"/>
              </a:rPr>
              <a:t>manajer</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pengawas</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insinyur</a:t>
            </a:r>
            <a:r>
              <a:rPr lang="en-ID" sz="1200" dirty="0">
                <a:solidFill>
                  <a:srgbClr val="000000"/>
                </a:solidFill>
                <a:latin typeface="Montserrat" panose="00000500000000000000" pitchFamily="2" charset="0"/>
              </a:rPr>
              <a:t>, dan </a:t>
            </a:r>
            <a:r>
              <a:rPr lang="en-ID" sz="1200" dirty="0" err="1">
                <a:solidFill>
                  <a:srgbClr val="000000"/>
                </a:solidFill>
                <a:latin typeface="Montserrat" panose="00000500000000000000" pitchFamily="2" charset="0"/>
              </a:rPr>
              <a:t>mandor</a:t>
            </a:r>
            <a:r>
              <a:rPr lang="en-ID" sz="1200" dirty="0">
                <a:solidFill>
                  <a:srgbClr val="000000"/>
                </a:solidFill>
                <a:latin typeface="Montserrat" panose="00000500000000000000" pitchFamily="2" charset="0"/>
              </a:rPr>
              <a:t>.</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biru</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electrical contractor dan site supervisor.</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kuning</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subcontractor </a:t>
            </a:r>
            <a:r>
              <a:rPr lang="en-ID" sz="1200" dirty="0" err="1">
                <a:solidFill>
                  <a:srgbClr val="000000"/>
                </a:solidFill>
                <a:latin typeface="Montserrat" panose="00000500000000000000" pitchFamily="2" charset="0"/>
              </a:rPr>
              <a:t>maupun</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pekerja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umum</a:t>
            </a:r>
            <a:r>
              <a:rPr lang="en-ID" sz="1200" dirty="0">
                <a:solidFill>
                  <a:srgbClr val="000000"/>
                </a:solidFill>
                <a:latin typeface="Montserrat" panose="00000500000000000000" pitchFamily="2" charset="0"/>
              </a:rPr>
              <a:t>.</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hijau</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a:t>
            </a:r>
            <a:r>
              <a:rPr lang="en-ID" sz="1200" dirty="0" err="1">
                <a:solidFill>
                  <a:srgbClr val="000000"/>
                </a:solidFill>
                <a:latin typeface="Montserrat" panose="00000500000000000000" pitchFamily="2" charset="0"/>
              </a:rPr>
              <a:t>pengawas</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lingkungan</a:t>
            </a:r>
            <a:r>
              <a:rPr lang="en-ID" sz="1200" dirty="0">
                <a:solidFill>
                  <a:srgbClr val="000000"/>
                </a:solidFill>
                <a:latin typeface="Montserrat" panose="00000500000000000000" pitchFamily="2" charset="0"/>
              </a:rPr>
              <a:t>.</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merah</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muda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a:t>
            </a:r>
            <a:r>
              <a:rPr lang="en-ID" sz="1200" dirty="0" err="1">
                <a:solidFill>
                  <a:srgbClr val="000000"/>
                </a:solidFill>
                <a:latin typeface="Montserrat" panose="00000500000000000000" pitchFamily="2" charset="0"/>
              </a:rPr>
              <a:t>pekerja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baru</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atau</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magang</a:t>
            </a:r>
            <a:r>
              <a:rPr lang="en-ID" sz="1200" dirty="0">
                <a:solidFill>
                  <a:srgbClr val="000000"/>
                </a:solidFill>
                <a:latin typeface="Montserrat" panose="00000500000000000000" pitchFamily="2" charset="0"/>
              </a:rPr>
              <a:t>.</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orange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a:t>
            </a:r>
            <a:r>
              <a:rPr lang="en-ID" sz="1200" dirty="0" err="1">
                <a:solidFill>
                  <a:srgbClr val="000000"/>
                </a:solidFill>
                <a:latin typeface="Montserrat" panose="00000500000000000000" pitchFamily="2" charset="0"/>
              </a:rPr>
              <a:t>tamu</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perusahaan</a:t>
            </a:r>
            <a:r>
              <a:rPr lang="en-ID" sz="1200" dirty="0">
                <a:solidFill>
                  <a:srgbClr val="000000"/>
                </a:solidFill>
                <a:latin typeface="Montserrat" panose="00000500000000000000" pitchFamily="2" charset="0"/>
              </a:rPr>
              <a:t>.</a:t>
            </a:r>
          </a:p>
          <a:p>
            <a:pPr marL="742950" lvl="1" indent="-285750">
              <a:buFont typeface="+mj-lt"/>
              <a:buAutoNum type="arabicPeriod"/>
            </a:pPr>
            <a:r>
              <a:rPr lang="en-ID" sz="1200" dirty="0">
                <a:solidFill>
                  <a:srgbClr val="000000"/>
                </a:solidFill>
                <a:latin typeface="Montserrat" panose="00000500000000000000" pitchFamily="2" charset="0"/>
              </a:rPr>
              <a:t>Helm safety </a:t>
            </a:r>
            <a:r>
              <a:rPr lang="en-ID" sz="1200" dirty="0" err="1">
                <a:solidFill>
                  <a:srgbClr val="000000"/>
                </a:solidFill>
                <a:latin typeface="Montserrat" panose="00000500000000000000" pitchFamily="2" charset="0"/>
              </a:rPr>
              <a:t>warna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merah</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digunakan</a:t>
            </a:r>
            <a:r>
              <a:rPr lang="en-ID" sz="1200" dirty="0">
                <a:solidFill>
                  <a:srgbClr val="000000"/>
                </a:solidFill>
                <a:latin typeface="Montserrat" panose="00000500000000000000" pitchFamily="2" charset="0"/>
              </a:rPr>
              <a:t> oleh safety officer </a:t>
            </a:r>
            <a:r>
              <a:rPr lang="en-ID" sz="1200" dirty="0" err="1">
                <a:solidFill>
                  <a:srgbClr val="000000"/>
                </a:solidFill>
                <a:latin typeface="Montserrat" panose="00000500000000000000" pitchFamily="2" charset="0"/>
              </a:rPr>
              <a:t>atau</a:t>
            </a:r>
            <a:r>
              <a:rPr lang="en-ID" sz="1200" dirty="0">
                <a:solidFill>
                  <a:srgbClr val="000000"/>
                </a:solidFill>
                <a:latin typeface="Montserrat" panose="00000500000000000000" pitchFamily="2" charset="0"/>
              </a:rPr>
              <a:t> orang yang </a:t>
            </a:r>
            <a:r>
              <a:rPr lang="en-ID" sz="1200" dirty="0" err="1">
                <a:solidFill>
                  <a:srgbClr val="000000"/>
                </a:solidFill>
                <a:latin typeface="Montserrat" panose="00000500000000000000" pitchFamily="2" charset="0"/>
              </a:rPr>
              <a:t>bertugas</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memeriksa</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sistem</a:t>
            </a:r>
            <a:r>
              <a:rPr lang="en-ID" sz="1200" dirty="0">
                <a:solidFill>
                  <a:srgbClr val="000000"/>
                </a:solidFill>
                <a:latin typeface="Montserrat" panose="00000500000000000000" pitchFamily="2" charset="0"/>
              </a:rPr>
              <a:t> </a:t>
            </a:r>
            <a:r>
              <a:rPr lang="en-ID" sz="1200" dirty="0" err="1">
                <a:solidFill>
                  <a:srgbClr val="000000"/>
                </a:solidFill>
                <a:latin typeface="Montserrat" panose="00000500000000000000" pitchFamily="2" charset="0"/>
              </a:rPr>
              <a:t>keselamatan</a:t>
            </a:r>
            <a:r>
              <a:rPr lang="en-ID" sz="1200" dirty="0">
                <a:solidFill>
                  <a:srgbClr val="000000"/>
                </a:solidFill>
                <a:latin typeface="Montserrat" panose="00000500000000000000" pitchFamily="2" charset="0"/>
              </a:rPr>
              <a:t>.</a:t>
            </a:r>
          </a:p>
          <a:p>
            <a:pPr algn="l">
              <a:buFont typeface="+mj-lt"/>
              <a:buAutoNum type="arabicPeriod"/>
            </a:pPr>
            <a:endParaRPr lang="en-ID" b="0" i="0" dirty="0">
              <a:solidFill>
                <a:srgbClr val="000000"/>
              </a:solidFill>
              <a:effectLst/>
              <a:latin typeface="Montserrat" panose="00000500000000000000" pitchFamily="2" charset="0"/>
            </a:endParaRPr>
          </a:p>
        </p:txBody>
      </p:sp>
    </p:spTree>
    <p:extLst>
      <p:ext uri="{BB962C8B-B14F-4D97-AF65-F5344CB8AC3E}">
        <p14:creationId xmlns:p14="http://schemas.microsoft.com/office/powerpoint/2010/main" val="2252896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E9319A-0591-44EE-9311-A96C2237A023}"/>
              </a:ext>
            </a:extLst>
          </p:cNvPr>
          <p:cNvSpPr txBox="1"/>
          <p:nvPr/>
        </p:nvSpPr>
        <p:spPr>
          <a:xfrm>
            <a:off x="666750" y="533400"/>
            <a:ext cx="7810500" cy="6063198"/>
          </a:xfrm>
          <a:prstGeom prst="rect">
            <a:avLst/>
          </a:prstGeom>
          <a:noFill/>
        </p:spPr>
        <p:txBody>
          <a:bodyPr wrap="square">
            <a:spAutoFit/>
          </a:bodyPr>
          <a:lstStyle/>
          <a:p>
            <a:pPr algn="l">
              <a:buFont typeface="+mj-lt"/>
              <a:buAutoNum type="arabicPeriod"/>
            </a:pPr>
            <a:r>
              <a:rPr lang="en-ID" sz="1100" b="1" i="0" dirty="0" err="1">
                <a:solidFill>
                  <a:srgbClr val="000000"/>
                </a:solidFill>
                <a:effectLst/>
                <a:latin typeface="Montserrat" panose="00000500000000000000" pitchFamily="2" charset="0"/>
              </a:rPr>
              <a:t>Kacamata</a:t>
            </a:r>
            <a:r>
              <a:rPr lang="en-ID" sz="1100" b="1" i="0" dirty="0">
                <a:solidFill>
                  <a:srgbClr val="000000"/>
                </a:solidFill>
                <a:effectLst/>
                <a:latin typeface="Montserrat" panose="00000500000000000000" pitchFamily="2" charset="0"/>
              </a:rPr>
              <a:t> </a:t>
            </a:r>
            <a:r>
              <a:rPr lang="en-ID" sz="1100" b="1" i="0" dirty="0" err="1">
                <a:solidFill>
                  <a:srgbClr val="000000"/>
                </a:solidFill>
                <a:effectLst/>
                <a:latin typeface="Montserrat" panose="00000500000000000000" pitchFamily="2" charset="0"/>
              </a:rPr>
              <a:t>Pengaman</a:t>
            </a:r>
            <a:r>
              <a:rPr lang="en-ID" sz="1100" b="1" i="0" dirty="0">
                <a:solidFill>
                  <a:srgbClr val="000000"/>
                </a:solidFill>
                <a:effectLst/>
                <a:latin typeface="Montserrat" panose="00000500000000000000" pitchFamily="2" charset="0"/>
              </a:rPr>
              <a:t> (</a:t>
            </a:r>
            <a:r>
              <a:rPr lang="en-ID" sz="1100" b="1" i="1" dirty="0">
                <a:solidFill>
                  <a:srgbClr val="000000"/>
                </a:solidFill>
                <a:effectLst/>
                <a:latin typeface="Montserrat" panose="00000500000000000000" pitchFamily="2" charset="0"/>
              </a:rPr>
              <a:t>Safety Glass</a:t>
            </a:r>
            <a:r>
              <a:rPr lang="en-ID" sz="1100" b="1" i="0" dirty="0">
                <a:solidFill>
                  <a:srgbClr val="000000"/>
                </a:solidFill>
                <a:effectLst/>
                <a:latin typeface="Montserrat" panose="00000500000000000000" pitchFamily="2" charset="0"/>
              </a:rPr>
              <a:t>)</a:t>
            </a:r>
            <a:br>
              <a:rPr lang="en-ID" sz="1100" b="0" i="0" dirty="0">
                <a:solidFill>
                  <a:srgbClr val="000000"/>
                </a:solidFill>
                <a:effectLst/>
                <a:latin typeface="Montserrat" panose="00000500000000000000" pitchFamily="2" charset="0"/>
              </a:rPr>
            </a:br>
            <a:r>
              <a:rPr lang="en-ID" sz="1100" b="0" i="0" dirty="0" err="1">
                <a:solidFill>
                  <a:srgbClr val="000000"/>
                </a:solidFill>
                <a:effectLst/>
                <a:latin typeface="Montserrat" panose="00000500000000000000" pitchFamily="2" charset="0"/>
              </a:rPr>
              <a:t>Perlengkapan</a:t>
            </a:r>
            <a:r>
              <a:rPr lang="en-ID" sz="1100" b="0" i="0" dirty="0">
                <a:solidFill>
                  <a:srgbClr val="000000"/>
                </a:solidFill>
                <a:effectLst/>
                <a:latin typeface="Montserrat" panose="00000500000000000000" pitchFamily="2" charset="0"/>
              </a:rPr>
              <a:t> K3 </a:t>
            </a:r>
            <a:r>
              <a:rPr lang="en-ID" sz="1100" b="0" i="0" dirty="0" err="1">
                <a:solidFill>
                  <a:srgbClr val="000000"/>
                </a:solidFill>
                <a:effectLst/>
                <a:latin typeface="Montserrat" panose="00000500000000000000" pitchFamily="2" charset="0"/>
              </a:rPr>
              <a:t>satu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ini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digunakan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untuk</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melindungi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mata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dari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bahaya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kemungkinan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jatuhnya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benda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tajam</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debu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partikel</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kecil</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percikan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bahan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kimia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mengurangi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cahaya</a:t>
            </a:r>
            <a:r>
              <a:rPr lang="en-ID" sz="1100" b="0" i="0" dirty="0">
                <a:solidFill>
                  <a:srgbClr val="000000"/>
                </a:solidFill>
                <a:effectLst/>
                <a:latin typeface="Montserrat" panose="00000500000000000000" pitchFamily="2" charset="0"/>
              </a:rPr>
              <a:t> yang </a:t>
            </a:r>
            <a:r>
              <a:rPr lang="en-ID" sz="1100" b="0" i="0" dirty="0" err="1">
                <a:solidFill>
                  <a:srgbClr val="000000"/>
                </a:solidFill>
                <a:effectLst/>
                <a:latin typeface="Montserrat" panose="00000500000000000000" pitchFamily="2" charset="0"/>
              </a:rPr>
              <a:t>menyilaukan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Kacamata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pengaman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ini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mempunyai</a:t>
            </a:r>
            <a:r>
              <a:rPr lang="en-ID" sz="1100" b="0" i="0" dirty="0">
                <a:solidFill>
                  <a:srgbClr val="000000"/>
                </a:solidFill>
                <a:effectLst/>
                <a:latin typeface="Montserrat" panose="00000500000000000000" pitchFamily="2" charset="0"/>
              </a:rPr>
              <a:t> 2 </a:t>
            </a:r>
            <a:r>
              <a:rPr lang="en-ID" sz="1100" b="0" i="0" dirty="0" err="1">
                <a:solidFill>
                  <a:srgbClr val="000000"/>
                </a:solidFill>
                <a:effectLst/>
                <a:latin typeface="Montserrat" panose="00000500000000000000" pitchFamily="2" charset="0"/>
              </a:rPr>
              <a:t>tipe</a:t>
            </a:r>
            <a:r>
              <a:rPr lang="en-ID" sz="1100" b="0" i="0" dirty="0">
                <a:solidFill>
                  <a:srgbClr val="000000"/>
                </a:solidFill>
                <a:effectLst/>
                <a:latin typeface="Montserrat" panose="00000500000000000000" pitchFamily="2" charset="0"/>
              </a:rPr>
              <a:t> yang </a:t>
            </a:r>
            <a:r>
              <a:rPr lang="en-ID" sz="1100" b="0" i="0" dirty="0" err="1">
                <a:solidFill>
                  <a:srgbClr val="000000"/>
                </a:solidFill>
                <a:effectLst/>
                <a:latin typeface="Montserrat" panose="00000500000000000000" pitchFamily="2" charset="0"/>
              </a:rPr>
              <a:t>berbeda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yaitu</a:t>
            </a:r>
            <a:r>
              <a:rPr lang="en-ID" sz="1100" b="0" i="0" dirty="0">
                <a:solidFill>
                  <a:srgbClr val="000000"/>
                </a:solidFill>
                <a:effectLst/>
                <a:latin typeface="Montserrat" panose="00000500000000000000" pitchFamily="2" charset="0"/>
              </a:rPr>
              <a:t> </a:t>
            </a:r>
            <a:r>
              <a:rPr lang="en-ID" sz="1100" b="0" i="1" dirty="0">
                <a:solidFill>
                  <a:srgbClr val="000000"/>
                </a:solidFill>
                <a:effectLst/>
                <a:latin typeface="Montserrat" panose="00000500000000000000" pitchFamily="2" charset="0"/>
              </a:rPr>
              <a:t>Safety Spectacles</a:t>
            </a:r>
            <a:r>
              <a:rPr lang="en-ID" sz="1100" b="0" i="0" dirty="0">
                <a:solidFill>
                  <a:srgbClr val="000000"/>
                </a:solidFill>
                <a:effectLst/>
                <a:latin typeface="Montserrat" panose="00000500000000000000" pitchFamily="2" charset="0"/>
              </a:rPr>
              <a:t> dan </a:t>
            </a:r>
            <a:r>
              <a:rPr lang="en-ID" sz="1100" b="0" i="1" dirty="0">
                <a:solidFill>
                  <a:srgbClr val="000000"/>
                </a:solidFill>
                <a:effectLst/>
                <a:latin typeface="Montserrat" panose="00000500000000000000" pitchFamily="2" charset="0"/>
              </a:rPr>
              <a:t>Safety Goggles</a:t>
            </a:r>
            <a:r>
              <a:rPr lang="en-ID" sz="1100" b="0" i="0" dirty="0">
                <a:solidFill>
                  <a:srgbClr val="000000"/>
                </a:solidFill>
                <a:effectLst/>
                <a:latin typeface="Montserrat" panose="00000500000000000000" pitchFamily="2" charset="0"/>
              </a:rPr>
              <a:t>. </a:t>
            </a:r>
            <a:r>
              <a:rPr lang="en-ID" sz="1100" b="0" i="1" dirty="0">
                <a:solidFill>
                  <a:srgbClr val="000000"/>
                </a:solidFill>
                <a:effectLst/>
                <a:latin typeface="Montserrat" panose="00000500000000000000" pitchFamily="2" charset="0"/>
              </a:rPr>
              <a:t>Safety Spectacles</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mempunyai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bentuk</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sama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dengan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kacamata</a:t>
            </a:r>
            <a:r>
              <a:rPr lang="en-ID" sz="1100" b="0" i="0" dirty="0">
                <a:solidFill>
                  <a:srgbClr val="000000"/>
                </a:solidFill>
                <a:effectLst/>
                <a:latin typeface="Montserrat" panose="00000500000000000000" pitchFamily="2" charset="0"/>
              </a:rPr>
              <a:t> pada </a:t>
            </a:r>
            <a:r>
              <a:rPr lang="en-ID" sz="1100" b="0" i="0" dirty="0" err="1">
                <a:solidFill>
                  <a:srgbClr val="000000"/>
                </a:solidFill>
                <a:effectLst/>
                <a:latin typeface="Montserrat" panose="00000500000000000000" pitchFamily="2" charset="0"/>
              </a:rPr>
              <a:t>biasanya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hanya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bisa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melindungi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dari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benda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tajam</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partikel</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kecil</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debu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cahaya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Umumnya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digunakan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dikala</a:t>
            </a:r>
            <a:r>
              <a:rPr lang="en-ID" sz="1100" b="0" i="0" dirty="0">
                <a:solidFill>
                  <a:srgbClr val="000000"/>
                </a:solidFill>
                <a:effectLst/>
                <a:latin typeface="Montserrat" panose="00000500000000000000" pitchFamily="2" charset="0"/>
              </a:rPr>
              <a:t> proses </a:t>
            </a:r>
            <a:r>
              <a:rPr lang="en-ID" sz="1100" b="0" i="0" dirty="0" err="1">
                <a:solidFill>
                  <a:srgbClr val="000000"/>
                </a:solidFill>
                <a:effectLst/>
                <a:latin typeface="Montserrat" panose="00000500000000000000" pitchFamily="2" charset="0"/>
              </a:rPr>
              <a:t>pemotongan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menyolder</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sesuatu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Sebaliknya</a:t>
            </a:r>
            <a:r>
              <a:rPr lang="en-ID" sz="1100" b="0" i="0" dirty="0">
                <a:solidFill>
                  <a:srgbClr val="000000"/>
                </a:solidFill>
                <a:effectLst/>
                <a:latin typeface="Montserrat" panose="00000500000000000000" pitchFamily="2" charset="0"/>
              </a:rPr>
              <a:t> </a:t>
            </a:r>
            <a:r>
              <a:rPr lang="en-ID" sz="1100" b="0" i="1" dirty="0">
                <a:solidFill>
                  <a:srgbClr val="000000"/>
                </a:solidFill>
                <a:effectLst/>
                <a:latin typeface="Montserrat" panose="00000500000000000000" pitchFamily="2" charset="0"/>
              </a:rPr>
              <a:t>Safety Goggles</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bentuknya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melekat</a:t>
            </a:r>
            <a:r>
              <a:rPr lang="en-ID" sz="1100" b="0" i="0" dirty="0">
                <a:solidFill>
                  <a:srgbClr val="000000"/>
                </a:solidFill>
                <a:effectLst/>
                <a:latin typeface="Montserrat" panose="00000500000000000000" pitchFamily="2" charset="0"/>
              </a:rPr>
              <a:t> pas di </a:t>
            </a:r>
            <a:r>
              <a:rPr lang="en-ID" sz="1100" b="0" i="0" dirty="0" err="1">
                <a:solidFill>
                  <a:srgbClr val="000000"/>
                </a:solidFill>
                <a:effectLst/>
                <a:latin typeface="Montserrat" panose="00000500000000000000" pitchFamily="2" charset="0"/>
              </a:rPr>
              <a:t>muka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biasanya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dipakai</a:t>
            </a:r>
            <a:r>
              <a:rPr lang="en-ID" sz="1100" b="0" i="0" dirty="0">
                <a:solidFill>
                  <a:srgbClr val="000000"/>
                </a:solidFill>
                <a:effectLst/>
                <a:latin typeface="Montserrat" panose="00000500000000000000" pitchFamily="2" charset="0"/>
              </a:rPr>
              <a:t> oleh </a:t>
            </a:r>
            <a:r>
              <a:rPr lang="en-ID" sz="1100" b="0" i="0" dirty="0" err="1">
                <a:solidFill>
                  <a:srgbClr val="000000"/>
                </a:solidFill>
                <a:effectLst/>
                <a:latin typeface="Montserrat" panose="00000500000000000000" pitchFamily="2" charset="0"/>
              </a:rPr>
              <a:t>pekerja</a:t>
            </a:r>
            <a:r>
              <a:rPr lang="en-ID" sz="1100" b="0" i="0" dirty="0">
                <a:solidFill>
                  <a:srgbClr val="000000"/>
                </a:solidFill>
                <a:effectLst/>
                <a:latin typeface="Montserrat" panose="00000500000000000000" pitchFamily="2" charset="0"/>
              </a:rPr>
              <a:t> di </a:t>
            </a:r>
            <a:r>
              <a:rPr lang="en-ID" sz="1100" b="0" i="0" dirty="0" err="1">
                <a:solidFill>
                  <a:srgbClr val="000000"/>
                </a:solidFill>
                <a:effectLst/>
                <a:latin typeface="Montserrat" panose="00000500000000000000" pitchFamily="2" charset="0"/>
              </a:rPr>
              <a:t>teknisi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mesin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produksi</a:t>
            </a:r>
            <a:r>
              <a:rPr lang="en-ID" sz="1100" b="0" i="0" dirty="0">
                <a:solidFill>
                  <a:srgbClr val="000000"/>
                </a:solidFill>
                <a:effectLst/>
                <a:latin typeface="Montserrat" panose="00000500000000000000" pitchFamily="2" charset="0"/>
              </a:rPr>
              <a:t>. Agar </a:t>
            </a:r>
            <a:r>
              <a:rPr lang="en-ID" sz="1100" b="0" i="0" dirty="0" err="1">
                <a:solidFill>
                  <a:srgbClr val="000000"/>
                </a:solidFill>
                <a:effectLst/>
                <a:latin typeface="Montserrat" panose="00000500000000000000" pitchFamily="2" charset="0"/>
              </a:rPr>
              <a:t>bisa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bebas</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dari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percikan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bahan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kimia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uap</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debu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serta</a:t>
            </a:r>
            <a:r>
              <a:rPr lang="en-ID" sz="1100" b="0" i="0" dirty="0">
                <a:solidFill>
                  <a:srgbClr val="000000"/>
                </a:solidFill>
                <a:effectLst/>
                <a:latin typeface="Montserrat" panose="00000500000000000000" pitchFamily="2" charset="0"/>
              </a:rPr>
              <a:t> asap.</a:t>
            </a:r>
          </a:p>
          <a:p>
            <a:pPr algn="l">
              <a:buFont typeface="+mj-lt"/>
              <a:buAutoNum type="arabicPeriod"/>
            </a:pPr>
            <a:r>
              <a:rPr lang="en-ID" sz="1100" b="1" i="0" dirty="0">
                <a:solidFill>
                  <a:srgbClr val="000000"/>
                </a:solidFill>
                <a:effectLst/>
                <a:latin typeface="Montserrat" panose="00000500000000000000" pitchFamily="2" charset="0"/>
              </a:rPr>
              <a:t>Masker</a:t>
            </a:r>
            <a:br>
              <a:rPr lang="en-ID" sz="1100" b="0" i="0" dirty="0">
                <a:solidFill>
                  <a:srgbClr val="000000"/>
                </a:solidFill>
                <a:effectLst/>
                <a:latin typeface="Montserrat" panose="00000500000000000000" pitchFamily="2" charset="0"/>
              </a:rPr>
            </a:br>
            <a:r>
              <a:rPr lang="en-ID" sz="1100" b="0" i="0" dirty="0" err="1">
                <a:solidFill>
                  <a:srgbClr val="000000"/>
                </a:solidFill>
                <a:effectLst/>
                <a:latin typeface="Montserrat" panose="00000500000000000000" pitchFamily="2" charset="0"/>
              </a:rPr>
              <a:t>Untuk</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melindungi</a:t>
            </a:r>
            <a:r>
              <a:rPr lang="en-ID" sz="1100" b="0" i="0" dirty="0">
                <a:solidFill>
                  <a:srgbClr val="000000"/>
                </a:solidFill>
                <a:effectLst/>
                <a:latin typeface="Montserrat" panose="00000500000000000000" pitchFamily="2" charset="0"/>
              </a:rPr>
              <a:t> organ </a:t>
            </a:r>
            <a:r>
              <a:rPr lang="en-ID" sz="1100" b="0" i="0" dirty="0" err="1">
                <a:solidFill>
                  <a:srgbClr val="000000"/>
                </a:solidFill>
                <a:effectLst/>
                <a:latin typeface="Montserrat" panose="00000500000000000000" pitchFamily="2" charset="0"/>
              </a:rPr>
              <a:t>pernapasan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pakailah</a:t>
            </a:r>
            <a:r>
              <a:rPr lang="en-ID" sz="1100" b="0" i="0" dirty="0">
                <a:solidFill>
                  <a:srgbClr val="000000"/>
                </a:solidFill>
                <a:effectLst/>
                <a:latin typeface="Montserrat" panose="00000500000000000000" pitchFamily="2" charset="0"/>
              </a:rPr>
              <a:t> masker </a:t>
            </a:r>
            <a:r>
              <a:rPr lang="en-ID" sz="1100" b="0" i="0" dirty="0" err="1">
                <a:solidFill>
                  <a:srgbClr val="000000"/>
                </a:solidFill>
                <a:effectLst/>
                <a:latin typeface="Montserrat" panose="00000500000000000000" pitchFamily="2" charset="0"/>
              </a:rPr>
              <a:t>berikut</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karena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bisa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menyaring</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bahan</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kimia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mikroorganisme</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partikel</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debu</a:t>
            </a:r>
            <a:r>
              <a:rPr lang="en-ID" sz="1100" b="0" i="0" dirty="0">
                <a:solidFill>
                  <a:srgbClr val="000000"/>
                </a:solidFill>
                <a:effectLst/>
                <a:latin typeface="Montserrat" panose="00000500000000000000" pitchFamily="2" charset="0"/>
              </a:rPr>
              <a:t>, aerosol, </a:t>
            </a:r>
            <a:r>
              <a:rPr lang="en-ID" sz="1100" b="0" i="0" dirty="0" err="1">
                <a:solidFill>
                  <a:srgbClr val="000000"/>
                </a:solidFill>
                <a:effectLst/>
                <a:latin typeface="Montserrat" panose="00000500000000000000" pitchFamily="2" charset="0"/>
              </a:rPr>
              <a:t>uap</a:t>
            </a:r>
            <a:r>
              <a:rPr lang="en-ID" sz="1100" b="0" i="0" dirty="0">
                <a:solidFill>
                  <a:srgbClr val="000000"/>
                </a:solidFill>
                <a:effectLst/>
                <a:latin typeface="Montserrat" panose="00000500000000000000" pitchFamily="2" charset="0"/>
              </a:rPr>
              <a:t>, asap, </a:t>
            </a:r>
            <a:r>
              <a:rPr lang="en-ID" sz="1100" b="0" i="0" dirty="0" err="1">
                <a:solidFill>
                  <a:srgbClr val="000000"/>
                </a:solidFill>
                <a:effectLst/>
                <a:latin typeface="Montserrat" panose="00000500000000000000" pitchFamily="2" charset="0"/>
              </a:rPr>
              <a:t>sampai</a:t>
            </a:r>
            <a:r>
              <a:rPr lang="en-ID" sz="1100" b="0" i="0" dirty="0">
                <a:solidFill>
                  <a:srgbClr val="000000"/>
                </a:solidFill>
                <a:effectLst/>
                <a:latin typeface="Montserrat" panose="00000500000000000000" pitchFamily="2" charset="0"/>
              </a:rPr>
              <a:t> gas. </a:t>
            </a:r>
            <a:r>
              <a:rPr lang="en-ID" sz="1100" b="0" i="0" dirty="0" err="1">
                <a:solidFill>
                  <a:srgbClr val="000000"/>
                </a:solidFill>
                <a:effectLst/>
                <a:latin typeface="Montserrat" panose="00000500000000000000" pitchFamily="2" charset="0"/>
              </a:rPr>
              <a:t>Jadinya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udara</a:t>
            </a:r>
            <a:r>
              <a:rPr lang="en-ID" sz="1100" b="0" i="0" dirty="0">
                <a:solidFill>
                  <a:srgbClr val="000000"/>
                </a:solidFill>
                <a:effectLst/>
                <a:latin typeface="Montserrat" panose="00000500000000000000" pitchFamily="2" charset="0"/>
              </a:rPr>
              <a:t> yang </a:t>
            </a:r>
            <a:r>
              <a:rPr lang="en-ID" sz="1100" b="0" i="0" dirty="0" err="1">
                <a:solidFill>
                  <a:srgbClr val="000000"/>
                </a:solidFill>
                <a:effectLst/>
                <a:latin typeface="Montserrat" panose="00000500000000000000" pitchFamily="2" charset="0"/>
              </a:rPr>
              <a:t>kamu</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hirup</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adalah</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udara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bersih</a:t>
            </a:r>
            <a:r>
              <a:rPr lang="en-ID" sz="1100" b="0" i="0" dirty="0">
                <a:solidFill>
                  <a:srgbClr val="000000"/>
                </a:solidFill>
                <a:effectLst/>
                <a:latin typeface="Montserrat" panose="00000500000000000000" pitchFamily="2" charset="0"/>
              </a:rPr>
              <a:t> dan </a:t>
            </a:r>
            <a:r>
              <a:rPr lang="en-ID" sz="1100" b="0" i="0" dirty="0" err="1">
                <a:solidFill>
                  <a:srgbClr val="000000"/>
                </a:solidFill>
                <a:effectLst/>
                <a:latin typeface="Montserrat" panose="00000500000000000000" pitchFamily="2" charset="0"/>
              </a:rPr>
              <a:t>sehat</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Biasanya</a:t>
            </a:r>
            <a:r>
              <a:rPr lang="en-ID" sz="1100" b="0" i="0" dirty="0">
                <a:solidFill>
                  <a:srgbClr val="000000"/>
                </a:solidFill>
                <a:effectLst/>
                <a:latin typeface="Montserrat" panose="00000500000000000000" pitchFamily="2" charset="0"/>
              </a:rPr>
              <a:t>, masker yang </a:t>
            </a:r>
            <a:r>
              <a:rPr lang="en-ID" sz="1100" b="0" i="0" dirty="0" err="1">
                <a:solidFill>
                  <a:srgbClr val="000000"/>
                </a:solidFill>
                <a:effectLst/>
                <a:latin typeface="Montserrat" panose="00000500000000000000" pitchFamily="2" charset="0"/>
              </a:rPr>
              <a:t>memenuhi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syarat</a:t>
            </a:r>
            <a:r>
              <a:rPr lang="en-ID" sz="1100" b="0" i="0" dirty="0">
                <a:solidFill>
                  <a:srgbClr val="000000"/>
                </a:solidFill>
                <a:effectLst/>
                <a:latin typeface="Montserrat" panose="00000500000000000000" pitchFamily="2" charset="0"/>
              </a:rPr>
              <a:t> K3 </a:t>
            </a:r>
            <a:r>
              <a:rPr lang="en-ID" sz="1100" b="0" i="0" dirty="0" err="1">
                <a:solidFill>
                  <a:srgbClr val="000000"/>
                </a:solidFill>
                <a:effectLst/>
                <a:latin typeface="Montserrat" panose="00000500000000000000" pitchFamily="2" charset="0"/>
              </a:rPr>
              <a:t>terdiri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dari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berbagai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jenis</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seperti</a:t>
            </a:r>
            <a:r>
              <a:rPr lang="en-ID" sz="1100" b="0" i="0" dirty="0">
                <a:solidFill>
                  <a:srgbClr val="000000"/>
                </a:solidFill>
                <a:effectLst/>
                <a:latin typeface="Montserrat" panose="00000500000000000000" pitchFamily="2" charset="0"/>
              </a:rPr>
              <a:t> respirator, </a:t>
            </a:r>
            <a:r>
              <a:rPr lang="en-ID" sz="1100" b="0" i="0" dirty="0" err="1">
                <a:solidFill>
                  <a:srgbClr val="000000"/>
                </a:solidFill>
                <a:effectLst/>
                <a:latin typeface="Montserrat" panose="00000500000000000000" pitchFamily="2" charset="0"/>
              </a:rPr>
              <a:t>katrit</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sampai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kanister</a:t>
            </a:r>
            <a:r>
              <a:rPr lang="en-ID" sz="1100" b="0" i="0" dirty="0">
                <a:solidFill>
                  <a:srgbClr val="000000"/>
                </a:solidFill>
                <a:effectLst/>
                <a:latin typeface="Montserrat" panose="00000500000000000000" pitchFamily="2" charset="0"/>
              </a:rPr>
              <a:t>.</a:t>
            </a:r>
          </a:p>
          <a:p>
            <a:pPr algn="l">
              <a:buFont typeface="+mj-lt"/>
              <a:buAutoNum type="arabicPeriod"/>
            </a:pPr>
            <a:r>
              <a:rPr lang="en-ID" sz="1100" b="1" i="0" dirty="0">
                <a:solidFill>
                  <a:srgbClr val="000000"/>
                </a:solidFill>
                <a:effectLst/>
                <a:latin typeface="Montserrat" panose="00000500000000000000" pitchFamily="2" charset="0"/>
              </a:rPr>
              <a:t>Alat </a:t>
            </a:r>
            <a:r>
              <a:rPr lang="en-ID" sz="1100" b="1" i="0" dirty="0" err="1">
                <a:solidFill>
                  <a:srgbClr val="000000"/>
                </a:solidFill>
                <a:effectLst/>
                <a:latin typeface="Montserrat" panose="00000500000000000000" pitchFamily="2" charset="0"/>
              </a:rPr>
              <a:t>Pelindung</a:t>
            </a:r>
            <a:r>
              <a:rPr lang="en-ID" sz="1100" b="1" i="0" dirty="0">
                <a:solidFill>
                  <a:srgbClr val="000000"/>
                </a:solidFill>
                <a:effectLst/>
                <a:latin typeface="Montserrat" panose="00000500000000000000" pitchFamily="2" charset="0"/>
              </a:rPr>
              <a:t> </a:t>
            </a:r>
            <a:r>
              <a:rPr lang="en-ID" sz="1100" b="1" i="0" dirty="0" err="1">
                <a:solidFill>
                  <a:srgbClr val="000000"/>
                </a:solidFill>
                <a:effectLst/>
                <a:latin typeface="Montserrat" panose="00000500000000000000" pitchFamily="2" charset="0"/>
              </a:rPr>
              <a:t>Telinga</a:t>
            </a:r>
            <a:br>
              <a:rPr lang="en-ID" sz="1100" b="0" i="0" dirty="0">
                <a:solidFill>
                  <a:srgbClr val="000000"/>
                </a:solidFill>
                <a:effectLst/>
                <a:latin typeface="Montserrat" panose="00000500000000000000" pitchFamily="2" charset="0"/>
              </a:rPr>
            </a:br>
            <a:r>
              <a:rPr lang="en-ID" sz="1100" b="0" i="0" dirty="0">
                <a:solidFill>
                  <a:srgbClr val="000000"/>
                </a:solidFill>
                <a:effectLst/>
                <a:latin typeface="Montserrat" panose="00000500000000000000" pitchFamily="2" charset="0"/>
              </a:rPr>
              <a:t>Alat </a:t>
            </a:r>
            <a:r>
              <a:rPr lang="en-ID" sz="1100" b="0" i="0" dirty="0" err="1">
                <a:solidFill>
                  <a:srgbClr val="000000"/>
                </a:solidFill>
                <a:effectLst/>
                <a:latin typeface="Montserrat" panose="00000500000000000000" pitchFamily="2" charset="0"/>
              </a:rPr>
              <a:t>pelindung</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telinga</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adalah</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alat</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pelindung</a:t>
            </a:r>
            <a:r>
              <a:rPr lang="en-ID" sz="1100" b="0" i="0" dirty="0">
                <a:solidFill>
                  <a:srgbClr val="000000"/>
                </a:solidFill>
                <a:effectLst/>
                <a:latin typeface="Montserrat" panose="00000500000000000000" pitchFamily="2" charset="0"/>
              </a:rPr>
              <a:t> yang </a:t>
            </a:r>
            <a:r>
              <a:rPr lang="en-ID" sz="1100" b="0" i="0" dirty="0" err="1">
                <a:solidFill>
                  <a:srgbClr val="000000"/>
                </a:solidFill>
                <a:effectLst/>
                <a:latin typeface="Montserrat" panose="00000500000000000000" pitchFamily="2" charset="0"/>
              </a:rPr>
              <a:t>berfungsi</a:t>
            </a:r>
            <a:r>
              <a:rPr lang="en-ID" sz="1100" b="0" i="0" dirty="0">
                <a:solidFill>
                  <a:srgbClr val="000000"/>
                </a:solidFill>
                <a:effectLst/>
                <a:latin typeface="Montserrat" panose="00000500000000000000" pitchFamily="2" charset="0"/>
              </a:rPr>
              <a:t> </a:t>
            </a:r>
            <a:r>
              <a:rPr lang="en-ID" sz="1100" b="0" i="0" dirty="0" err="1">
                <a:solidFill>
                  <a:srgbClr val="000000"/>
                </a:solidFill>
                <a:effectLst/>
                <a:latin typeface="Montserrat" panose="00000500000000000000" pitchFamily="2" charset="0"/>
              </a:rPr>
              <a:t>untuk</a:t>
            </a:r>
            <a:r>
              <a:rPr lang="en-ID" sz="11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alat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pendengaran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terhadap</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kebisingan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tekanan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Jenis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alat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pelindung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telinga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terdiri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sumbat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telinga</a:t>
            </a:r>
            <a:r>
              <a:rPr lang="en-ID" sz="1200" b="0" i="0" dirty="0">
                <a:solidFill>
                  <a:srgbClr val="000000"/>
                </a:solidFill>
                <a:effectLst/>
                <a:latin typeface="Montserrat" panose="00000500000000000000" pitchFamily="2" charset="0"/>
              </a:rPr>
              <a:t> (</a:t>
            </a:r>
            <a:r>
              <a:rPr lang="en-ID" sz="1200" b="0" i="1" dirty="0">
                <a:solidFill>
                  <a:srgbClr val="000000"/>
                </a:solidFill>
                <a:effectLst/>
                <a:latin typeface="Montserrat" panose="00000500000000000000" pitchFamily="2" charset="0"/>
              </a:rPr>
              <a:t>ear plug</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penutup</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telinga</a:t>
            </a:r>
            <a:r>
              <a:rPr lang="en-ID" sz="1200" b="0" i="0" dirty="0">
                <a:solidFill>
                  <a:srgbClr val="000000"/>
                </a:solidFill>
                <a:effectLst/>
                <a:latin typeface="Montserrat" panose="00000500000000000000" pitchFamily="2" charset="0"/>
              </a:rPr>
              <a:t> (</a:t>
            </a:r>
            <a:r>
              <a:rPr lang="en-ID" sz="1200" b="0" i="1" dirty="0">
                <a:solidFill>
                  <a:srgbClr val="000000"/>
                </a:solidFill>
                <a:effectLst/>
                <a:latin typeface="Montserrat" panose="00000500000000000000" pitchFamily="2" charset="0"/>
              </a:rPr>
              <a:t>ear muff</a:t>
            </a:r>
            <a:r>
              <a:rPr lang="en-ID" sz="1200" b="0" i="0" dirty="0">
                <a:solidFill>
                  <a:srgbClr val="000000"/>
                </a:solidFill>
                <a:effectLst/>
                <a:latin typeface="Montserrat" panose="00000500000000000000" pitchFamily="2" charset="0"/>
              </a:rPr>
              <a:t>)</a:t>
            </a:r>
          </a:p>
          <a:p>
            <a:pPr algn="l">
              <a:buFont typeface="+mj-lt"/>
              <a:buAutoNum type="arabicPeriod"/>
            </a:pPr>
            <a:r>
              <a:rPr lang="en-ID" sz="1200" b="1" i="0" dirty="0">
                <a:solidFill>
                  <a:srgbClr val="000000"/>
                </a:solidFill>
                <a:effectLst/>
                <a:latin typeface="Montserrat" panose="00000500000000000000" pitchFamily="2" charset="0"/>
              </a:rPr>
              <a:t>Alat </a:t>
            </a:r>
            <a:r>
              <a:rPr lang="en-ID" sz="1200" b="1" i="0" dirty="0" err="1">
                <a:solidFill>
                  <a:srgbClr val="000000"/>
                </a:solidFill>
                <a:effectLst/>
                <a:latin typeface="Montserrat" panose="00000500000000000000" pitchFamily="2" charset="0"/>
              </a:rPr>
              <a:t>Pelindung</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Tangan</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Sarung</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Tangan</a:t>
            </a:r>
            <a:r>
              <a:rPr lang="en-ID" sz="1200" b="1" i="0" dirty="0">
                <a:solidFill>
                  <a:srgbClr val="000000"/>
                </a:solidFill>
                <a:effectLst/>
                <a:latin typeface="Montserrat" panose="00000500000000000000" pitchFamily="2" charset="0"/>
              </a:rPr>
              <a:t>)</a:t>
            </a:r>
            <a:br>
              <a:rPr lang="en-ID" sz="1200" b="0" i="0" dirty="0">
                <a:solidFill>
                  <a:srgbClr val="000000"/>
                </a:solidFill>
                <a:effectLst/>
                <a:latin typeface="Montserrat" panose="00000500000000000000" pitchFamily="2" charset="0"/>
              </a:rPr>
            </a:br>
            <a:r>
              <a:rPr lang="en-ID" sz="1200" b="0" i="0" dirty="0" err="1">
                <a:solidFill>
                  <a:srgbClr val="000000"/>
                </a:solidFill>
                <a:effectLst/>
                <a:latin typeface="Montserrat" panose="00000500000000000000" pitchFamily="2" charset="0"/>
              </a:rPr>
              <a:t>Pelindung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sarung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adalah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alat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pelindung</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berfungsi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untuk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jari-jari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api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suhu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suhu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dingin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radiasi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elektromagnetik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radiasi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mengion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arus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listrik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kimia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benturan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pukulan</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tergores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terinfeksi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zat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patogen</a:t>
            </a:r>
            <a:r>
              <a:rPr lang="en-ID" sz="1200" b="0" i="0" dirty="0">
                <a:solidFill>
                  <a:srgbClr val="000000"/>
                </a:solidFill>
                <a:effectLst/>
                <a:latin typeface="Montserrat" panose="00000500000000000000" pitchFamily="2" charset="0"/>
              </a:rPr>
              <a:t> (virus, </a:t>
            </a:r>
            <a:r>
              <a:rPr lang="en-ID" sz="1200" b="0" i="0" dirty="0" err="1">
                <a:solidFill>
                  <a:srgbClr val="000000"/>
                </a:solidFill>
                <a:effectLst/>
                <a:latin typeface="Montserrat" panose="00000500000000000000" pitchFamily="2" charset="0"/>
              </a:rPr>
              <a:t>bakteri</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jasad</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renik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Sarung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sendiri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biasanya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terbuat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kulit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kain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kanvas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kain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berlapis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karet</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sarung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tangan</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tahan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kimia</a:t>
            </a:r>
            <a:r>
              <a:rPr lang="en-ID" sz="1200" b="0" i="0" dirty="0">
                <a:solidFill>
                  <a:srgbClr val="000000"/>
                </a:solidFill>
                <a:effectLst/>
                <a:latin typeface="Montserrat" panose="00000500000000000000" pitchFamily="2" charset="0"/>
              </a:rPr>
              <a:t>.</a:t>
            </a:r>
          </a:p>
          <a:p>
            <a:pPr algn="l">
              <a:buFont typeface="+mj-lt"/>
              <a:buAutoNum type="arabicPeriod"/>
            </a:pPr>
            <a:r>
              <a:rPr lang="en-ID" sz="1200" b="1" i="1" dirty="0">
                <a:solidFill>
                  <a:srgbClr val="000000"/>
                </a:solidFill>
                <a:effectLst/>
                <a:latin typeface="Montserrat" panose="00000500000000000000" pitchFamily="2" charset="0"/>
              </a:rPr>
              <a:t>Safety Shoes</a:t>
            </a:r>
            <a:br>
              <a:rPr lang="en-ID" sz="1200" b="0" i="0" dirty="0">
                <a:solidFill>
                  <a:srgbClr val="000000"/>
                </a:solidFill>
                <a:effectLst/>
                <a:latin typeface="Montserrat" panose="00000500000000000000" pitchFamily="2" charset="0"/>
              </a:rPr>
            </a:br>
            <a:r>
              <a:rPr lang="en-ID" sz="1200" b="0" i="0" dirty="0">
                <a:solidFill>
                  <a:srgbClr val="000000"/>
                </a:solidFill>
                <a:effectLst/>
                <a:latin typeface="Montserrat" panose="00000500000000000000" pitchFamily="2" charset="0"/>
              </a:rPr>
              <a:t>Alat </a:t>
            </a:r>
            <a:r>
              <a:rPr lang="en-ID" sz="1200" b="0" i="0" dirty="0" err="1">
                <a:solidFill>
                  <a:srgbClr val="000000"/>
                </a:solidFill>
                <a:effectLst/>
                <a:latin typeface="Montserrat" panose="00000500000000000000" pitchFamily="2" charset="0"/>
              </a:rPr>
              <a:t>pelindung</a:t>
            </a:r>
            <a:r>
              <a:rPr lang="en-ID" sz="1200" b="0" i="0" dirty="0">
                <a:solidFill>
                  <a:srgbClr val="000000"/>
                </a:solidFill>
                <a:effectLst/>
                <a:latin typeface="Montserrat" panose="00000500000000000000" pitchFamily="2" charset="0"/>
              </a:rPr>
              <a:t> kaki </a:t>
            </a:r>
            <a:r>
              <a:rPr lang="en-ID" sz="1200" b="0" i="0" dirty="0" err="1">
                <a:solidFill>
                  <a:srgbClr val="000000"/>
                </a:solidFill>
                <a:effectLst/>
                <a:latin typeface="Montserrat" panose="00000500000000000000" pitchFamily="2" charset="0"/>
              </a:rPr>
              <a:t>berfungsi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untuk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kaki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tertimpa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berbenturan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dengan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benda-benda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berat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tertusuk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benda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tajam</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terkena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cairan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dingin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uap</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terpajan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suhu</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ekstrim</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terkena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kimia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berbahaya</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tergelincir</a:t>
            </a:r>
            <a:r>
              <a:rPr lang="en-ID" sz="1200" b="0" i="0" dirty="0">
                <a:solidFill>
                  <a:srgbClr val="000000"/>
                </a:solidFill>
                <a:effectLst/>
                <a:latin typeface="Montserrat" panose="00000500000000000000" pitchFamily="2" charset="0"/>
              </a:rPr>
              <a:t>.</a:t>
            </a:r>
          </a:p>
          <a:p>
            <a:pPr algn="l">
              <a:buFont typeface="+mj-lt"/>
              <a:buAutoNum type="arabicPeriod"/>
            </a:pPr>
            <a:r>
              <a:rPr lang="en-ID" sz="1200" b="1" i="0" dirty="0" err="1">
                <a:solidFill>
                  <a:srgbClr val="000000"/>
                </a:solidFill>
                <a:effectLst/>
                <a:latin typeface="Montserrat" panose="00000500000000000000" pitchFamily="2" charset="0"/>
              </a:rPr>
              <a:t>Pakaian</a:t>
            </a:r>
            <a:r>
              <a:rPr lang="en-ID" sz="1200" b="1" i="0" dirty="0">
                <a:solidFill>
                  <a:srgbClr val="000000"/>
                </a:solidFill>
                <a:effectLst/>
                <a:latin typeface="Montserrat" panose="00000500000000000000" pitchFamily="2" charset="0"/>
              </a:rPr>
              <a:t> </a:t>
            </a:r>
            <a:r>
              <a:rPr lang="en-ID" sz="1200" b="1" i="0" dirty="0" err="1">
                <a:solidFill>
                  <a:srgbClr val="000000"/>
                </a:solidFill>
                <a:effectLst/>
                <a:latin typeface="Montserrat" panose="00000500000000000000" pitchFamily="2" charset="0"/>
              </a:rPr>
              <a:t>Pelindung</a:t>
            </a:r>
            <a:br>
              <a:rPr lang="en-ID" sz="1200" b="0" i="0" dirty="0">
                <a:solidFill>
                  <a:srgbClr val="000000"/>
                </a:solidFill>
                <a:effectLst/>
                <a:latin typeface="Montserrat" panose="00000500000000000000" pitchFamily="2" charset="0"/>
              </a:rPr>
            </a:br>
            <a:r>
              <a:rPr lang="en-ID" sz="1200" b="0" i="0" dirty="0" err="1">
                <a:solidFill>
                  <a:srgbClr val="000000"/>
                </a:solidFill>
                <a:effectLst/>
                <a:latin typeface="Montserrat" panose="00000500000000000000" pitchFamily="2" charset="0"/>
              </a:rPr>
              <a:t>Pakaian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pelindung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berfungsi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untuk</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melindungi</a:t>
            </a:r>
            <a:r>
              <a:rPr lang="en-ID" sz="1200" b="0" i="0" dirty="0">
                <a:solidFill>
                  <a:srgbClr val="000000"/>
                </a:solidFill>
                <a:effectLst/>
                <a:latin typeface="Montserrat" panose="00000500000000000000" pitchFamily="2" charset="0"/>
              </a:rPr>
              <a:t> badan </a:t>
            </a:r>
            <a:r>
              <a:rPr lang="en-ID" sz="1200" b="0" i="0" dirty="0" err="1">
                <a:solidFill>
                  <a:srgbClr val="000000"/>
                </a:solidFill>
                <a:effectLst/>
                <a:latin typeface="Montserrat" panose="00000500000000000000" pitchFamily="2" charset="0"/>
              </a:rPr>
              <a:t>sebagian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seluruh</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bagian</a:t>
            </a:r>
            <a:r>
              <a:rPr lang="en-ID" sz="1200" b="0" i="0" dirty="0">
                <a:solidFill>
                  <a:srgbClr val="000000"/>
                </a:solidFill>
                <a:effectLst/>
                <a:latin typeface="Montserrat" panose="00000500000000000000" pitchFamily="2" charset="0"/>
              </a:rPr>
              <a:t> badan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bahaya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temperatur</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atau</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dingin</a:t>
            </a:r>
            <a:r>
              <a:rPr lang="en-ID" sz="1200" b="0" i="0" dirty="0">
                <a:solidFill>
                  <a:srgbClr val="000000"/>
                </a:solidFill>
                <a:effectLst/>
                <a:latin typeface="Montserrat" panose="00000500000000000000" pitchFamily="2" charset="0"/>
              </a:rPr>
              <a:t> yang </a:t>
            </a:r>
            <a:r>
              <a:rPr lang="en-ID" sz="1200" b="0" i="0" dirty="0" err="1">
                <a:solidFill>
                  <a:srgbClr val="000000"/>
                </a:solidFill>
                <a:effectLst/>
                <a:latin typeface="Montserrat" panose="00000500000000000000" pitchFamily="2" charset="0"/>
              </a:rPr>
              <a:t>ekstrim</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pajanan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api</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benda-benda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percikan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bahan-bahan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kimia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cairan</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logam</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uap</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panas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benturan</a:t>
            </a:r>
            <a:r>
              <a:rPr lang="en-ID" sz="1200" b="0" i="0" dirty="0">
                <a:solidFill>
                  <a:srgbClr val="000000"/>
                </a:solidFill>
                <a:effectLst/>
                <a:latin typeface="Montserrat" panose="00000500000000000000" pitchFamily="2" charset="0"/>
              </a:rPr>
              <a:t> (</a:t>
            </a:r>
            <a:r>
              <a:rPr lang="en-ID" sz="1200" b="0" i="1" dirty="0">
                <a:solidFill>
                  <a:srgbClr val="000000"/>
                </a:solidFill>
                <a:effectLst/>
                <a:latin typeface="Montserrat" panose="00000500000000000000" pitchFamily="2" charset="0"/>
              </a:rPr>
              <a:t>impact</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dengan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mesin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peralatan</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bahan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tergores</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radiasi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binatang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mikro-organisme</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patogen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dari</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manusia</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binatang</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tumbuhan</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lingkungan</a:t>
            </a:r>
            <a:r>
              <a:rPr lang="en-ID" sz="1200" b="0" i="0" dirty="0">
                <a:solidFill>
                  <a:srgbClr val="000000"/>
                </a:solidFill>
                <a:effectLst/>
                <a:latin typeface="Montserrat" panose="00000500000000000000" pitchFamily="2" charset="0"/>
              </a:rPr>
              <a:t> </a:t>
            </a:r>
            <a:r>
              <a:rPr lang="en-ID" sz="1200" b="0" i="0" dirty="0" err="1">
                <a:solidFill>
                  <a:srgbClr val="000000"/>
                </a:solidFill>
                <a:effectLst/>
                <a:latin typeface="Montserrat" panose="00000500000000000000" pitchFamily="2" charset="0"/>
              </a:rPr>
              <a:t>seperti</a:t>
            </a:r>
            <a:r>
              <a:rPr lang="en-ID" sz="1200" b="0" i="0" dirty="0">
                <a:solidFill>
                  <a:srgbClr val="000000"/>
                </a:solidFill>
                <a:effectLst/>
                <a:latin typeface="Montserrat" panose="00000500000000000000" pitchFamily="2" charset="0"/>
              </a:rPr>
              <a:t> virus, </a:t>
            </a:r>
            <a:r>
              <a:rPr lang="en-ID" sz="1200" b="0" i="0" dirty="0" err="1">
                <a:solidFill>
                  <a:srgbClr val="000000"/>
                </a:solidFill>
                <a:effectLst/>
                <a:latin typeface="Montserrat" panose="00000500000000000000" pitchFamily="2" charset="0"/>
              </a:rPr>
              <a:t>bakteri</a:t>
            </a:r>
            <a:r>
              <a:rPr lang="en-ID" sz="1200" b="0" i="0" dirty="0">
                <a:solidFill>
                  <a:srgbClr val="000000"/>
                </a:solidFill>
                <a:effectLst/>
                <a:latin typeface="Montserrat" panose="00000500000000000000" pitchFamily="2" charset="0"/>
              </a:rPr>
              <a:t> dan </a:t>
            </a:r>
            <a:r>
              <a:rPr lang="en-ID" sz="1200" b="0" i="0" dirty="0" err="1">
                <a:solidFill>
                  <a:srgbClr val="000000"/>
                </a:solidFill>
                <a:effectLst/>
                <a:latin typeface="Montserrat" panose="00000500000000000000" pitchFamily="2" charset="0"/>
              </a:rPr>
              <a:t>jamur</a:t>
            </a:r>
            <a:r>
              <a:rPr lang="en-ID" sz="1200" b="0" i="0" dirty="0">
                <a:solidFill>
                  <a:srgbClr val="000000"/>
                </a:solidFill>
                <a:effectLst/>
                <a:latin typeface="Montserrat" panose="00000500000000000000" pitchFamily="2" charset="0"/>
              </a:rPr>
              <a:t>.</a:t>
            </a:r>
          </a:p>
        </p:txBody>
      </p:sp>
    </p:spTree>
    <p:extLst>
      <p:ext uri="{BB962C8B-B14F-4D97-AF65-F5344CB8AC3E}">
        <p14:creationId xmlns:p14="http://schemas.microsoft.com/office/powerpoint/2010/main" val="3229814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F5F0E4-320F-4F02-8D86-57851C20C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861" y="148747"/>
            <a:ext cx="5991225"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612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200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officeArt object">
            <a:extLst>
              <a:ext uri="{FF2B5EF4-FFF2-40B4-BE49-F238E27FC236}">
                <a16:creationId xmlns:a16="http://schemas.microsoft.com/office/drawing/2014/main" id="{6B49DE3D-E157-4A1B-AA47-967D3FC661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419" y="1047750"/>
            <a:ext cx="22479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053" name="officeArt object">
            <a:extLst>
              <a:ext uri="{FF2B5EF4-FFF2-40B4-BE49-F238E27FC236}">
                <a16:creationId xmlns:a16="http://schemas.microsoft.com/office/drawing/2014/main" id="{95F7E3B6-2620-43B4-BB3A-0645A7705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9795" y="1046706"/>
            <a:ext cx="27717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057" name="officeArt object">
            <a:extLst>
              <a:ext uri="{FF2B5EF4-FFF2-40B4-BE49-F238E27FC236}">
                <a16:creationId xmlns:a16="http://schemas.microsoft.com/office/drawing/2014/main" id="{5C053EB0-7184-4BFC-B822-5A166BB578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419" y="4665662"/>
            <a:ext cx="1735138"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055" name="Picture 7">
            <a:extLst>
              <a:ext uri="{FF2B5EF4-FFF2-40B4-BE49-F238E27FC236}">
                <a16:creationId xmlns:a16="http://schemas.microsoft.com/office/drawing/2014/main" id="{3FEF814D-A952-47D5-8F58-A74109E8AA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6581" y="4674013"/>
            <a:ext cx="2103437"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056" name="Picture 8">
            <a:extLst>
              <a:ext uri="{FF2B5EF4-FFF2-40B4-BE49-F238E27FC236}">
                <a16:creationId xmlns:a16="http://schemas.microsoft.com/office/drawing/2014/main" id="{0242EB30-B718-467A-9EE4-5A128E78043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85682" y="4595812"/>
            <a:ext cx="1801813" cy="180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Rectangle 10">
            <a:extLst>
              <a:ext uri="{FF2B5EF4-FFF2-40B4-BE49-F238E27FC236}">
                <a16:creationId xmlns:a16="http://schemas.microsoft.com/office/drawing/2014/main" id="{C5BD8A9F-3ACF-449E-AA0C-4A04D2462865}"/>
              </a:ext>
            </a:extLst>
          </p:cNvPr>
          <p:cNvSpPr>
            <a:spLocks noChangeArrowheads="1"/>
          </p:cNvSpPr>
          <p:nvPr/>
        </p:nvSpPr>
        <p:spPr bwMode="auto">
          <a:xfrm>
            <a:off x="810419" y="3925065"/>
            <a:ext cx="25423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B.Face</a:t>
            </a:r>
            <a:r>
              <a:rPr kumimoji="0" lang="en-US" altLang="en-US"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Shield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 name="Rectangle 11">
            <a:extLst>
              <a:ext uri="{FF2B5EF4-FFF2-40B4-BE49-F238E27FC236}">
                <a16:creationId xmlns:a16="http://schemas.microsoft.com/office/drawing/2014/main" id="{B821998B-1666-4DAE-B8DD-EC2A8640692C}"/>
              </a:ext>
            </a:extLst>
          </p:cNvPr>
          <p:cNvSpPr>
            <a:spLocks noChangeArrowheads="1"/>
          </p:cNvSpPr>
          <p:nvPr/>
        </p:nvSpPr>
        <p:spPr bwMode="auto">
          <a:xfrm>
            <a:off x="381000" y="3048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br>
              <a:rPr kumimoji="0" lang="id-ID" altLang="en-US" sz="1100" b="0" i="0" u="none" strike="noStrike" cap="none" normalizeH="0" baseline="0">
                <a:ln>
                  <a:noFill/>
                </a:ln>
                <a:solidFill>
                  <a:srgbClr val="000000"/>
                </a:solidFill>
                <a:effectLst/>
                <a:ea typeface="Times New Roman" panose="02020603050405020304" pitchFamily="18" charset="0"/>
              </a:rPr>
            </a:br>
            <a:endParaRPr kumimoji="0" lang="id-ID"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id-ID" altLang="en-US"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E5F9874-7890-444E-936C-FB3D8734EDBC}"/>
              </a:ext>
            </a:extLst>
          </p:cNvPr>
          <p:cNvSpPr txBox="1"/>
          <p:nvPr/>
        </p:nvSpPr>
        <p:spPr>
          <a:xfrm>
            <a:off x="810419" y="201126"/>
            <a:ext cx="4572000"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A.Ear</a:t>
            </a:r>
            <a:r>
              <a:rPr kumimoji="0" lang="en-US" altLang="en-US"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Plug</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1622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officeArt object">
            <a:extLst>
              <a:ext uri="{FF2B5EF4-FFF2-40B4-BE49-F238E27FC236}">
                <a16:creationId xmlns:a16="http://schemas.microsoft.com/office/drawing/2014/main" id="{47240D2E-CD32-4E0E-993A-9414C5416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2502"/>
          <a:stretch>
            <a:fillRect/>
          </a:stretch>
        </p:blipFill>
        <p:spPr bwMode="auto">
          <a:xfrm>
            <a:off x="467573" y="992962"/>
            <a:ext cx="3566766"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3073" name="Picture 1">
            <a:extLst>
              <a:ext uri="{FF2B5EF4-FFF2-40B4-BE49-F238E27FC236}">
                <a16:creationId xmlns:a16="http://schemas.microsoft.com/office/drawing/2014/main" id="{19355A24-35A8-469A-81E8-CB245152F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6722"/>
          <a:stretch>
            <a:fillRect/>
          </a:stretch>
        </p:blipFill>
        <p:spPr bwMode="auto">
          <a:xfrm>
            <a:off x="5109662" y="1031815"/>
            <a:ext cx="3119938"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Rectangle 3">
            <a:extLst>
              <a:ext uri="{FF2B5EF4-FFF2-40B4-BE49-F238E27FC236}">
                <a16:creationId xmlns:a16="http://schemas.microsoft.com/office/drawing/2014/main" id="{A090ADC4-D31E-41E5-81BE-626E823BE7CD}"/>
              </a:ext>
            </a:extLst>
          </p:cNvPr>
          <p:cNvSpPr>
            <a:spLocks noChangeArrowheads="1"/>
          </p:cNvSpPr>
          <p:nvPr/>
        </p:nvSpPr>
        <p:spPr bwMode="auto">
          <a:xfrm>
            <a:off x="533400" y="392798"/>
            <a:ext cx="2971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kumimoji="0" lang="en-US" altLang="en-US"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  Fuel Container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4">
            <a:extLst>
              <a:ext uri="{FF2B5EF4-FFF2-40B4-BE49-F238E27FC236}">
                <a16:creationId xmlns:a16="http://schemas.microsoft.com/office/drawing/2014/main" id="{5B6501E4-14AA-4899-A8AF-210039CA189A}"/>
              </a:ext>
            </a:extLst>
          </p:cNvPr>
          <p:cNvSpPr>
            <a:spLocks noChangeArrowheads="1"/>
          </p:cNvSpPr>
          <p:nvPr/>
        </p:nvSpPr>
        <p:spPr bwMode="auto">
          <a:xfrm>
            <a:off x="539750" y="12668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pic>
        <p:nvPicPr>
          <p:cNvPr id="3078" name="officeArt object">
            <a:extLst>
              <a:ext uri="{FF2B5EF4-FFF2-40B4-BE49-F238E27FC236}">
                <a16:creationId xmlns:a16="http://schemas.microsoft.com/office/drawing/2014/main" id="{D63C64F4-AB4E-40DB-BCF3-581F34F48F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821" y="4287659"/>
            <a:ext cx="2206625"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3077" name="Picture 5">
            <a:extLst>
              <a:ext uri="{FF2B5EF4-FFF2-40B4-BE49-F238E27FC236}">
                <a16:creationId xmlns:a16="http://schemas.microsoft.com/office/drawing/2014/main" id="{060FAB70-0CE4-448E-A0C7-5907CFF497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4287659"/>
            <a:ext cx="2941637" cy="220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4" name="Rectangle 7">
            <a:extLst>
              <a:ext uri="{FF2B5EF4-FFF2-40B4-BE49-F238E27FC236}">
                <a16:creationId xmlns:a16="http://schemas.microsoft.com/office/drawing/2014/main" id="{26EE39F7-183E-496B-8DC7-10B721704E3D}"/>
              </a:ext>
            </a:extLst>
          </p:cNvPr>
          <p:cNvSpPr>
            <a:spLocks noChangeArrowheads="1"/>
          </p:cNvSpPr>
          <p:nvPr/>
        </p:nvSpPr>
        <p:spPr bwMode="auto">
          <a:xfrm>
            <a:off x="840821" y="3657859"/>
            <a:ext cx="35667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000000"/>
                </a:solidFill>
                <a:latin typeface="Arial" panose="020B0604020202020204" pitchFamily="34" charset="0"/>
                <a:ea typeface="Times New Roman" panose="02020603050405020304" pitchFamily="18" charset="0"/>
                <a:cs typeface="Arial" panose="020B0604020202020204" pitchFamily="34" charset="0"/>
              </a:rPr>
              <a:t>D</a:t>
            </a:r>
            <a:r>
              <a:rPr kumimoji="0" lang="en-US" altLang="en-US"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Hand Gloves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8">
            <a:extLst>
              <a:ext uri="{FF2B5EF4-FFF2-40B4-BE49-F238E27FC236}">
                <a16:creationId xmlns:a16="http://schemas.microsoft.com/office/drawing/2014/main" id="{CC730228-2B68-4388-8A4F-5081A34C9D73}"/>
              </a:ext>
            </a:extLst>
          </p:cNvPr>
          <p:cNvSpPr>
            <a:spLocks noChangeArrowheads="1"/>
          </p:cNvSpPr>
          <p:nvPr/>
        </p:nvSpPr>
        <p:spPr bwMode="auto">
          <a:xfrm>
            <a:off x="844550" y="42876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Tree>
    <p:extLst>
      <p:ext uri="{BB962C8B-B14F-4D97-AF65-F5344CB8AC3E}">
        <p14:creationId xmlns:p14="http://schemas.microsoft.com/office/powerpoint/2010/main" val="1473632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officeArt object">
            <a:extLst>
              <a:ext uri="{FF2B5EF4-FFF2-40B4-BE49-F238E27FC236}">
                <a16:creationId xmlns:a16="http://schemas.microsoft.com/office/drawing/2014/main" id="{095E5862-4F3B-4699-8B70-6B57D4AA5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914400"/>
            <a:ext cx="67056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extLst>
      <p:ext uri="{BB962C8B-B14F-4D97-AF65-F5344CB8AC3E}">
        <p14:creationId xmlns:p14="http://schemas.microsoft.com/office/powerpoint/2010/main" val="1905113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officeArt object">
            <a:extLst>
              <a:ext uri="{FF2B5EF4-FFF2-40B4-BE49-F238E27FC236}">
                <a16:creationId xmlns:a16="http://schemas.microsoft.com/office/drawing/2014/main" id="{92A155C2-C17F-4751-8D9B-07095F3424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023" y="992557"/>
            <a:ext cx="2705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124" name="Picture 4">
            <a:extLst>
              <a:ext uri="{FF2B5EF4-FFF2-40B4-BE49-F238E27FC236}">
                <a16:creationId xmlns:a16="http://schemas.microsoft.com/office/drawing/2014/main" id="{1939AB33-8209-4DB5-A271-CFD1A163A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9" y="949890"/>
            <a:ext cx="2886075"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122" name="Picture 2">
            <a:extLst>
              <a:ext uri="{FF2B5EF4-FFF2-40B4-BE49-F238E27FC236}">
                <a16:creationId xmlns:a16="http://schemas.microsoft.com/office/drawing/2014/main" id="{FBBD187F-6AAA-417A-B45D-66D018B65E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03085"/>
            <a:ext cx="251777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121" name="Picture 1">
            <a:extLst>
              <a:ext uri="{FF2B5EF4-FFF2-40B4-BE49-F238E27FC236}">
                <a16:creationId xmlns:a16="http://schemas.microsoft.com/office/drawing/2014/main" id="{7D1F1544-100C-4E52-B0BA-10AD370CD9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3803085"/>
            <a:ext cx="2886075"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Rectangle 5">
            <a:extLst>
              <a:ext uri="{FF2B5EF4-FFF2-40B4-BE49-F238E27FC236}">
                <a16:creationId xmlns:a16="http://schemas.microsoft.com/office/drawing/2014/main" id="{F82D625F-B2F6-4A6E-8503-EB606D43BCAB}"/>
              </a:ext>
            </a:extLst>
          </p:cNvPr>
          <p:cNvSpPr>
            <a:spLocks noChangeArrowheads="1"/>
          </p:cNvSpPr>
          <p:nvPr/>
        </p:nvSpPr>
        <p:spPr bwMode="auto">
          <a:xfrm>
            <a:off x="1358030" y="110788"/>
            <a:ext cx="25281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lang="en-US" altLang="en-US" b="1" dirty="0">
                <a:solidFill>
                  <a:srgbClr val="000000"/>
                </a:solidFill>
                <a:ea typeface="Times New Roman" panose="02020603050405020304" pitchFamily="18" charset="0"/>
                <a:cs typeface="Arial" panose="020B0604020202020204" pitchFamily="34" charset="0"/>
              </a:rPr>
              <a:t>E</a:t>
            </a:r>
            <a:r>
              <a:rPr kumimoji="0" lang="en-US" altLang="en-US"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  Helmet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6">
            <a:extLst>
              <a:ext uri="{FF2B5EF4-FFF2-40B4-BE49-F238E27FC236}">
                <a16:creationId xmlns:a16="http://schemas.microsoft.com/office/drawing/2014/main" id="{91AA0AC8-7408-441C-ACFF-5BA2F4BF8A8B}"/>
              </a:ext>
            </a:extLst>
          </p:cNvPr>
          <p:cNvSpPr>
            <a:spLocks noChangeArrowheads="1"/>
          </p:cNvSpPr>
          <p:nvPr/>
        </p:nvSpPr>
        <p:spPr bwMode="auto">
          <a:xfrm>
            <a:off x="1377950" y="49269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Tree>
    <p:extLst>
      <p:ext uri="{BB962C8B-B14F-4D97-AF65-F5344CB8AC3E}">
        <p14:creationId xmlns:p14="http://schemas.microsoft.com/office/powerpoint/2010/main" val="451759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officeArt object">
            <a:extLst>
              <a:ext uri="{FF2B5EF4-FFF2-40B4-BE49-F238E27FC236}">
                <a16:creationId xmlns:a16="http://schemas.microsoft.com/office/drawing/2014/main" id="{8A93A137-1663-4C0A-863A-5762B626A9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614" b="19614"/>
          <a:stretch>
            <a:fillRect/>
          </a:stretch>
        </p:blipFill>
        <p:spPr bwMode="auto">
          <a:xfrm>
            <a:off x="1066800" y="325811"/>
            <a:ext cx="4785491" cy="2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6147" name="officeArt object">
            <a:extLst>
              <a:ext uri="{FF2B5EF4-FFF2-40B4-BE49-F238E27FC236}">
                <a16:creationId xmlns:a16="http://schemas.microsoft.com/office/drawing/2014/main" id="{AFDB2160-C3BF-4E5E-A721-5D119306D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368" b="12115"/>
          <a:stretch>
            <a:fillRect/>
          </a:stretch>
        </p:blipFill>
        <p:spPr bwMode="auto">
          <a:xfrm>
            <a:off x="4191000" y="3200400"/>
            <a:ext cx="4419600" cy="3116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 name="TextBox 10">
            <a:extLst>
              <a:ext uri="{FF2B5EF4-FFF2-40B4-BE49-F238E27FC236}">
                <a16:creationId xmlns:a16="http://schemas.microsoft.com/office/drawing/2014/main" id="{936AC849-9FD4-471B-9B59-CB0BB6BC1C6E}"/>
              </a:ext>
            </a:extLst>
          </p:cNvPr>
          <p:cNvSpPr txBox="1"/>
          <p:nvPr/>
        </p:nvSpPr>
        <p:spPr>
          <a:xfrm>
            <a:off x="1402145" y="3429000"/>
            <a:ext cx="20574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tab pos="228600" algn="l"/>
              </a:tabLst>
            </a:pPr>
            <a:r>
              <a:rPr lang="en-US" altLang="en-US" b="1" dirty="0" err="1">
                <a:solidFill>
                  <a:srgbClr val="000000"/>
                </a:solidFill>
                <a:cs typeface="Arial" panose="020B0604020202020204" pitchFamily="34" charset="0"/>
              </a:rPr>
              <a:t>F.Safety</a:t>
            </a:r>
            <a:r>
              <a:rPr lang="en-US" altLang="en-US" b="1" dirty="0">
                <a:solidFill>
                  <a:srgbClr val="000000"/>
                </a:solidFill>
                <a:cs typeface="Arial" panose="020B0604020202020204" pitchFamily="34" charset="0"/>
              </a:rPr>
              <a:t> Belt</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099243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officeArt object">
            <a:extLst>
              <a:ext uri="{FF2B5EF4-FFF2-40B4-BE49-F238E27FC236}">
                <a16:creationId xmlns:a16="http://schemas.microsoft.com/office/drawing/2014/main" id="{A6648CB0-9D16-4C3F-A90F-0E4B37ED0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78408"/>
            <a:ext cx="2865438"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7169" name="Picture 1">
            <a:extLst>
              <a:ext uri="{FF2B5EF4-FFF2-40B4-BE49-F238E27FC236}">
                <a16:creationId xmlns:a16="http://schemas.microsoft.com/office/drawing/2014/main" id="{29708653-540D-4F51-A437-5A92CA19D2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751268"/>
            <a:ext cx="2865437"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7171" name="Picture 3">
            <a:extLst>
              <a:ext uri="{FF2B5EF4-FFF2-40B4-BE49-F238E27FC236}">
                <a16:creationId xmlns:a16="http://schemas.microsoft.com/office/drawing/2014/main" id="{6473F689-3B30-4521-899F-E24CBC05046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0507" y="2362200"/>
            <a:ext cx="3171825"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Rectangle 4">
            <a:extLst>
              <a:ext uri="{FF2B5EF4-FFF2-40B4-BE49-F238E27FC236}">
                <a16:creationId xmlns:a16="http://schemas.microsoft.com/office/drawing/2014/main" id="{6C324A2C-FFD4-495E-84DA-27458E531591}"/>
              </a:ext>
            </a:extLst>
          </p:cNvPr>
          <p:cNvSpPr>
            <a:spLocks noChangeArrowheads="1"/>
          </p:cNvSpPr>
          <p:nvPr/>
        </p:nvSpPr>
        <p:spPr bwMode="auto">
          <a:xfrm>
            <a:off x="722312" y="-1252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
        <p:nvSpPr>
          <p:cNvPr id="3" name="Rectangle 5">
            <a:extLst>
              <a:ext uri="{FF2B5EF4-FFF2-40B4-BE49-F238E27FC236}">
                <a16:creationId xmlns:a16="http://schemas.microsoft.com/office/drawing/2014/main" id="{97F25D05-3841-48E7-A0CE-B975E94E8CB6}"/>
              </a:ext>
            </a:extLst>
          </p:cNvPr>
          <p:cNvSpPr>
            <a:spLocks noChangeArrowheads="1"/>
          </p:cNvSpPr>
          <p:nvPr/>
        </p:nvSpPr>
        <p:spPr bwMode="auto">
          <a:xfrm>
            <a:off x="3663155" y="253364"/>
            <a:ext cx="3706813"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id-ID" altLang="en-US" sz="1100" b="0"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rPr>
            </a:br>
            <a:r>
              <a:rPr kumimoji="0" lang="en-US" altLang="en-US" b="1" i="0" u="none" strike="noStrike" cap="none" normalizeH="0" baseline="0" dirty="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G.  Safety Boots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Rectangle 6">
            <a:extLst>
              <a:ext uri="{FF2B5EF4-FFF2-40B4-BE49-F238E27FC236}">
                <a16:creationId xmlns:a16="http://schemas.microsoft.com/office/drawing/2014/main" id="{4A892E12-C101-4220-9124-B4A563D37F8E}"/>
              </a:ext>
            </a:extLst>
          </p:cNvPr>
          <p:cNvSpPr>
            <a:spLocks noChangeArrowheads="1"/>
          </p:cNvSpPr>
          <p:nvPr/>
        </p:nvSpPr>
        <p:spPr bwMode="auto">
          <a:xfrm>
            <a:off x="722312" y="44467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D"/>
          </a:p>
        </p:txBody>
      </p:sp>
    </p:spTree>
    <p:extLst>
      <p:ext uri="{BB962C8B-B14F-4D97-AF65-F5344CB8AC3E}">
        <p14:creationId xmlns:p14="http://schemas.microsoft.com/office/powerpoint/2010/main" val="1302685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16965" y="281305"/>
            <a:ext cx="7352030" cy="452120"/>
          </a:xfrm>
          <a:prstGeom prst="rect">
            <a:avLst/>
          </a:prstGeom>
          <a:noFill/>
        </p:spPr>
        <p:txBody>
          <a:bodyPr wrap="square" rtlCol="0">
            <a:noAutofit/>
          </a:bodyPr>
          <a:lstStyle/>
          <a:p>
            <a:pPr marL="0" indent="0" algn="ctr">
              <a:buNone/>
            </a:pPr>
            <a:r>
              <a:rPr lang="en-US" sz="2400" i="1" u="sng" dirty="0">
                <a:sym typeface="+mn-ea"/>
              </a:rPr>
              <a:t>2. </a:t>
            </a:r>
            <a:r>
              <a:rPr lang="en-SG" altLang="en-US" sz="2400" i="1" u="sng" dirty="0">
                <a:sym typeface="+mn-ea"/>
              </a:rPr>
              <a:t>    </a:t>
            </a:r>
            <a:r>
              <a:rPr lang="en-US" sz="2400" i="1" u="sng" dirty="0">
                <a:effectLst>
                  <a:outerShdw blurRad="38100" dist="19050" dir="2700000" algn="tl" rotWithShape="0">
                    <a:schemeClr val="dk1">
                      <a:alpha val="40000"/>
                    </a:schemeClr>
                  </a:outerShdw>
                </a:effectLst>
                <a:sym typeface="+mn-ea"/>
              </a:rPr>
              <a:t> </a:t>
            </a:r>
            <a:r>
              <a:rPr lang="en-US" sz="2400" i="1" u="sng" dirty="0" err="1">
                <a:effectLst>
                  <a:outerShdw blurRad="38100" dist="19050" dir="2700000" algn="tl" rotWithShape="0">
                    <a:schemeClr val="dk1">
                      <a:alpha val="40000"/>
                    </a:schemeClr>
                  </a:outerShdw>
                </a:effectLst>
                <a:sym typeface="+mn-ea"/>
              </a:rPr>
              <a:t>Menentukan</a:t>
            </a:r>
            <a:r>
              <a:rPr lang="en-US" sz="2400" i="1" u="sng" dirty="0">
                <a:effectLst>
                  <a:outerShdw blurRad="38100" dist="19050" dir="2700000" algn="tl" rotWithShape="0">
                    <a:schemeClr val="dk1">
                      <a:alpha val="40000"/>
                    </a:schemeClr>
                  </a:outerShdw>
                </a:effectLst>
                <a:sym typeface="+mn-ea"/>
              </a:rPr>
              <a:t> Target </a:t>
            </a:r>
            <a:r>
              <a:rPr lang="en-US" sz="2400" i="1" u="sng" dirty="0" err="1">
                <a:effectLst>
                  <a:outerShdw blurRad="38100" dist="19050" dir="2700000" algn="tl" rotWithShape="0">
                    <a:schemeClr val="dk1">
                      <a:alpha val="40000"/>
                    </a:schemeClr>
                  </a:outerShdw>
                </a:effectLst>
                <a:sym typeface="+mn-ea"/>
              </a:rPr>
              <a:t>Keuntungan</a:t>
            </a:r>
            <a:r>
              <a:rPr lang="en-US" sz="2400" i="1" u="sng" dirty="0">
                <a:effectLst>
                  <a:outerShdw blurRad="38100" dist="19050" dir="2700000" algn="tl" rotWithShape="0">
                    <a:schemeClr val="dk1">
                      <a:alpha val="40000"/>
                    </a:schemeClr>
                  </a:outerShdw>
                </a:effectLst>
                <a:sym typeface="+mn-ea"/>
              </a:rPr>
              <a:t> </a:t>
            </a:r>
          </a:p>
          <a:p>
            <a:pPr marL="0" indent="0">
              <a:buNone/>
            </a:pPr>
            <a:endParaRPr lang="en-US" sz="2400" u="sng" dirty="0">
              <a:solidFill>
                <a:schemeClr val="tx1"/>
              </a:solidFill>
              <a:effectLst>
                <a:outerShdw blurRad="38100" dist="19050" dir="2700000" algn="tl" rotWithShape="0">
                  <a:schemeClr val="dk1">
                    <a:alpha val="40000"/>
                  </a:schemeClr>
                </a:outerShdw>
              </a:effectLst>
              <a:sym typeface="+mn-ea"/>
            </a:endParaRPr>
          </a:p>
          <a:p>
            <a:pPr marL="0" indent="457200">
              <a:buNone/>
            </a:pPr>
            <a:r>
              <a:rPr lang="en-SG" altLang="en-US" sz="2000" dirty="0">
                <a:solidFill>
                  <a:srgbClr val="0070C0"/>
                </a:solidFill>
                <a:sym typeface="+mn-ea"/>
              </a:rPr>
              <a:t>	         </a:t>
            </a:r>
            <a:endParaRPr lang="en-SG" altLang="en-US" sz="1400" dirty="0">
              <a:solidFill>
                <a:srgbClr val="0070C0"/>
              </a:solidFill>
              <a:sym typeface="+mn-ea"/>
            </a:endParaRPr>
          </a:p>
        </p:txBody>
      </p:sp>
      <p:sp>
        <p:nvSpPr>
          <p:cNvPr id="9" name="Text Box 8"/>
          <p:cNvSpPr txBox="1"/>
          <p:nvPr/>
        </p:nvSpPr>
        <p:spPr>
          <a:xfrm>
            <a:off x="3067685" y="1603375"/>
            <a:ext cx="3048000" cy="398780"/>
          </a:xfrm>
          <a:prstGeom prst="rect">
            <a:avLst/>
          </a:prstGeom>
          <a:noFill/>
        </p:spPr>
        <p:txBody>
          <a:bodyPr wrap="square" rtlCol="0">
            <a:spAutoFit/>
          </a:bodyPr>
          <a:lstStyle/>
          <a:p>
            <a:endParaRPr lang="en-SG" altLang="en-US" sz="2000" dirty="0">
              <a:solidFill>
                <a:srgbClr val="0070C0"/>
              </a:solidFill>
            </a:endParaRPr>
          </a:p>
        </p:txBody>
      </p:sp>
      <p:pic>
        <p:nvPicPr>
          <p:cNvPr id="10" name="Picture 9" descr="WhatsApp Image 2023-10-29 at 00.29.17 (1)"/>
          <p:cNvPicPr>
            <a:picLocks noChangeAspect="1"/>
          </p:cNvPicPr>
          <p:nvPr/>
        </p:nvPicPr>
        <p:blipFill>
          <a:blip r:embed="rId2"/>
          <a:stretch>
            <a:fillRect/>
          </a:stretch>
        </p:blipFill>
        <p:spPr>
          <a:xfrm>
            <a:off x="1143000" y="1066800"/>
            <a:ext cx="6858000" cy="472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CFB0D-5187-49C5-890E-74A118A082CA}"/>
              </a:ext>
            </a:extLst>
          </p:cNvPr>
          <p:cNvSpPr txBox="1"/>
          <p:nvPr/>
        </p:nvSpPr>
        <p:spPr>
          <a:xfrm>
            <a:off x="2057400" y="2590800"/>
            <a:ext cx="4572000" cy="646331"/>
          </a:xfrm>
          <a:prstGeom prst="rect">
            <a:avLst/>
          </a:prstGeom>
          <a:noFill/>
        </p:spPr>
        <p:txBody>
          <a:bodyPr wrap="square">
            <a:spAutoFit/>
          </a:bodyPr>
          <a:lstStyle/>
          <a:p>
            <a:pPr algn="ctr"/>
            <a:r>
              <a:rPr lang="en-SG" altLang="en-US" sz="3600" b="1" dirty="0" err="1">
                <a:solidFill>
                  <a:schemeClr val="tx2"/>
                </a:solidFill>
                <a:effectLst>
                  <a:outerShdw blurRad="38100" dist="25400" dir="5400000" algn="ctr" rotWithShape="0">
                    <a:srgbClr val="6E747A">
                      <a:alpha val="43000"/>
                    </a:srgbClr>
                  </a:outerShdw>
                </a:effectLst>
                <a:sym typeface="+mn-ea"/>
              </a:rPr>
              <a:t>Ekonomi</a:t>
            </a:r>
            <a:r>
              <a:rPr lang="en-SG" altLang="en-US" sz="3600" b="1" dirty="0">
                <a:solidFill>
                  <a:schemeClr val="tx2"/>
                </a:solidFill>
                <a:effectLst>
                  <a:outerShdw blurRad="38100" dist="25400" dir="5400000" algn="ctr" rotWithShape="0">
                    <a:srgbClr val="6E747A">
                      <a:alpha val="43000"/>
                    </a:srgbClr>
                  </a:outerShdw>
                </a:effectLst>
                <a:sym typeface="+mn-ea"/>
              </a:rPr>
              <a:t> Circular</a:t>
            </a:r>
            <a:endParaRPr lang="en-ID" sz="3600" dirty="0"/>
          </a:p>
        </p:txBody>
      </p:sp>
    </p:spTree>
    <p:extLst>
      <p:ext uri="{BB962C8B-B14F-4D97-AF65-F5344CB8AC3E}">
        <p14:creationId xmlns:p14="http://schemas.microsoft.com/office/powerpoint/2010/main" val="2518474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25745" y="1219200"/>
            <a:ext cx="3194685" cy="3737610"/>
          </a:xfrm>
          <a:prstGeom prst="rect">
            <a:avLst/>
          </a:prstGeom>
        </p:spPr>
      </p:pic>
      <p:pic>
        <p:nvPicPr>
          <p:cNvPr id="3" name="Picture 2"/>
          <p:cNvPicPr>
            <a:picLocks noChangeAspect="1"/>
          </p:cNvPicPr>
          <p:nvPr/>
        </p:nvPicPr>
        <p:blipFill>
          <a:blip r:embed="rId3"/>
          <a:stretch>
            <a:fillRect/>
          </a:stretch>
        </p:blipFill>
        <p:spPr>
          <a:xfrm>
            <a:off x="3381375" y="1219200"/>
            <a:ext cx="1853565" cy="3740150"/>
          </a:xfrm>
          <a:prstGeom prst="rect">
            <a:avLst/>
          </a:prstGeom>
        </p:spPr>
      </p:pic>
      <p:sp>
        <p:nvSpPr>
          <p:cNvPr id="4" name="Text Box 3"/>
          <p:cNvSpPr txBox="1"/>
          <p:nvPr/>
        </p:nvSpPr>
        <p:spPr>
          <a:xfrm>
            <a:off x="3429000" y="871220"/>
            <a:ext cx="1978025" cy="337185"/>
          </a:xfrm>
          <a:prstGeom prst="rect">
            <a:avLst/>
          </a:prstGeom>
          <a:solidFill>
            <a:srgbClr val="002060"/>
          </a:solidFill>
          <a:ln>
            <a:solidFill>
              <a:schemeClr val="accent1"/>
            </a:solidFill>
          </a:ln>
        </p:spPr>
        <p:txBody>
          <a:bodyPr wrap="square" rtlCol="0" anchor="t">
            <a:spAutoFit/>
          </a:bodyPr>
          <a:lstStyle/>
          <a:p>
            <a:pPr algn="ctr"/>
            <a:r>
              <a:rPr lang="en-SG" altLang="en-US" sz="1600" dirty="0">
                <a:solidFill>
                  <a:schemeClr val="bg1"/>
                </a:solidFill>
              </a:rPr>
              <a:t>Rantai Nilai Linier</a:t>
            </a:r>
          </a:p>
        </p:txBody>
      </p:sp>
      <p:sp>
        <p:nvSpPr>
          <p:cNvPr id="5" name="Text Box 4"/>
          <p:cNvSpPr txBox="1"/>
          <p:nvPr/>
        </p:nvSpPr>
        <p:spPr>
          <a:xfrm>
            <a:off x="5457825" y="868045"/>
            <a:ext cx="3152140" cy="337185"/>
          </a:xfrm>
          <a:prstGeom prst="rect">
            <a:avLst/>
          </a:prstGeom>
          <a:solidFill>
            <a:schemeClr val="accent5">
              <a:lumMod val="75000"/>
            </a:schemeClr>
          </a:solidFill>
          <a:ln>
            <a:solidFill>
              <a:schemeClr val="accent1"/>
            </a:solidFill>
          </a:ln>
        </p:spPr>
        <p:txBody>
          <a:bodyPr wrap="square" rtlCol="0" anchor="t">
            <a:spAutoFit/>
          </a:bodyPr>
          <a:lstStyle/>
          <a:p>
            <a:pPr algn="ctr"/>
            <a:r>
              <a:rPr lang="en-SG" altLang="en-US" sz="1600" dirty="0">
                <a:solidFill>
                  <a:schemeClr val="bg1"/>
                </a:solidFill>
              </a:rPr>
              <a:t>Rantai Nilai Sirkular</a:t>
            </a:r>
          </a:p>
        </p:txBody>
      </p:sp>
      <p:sp>
        <p:nvSpPr>
          <p:cNvPr id="6" name="Text Box 5"/>
          <p:cNvSpPr txBox="1"/>
          <p:nvPr/>
        </p:nvSpPr>
        <p:spPr>
          <a:xfrm>
            <a:off x="3381375" y="5029200"/>
            <a:ext cx="5183505" cy="1261745"/>
          </a:xfrm>
          <a:prstGeom prst="rect">
            <a:avLst/>
          </a:prstGeom>
          <a:noFill/>
        </p:spPr>
        <p:txBody>
          <a:bodyPr wrap="square" rtlCol="0" anchor="t">
            <a:noAutofit/>
          </a:bodyPr>
          <a:lstStyle/>
          <a:p>
            <a:r>
              <a:rPr lang="en-SG" altLang="en-US" sz="1400" dirty="0">
                <a:solidFill>
                  <a:srgbClr val="0070C0"/>
                </a:solidFill>
              </a:rPr>
              <a:t>P</a:t>
            </a:r>
            <a:r>
              <a:rPr lang="en-SG" altLang="en-US" sz="1200" dirty="0">
                <a:solidFill>
                  <a:srgbClr val="0070C0"/>
                </a:solidFill>
              </a:rPr>
              <a:t>emanfaatan limbah konstruksi di Indonesia masih memiliki potensi yang besar untuk dikembangkan. Namun, perlu adanya perencanaan dan pengelolaan yang matang agar dapat memberikan manfaat lingkungan dan ekonomi yang optimal. Selain itu, stakeholder yang terlibat dalam penerapan Reduce, Reuse, Recycle di sektor konstruksi kurang terdata danterpetakan (Konsolidasi Industri Konstruksi Indonesia, 2014)</a:t>
            </a:r>
          </a:p>
        </p:txBody>
      </p:sp>
      <p:pic>
        <p:nvPicPr>
          <p:cNvPr id="7" name="Picture 6" descr="WhatsApp Image 2023-11-01 at 21.47.24"/>
          <p:cNvPicPr>
            <a:picLocks noChangeAspect="1"/>
          </p:cNvPicPr>
          <p:nvPr/>
        </p:nvPicPr>
        <p:blipFill>
          <a:blip r:embed="rId4"/>
          <a:stretch>
            <a:fillRect/>
          </a:stretch>
        </p:blipFill>
        <p:spPr>
          <a:xfrm>
            <a:off x="533400" y="871220"/>
            <a:ext cx="2844800" cy="5556250"/>
          </a:xfrm>
          <a:prstGeom prst="rect">
            <a:avLst/>
          </a:prstGeom>
        </p:spPr>
      </p:pic>
      <p:sp>
        <p:nvSpPr>
          <p:cNvPr id="9" name="Text Box 8"/>
          <p:cNvSpPr txBox="1"/>
          <p:nvPr/>
        </p:nvSpPr>
        <p:spPr>
          <a:xfrm>
            <a:off x="610235" y="384810"/>
            <a:ext cx="8000365" cy="398780"/>
          </a:xfrm>
          <a:prstGeom prst="rect">
            <a:avLst/>
          </a:prstGeom>
          <a:solidFill>
            <a:srgbClr val="00B050"/>
          </a:solidFill>
          <a:ln>
            <a:solidFill>
              <a:schemeClr val="accent1"/>
            </a:solidFill>
          </a:ln>
        </p:spPr>
        <p:txBody>
          <a:bodyPr wrap="square" rtlCol="0">
            <a:spAutoFit/>
          </a:bodyPr>
          <a:lstStyle/>
          <a:p>
            <a:pPr algn="ctr"/>
            <a:r>
              <a:rPr lang="en-SG" altLang="en-US" sz="2000" dirty="0">
                <a:solidFill>
                  <a:schemeClr val="bg1"/>
                </a:solidFill>
              </a:rPr>
              <a:t>Dari Linear ke Circular Sektor  Kontruksi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38200" y="1205230"/>
            <a:ext cx="1228725" cy="1211580"/>
          </a:xfrm>
          <a:prstGeom prst="rect">
            <a:avLst/>
          </a:prstGeom>
          <a:solidFill>
            <a:srgbClr val="002060"/>
          </a:solidFill>
          <a:ln>
            <a:solidFill>
              <a:schemeClr val="tx2">
                <a:lumMod val="20000"/>
                <a:lumOff val="80000"/>
              </a:schemeClr>
            </a:solidFill>
          </a:ln>
        </p:spPr>
        <p:txBody>
          <a:bodyPr wrap="square" rtlCol="0" anchor="t">
            <a:noAutofit/>
          </a:bodyPr>
          <a:lstStyle/>
          <a:p>
            <a:r>
              <a:rPr lang="en-SG" altLang="en-US" sz="14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P</a:t>
            </a:r>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embuatan dan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penggunaan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produk dengan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lebih cerdas</a:t>
            </a:r>
          </a:p>
        </p:txBody>
      </p:sp>
      <p:sp>
        <p:nvSpPr>
          <p:cNvPr id="3" name="Text Box 2"/>
          <p:cNvSpPr txBox="1"/>
          <p:nvPr/>
        </p:nvSpPr>
        <p:spPr>
          <a:xfrm>
            <a:off x="2078990" y="1218565"/>
            <a:ext cx="1119505" cy="1183005"/>
          </a:xfrm>
          <a:prstGeom prst="rect">
            <a:avLst/>
          </a:prstGeom>
          <a:solidFill>
            <a:srgbClr val="00B0F0"/>
          </a:solidFill>
          <a:ln>
            <a:solidFill>
              <a:schemeClr val="tx2">
                <a:lumMod val="20000"/>
                <a:lumOff val="80000"/>
              </a:schemeClr>
            </a:solidFill>
          </a:ln>
        </p:spPr>
        <p:txBody>
          <a:bodyPr wrap="square" rtlCol="0">
            <a:noAutofit/>
          </a:bodyPr>
          <a:lstStyle/>
          <a:p>
            <a:r>
              <a:rPr lang="en-SG" altLang="en-US" sz="1200" dirty="0">
                <a:solidFill>
                  <a:schemeClr val="bg1"/>
                </a:solidFill>
                <a:latin typeface="Arial" panose="020B0604020202020204" pitchFamily="34" charset="0"/>
                <a:cs typeface="Arial" panose="020B0604020202020204" pitchFamily="34" charset="0"/>
              </a:rPr>
              <a:t>R0:Refuse</a:t>
            </a:r>
          </a:p>
          <a:p>
            <a:r>
              <a:rPr lang="en-SG" altLang="en-US" sz="1200" dirty="0">
                <a:solidFill>
                  <a:schemeClr val="bg1"/>
                </a:solidFill>
                <a:latin typeface="Arial" panose="020B0604020202020204" pitchFamily="34" charset="0"/>
                <a:cs typeface="Arial" panose="020B0604020202020204" pitchFamily="34" charset="0"/>
              </a:rPr>
              <a:t>R1:Rethink</a:t>
            </a:r>
          </a:p>
          <a:p>
            <a:r>
              <a:rPr lang="en-SG" altLang="en-US" sz="1200" dirty="0">
                <a:solidFill>
                  <a:schemeClr val="bg1"/>
                </a:solidFill>
                <a:latin typeface="Arial" panose="020B0604020202020204" pitchFamily="34" charset="0"/>
                <a:cs typeface="Arial" panose="020B0604020202020204" pitchFamily="34" charset="0"/>
              </a:rPr>
              <a:t>R2:Reduce</a:t>
            </a:r>
          </a:p>
        </p:txBody>
      </p:sp>
      <p:sp>
        <p:nvSpPr>
          <p:cNvPr id="4" name="Text Box 3"/>
          <p:cNvSpPr txBox="1"/>
          <p:nvPr/>
        </p:nvSpPr>
        <p:spPr>
          <a:xfrm>
            <a:off x="3200400" y="1205230"/>
            <a:ext cx="5709285" cy="1198880"/>
          </a:xfrm>
          <a:prstGeom prst="rect">
            <a:avLst/>
          </a:prstGeom>
          <a:solidFill>
            <a:srgbClr val="00B050"/>
          </a:solidFill>
          <a:ln>
            <a:solidFill>
              <a:schemeClr val="bg2"/>
            </a:solidFill>
          </a:ln>
        </p:spPr>
        <p:txBody>
          <a:bodyPr wrap="square" rtlCol="0">
            <a:spAutoFit/>
          </a:bodyPr>
          <a:lstStyle/>
          <a:p>
            <a:r>
              <a:rPr lang="en-SG" altLang="en-US" sz="1200" dirty="0">
                <a:solidFill>
                  <a:schemeClr val="bg1"/>
                </a:solidFill>
                <a:latin typeface="Arial" panose="020B0604020202020204" pitchFamily="34" charset="0"/>
                <a:cs typeface="Arial" panose="020B0604020202020204" pitchFamily="34" charset="0"/>
              </a:rPr>
              <a:t>Membuat sebuah produk dapat digunakan berulang kali melalui penawaran fungsi produk yang sama dengan menggunakan produk/layanan yang berbeda</a:t>
            </a:r>
          </a:p>
          <a:p>
            <a:r>
              <a:rPr lang="en-SG" altLang="en-US" sz="1200" dirty="0">
                <a:solidFill>
                  <a:schemeClr val="bg1"/>
                </a:solidFill>
                <a:latin typeface="Arial" panose="020B0604020202020204" pitchFamily="34" charset="0"/>
                <a:cs typeface="Arial" panose="020B0604020202020204" pitchFamily="34" charset="0"/>
              </a:rPr>
              <a:t>Menggunakan sebuah produk dengan lebih intensif contoh: melalui sharing product atau memasukkan produk yang lebih multifungsi ke dalam pasar)</a:t>
            </a:r>
          </a:p>
          <a:p>
            <a:r>
              <a:rPr lang="en-SG" altLang="en-US" sz="1200" dirty="0">
                <a:solidFill>
                  <a:schemeClr val="bg1"/>
                </a:solidFill>
                <a:latin typeface="Arial" panose="020B0604020202020204" pitchFamily="34" charset="0"/>
                <a:cs typeface="Arial" panose="020B0604020202020204" pitchFamily="34" charset="0"/>
              </a:rPr>
              <a:t>Meningkatkan efisiensi dalam proses produksi produk atau dalam penggunaan nya dengan mengonsumsi material dan sumber daya alam lebih sedikit</a:t>
            </a:r>
          </a:p>
        </p:txBody>
      </p:sp>
      <p:sp>
        <p:nvSpPr>
          <p:cNvPr id="6" name="Text Box 5"/>
          <p:cNvSpPr txBox="1"/>
          <p:nvPr/>
        </p:nvSpPr>
        <p:spPr>
          <a:xfrm>
            <a:off x="842010" y="2736215"/>
            <a:ext cx="1228725" cy="1779270"/>
          </a:xfrm>
          <a:prstGeom prst="rect">
            <a:avLst/>
          </a:prstGeom>
          <a:solidFill>
            <a:srgbClr val="002060"/>
          </a:solidFill>
          <a:ln>
            <a:solidFill>
              <a:schemeClr val="tx2">
                <a:lumMod val="20000"/>
                <a:lumOff val="80000"/>
              </a:schemeClr>
            </a:solidFill>
          </a:ln>
        </p:spPr>
        <p:txBody>
          <a:bodyPr wrap="square" rtlCol="0" anchor="t">
            <a:noAutofit/>
          </a:bodyPr>
          <a:lstStyle/>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Meningkatkan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usia sebuah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produk dan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bagian produk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tersebut</a:t>
            </a:r>
          </a:p>
        </p:txBody>
      </p:sp>
      <p:sp>
        <p:nvSpPr>
          <p:cNvPr id="7" name="Text Box 6"/>
          <p:cNvSpPr txBox="1"/>
          <p:nvPr/>
        </p:nvSpPr>
        <p:spPr>
          <a:xfrm>
            <a:off x="2057400" y="2743200"/>
            <a:ext cx="1131570" cy="1772285"/>
          </a:xfrm>
          <a:prstGeom prst="rect">
            <a:avLst/>
          </a:prstGeom>
          <a:solidFill>
            <a:srgbClr val="00B0F0"/>
          </a:solidFill>
          <a:ln>
            <a:solidFill>
              <a:schemeClr val="tx2">
                <a:lumMod val="20000"/>
                <a:lumOff val="80000"/>
              </a:schemeClr>
            </a:solidFill>
          </a:ln>
        </p:spPr>
        <p:txBody>
          <a:bodyPr wrap="square" rtlCol="0">
            <a:noAutofit/>
          </a:bodyPr>
          <a:lstStyle/>
          <a:p>
            <a:r>
              <a:rPr lang="en-SG" altLang="en-US" sz="1200" dirty="0">
                <a:solidFill>
                  <a:schemeClr val="bg1"/>
                </a:solidFill>
                <a:latin typeface="Arial" panose="020B0604020202020204" pitchFamily="34" charset="0"/>
                <a:cs typeface="Arial" panose="020B0604020202020204" pitchFamily="34" charset="0"/>
              </a:rPr>
              <a:t>R3:Reuse</a:t>
            </a:r>
          </a:p>
          <a:p>
            <a:r>
              <a:rPr lang="en-SG" altLang="en-US" sz="1200" dirty="0">
                <a:solidFill>
                  <a:schemeClr val="bg1"/>
                </a:solidFill>
                <a:latin typeface="Arial" panose="020B0604020202020204" pitchFamily="34" charset="0"/>
                <a:cs typeface="Arial" panose="020B0604020202020204" pitchFamily="34" charset="0"/>
              </a:rPr>
              <a:t>R4:Repair</a:t>
            </a:r>
          </a:p>
          <a:p>
            <a:r>
              <a:rPr lang="en-SG" altLang="en-US" sz="1200" dirty="0">
                <a:solidFill>
                  <a:schemeClr val="bg1"/>
                </a:solidFill>
                <a:latin typeface="Arial" panose="020B0604020202020204" pitchFamily="34" charset="0"/>
                <a:cs typeface="Arial" panose="020B0604020202020204" pitchFamily="34" charset="0"/>
              </a:rPr>
              <a:t>R5:Refurbish</a:t>
            </a:r>
          </a:p>
          <a:p>
            <a:r>
              <a:rPr lang="en-SG" altLang="en-US" sz="1200" dirty="0">
                <a:solidFill>
                  <a:schemeClr val="bg1"/>
                </a:solidFill>
                <a:latin typeface="Arial" panose="020B0604020202020204" pitchFamily="34" charset="0"/>
                <a:cs typeface="Arial" panose="020B0604020202020204" pitchFamily="34" charset="0"/>
              </a:rPr>
              <a:t>R6:Remanufacture</a:t>
            </a:r>
          </a:p>
          <a:p>
            <a:r>
              <a:rPr lang="en-SG" altLang="en-US" sz="1200" dirty="0">
                <a:solidFill>
                  <a:schemeClr val="bg1"/>
                </a:solidFill>
                <a:latin typeface="Arial" panose="020B0604020202020204" pitchFamily="34" charset="0"/>
                <a:cs typeface="Arial" panose="020B0604020202020204" pitchFamily="34" charset="0"/>
              </a:rPr>
              <a:t>R7:Repurpose</a:t>
            </a:r>
          </a:p>
        </p:txBody>
      </p:sp>
      <p:sp>
        <p:nvSpPr>
          <p:cNvPr id="8" name="Text Box 7"/>
          <p:cNvSpPr txBox="1"/>
          <p:nvPr/>
        </p:nvSpPr>
        <p:spPr>
          <a:xfrm>
            <a:off x="805180" y="4715510"/>
            <a:ext cx="1252220" cy="916940"/>
          </a:xfrm>
          <a:prstGeom prst="rect">
            <a:avLst/>
          </a:prstGeom>
          <a:solidFill>
            <a:srgbClr val="002060"/>
          </a:solidFill>
          <a:ln>
            <a:solidFill>
              <a:schemeClr val="tx2">
                <a:lumMod val="20000"/>
                <a:lumOff val="80000"/>
              </a:schemeClr>
            </a:solidFill>
          </a:ln>
        </p:spPr>
        <p:txBody>
          <a:bodyPr wrap="square" rtlCol="0" anchor="t">
            <a:noAutofit/>
          </a:bodyPr>
          <a:lstStyle/>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Penggunaan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material yang </a:t>
            </a:r>
          </a:p>
          <a:p>
            <a:r>
              <a:rPr lang="en-SG" altLang="en-US" sz="1200" dirty="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masih berguna</a:t>
            </a:r>
          </a:p>
        </p:txBody>
      </p:sp>
      <p:sp>
        <p:nvSpPr>
          <p:cNvPr id="9" name="Text Box 8"/>
          <p:cNvSpPr txBox="1"/>
          <p:nvPr/>
        </p:nvSpPr>
        <p:spPr>
          <a:xfrm>
            <a:off x="2057400" y="4724400"/>
            <a:ext cx="1131570" cy="908685"/>
          </a:xfrm>
          <a:prstGeom prst="rect">
            <a:avLst/>
          </a:prstGeom>
          <a:solidFill>
            <a:srgbClr val="00B0F0"/>
          </a:solidFill>
          <a:ln>
            <a:solidFill>
              <a:schemeClr val="tx2">
                <a:lumMod val="20000"/>
                <a:lumOff val="80000"/>
              </a:schemeClr>
            </a:solidFill>
          </a:ln>
        </p:spPr>
        <p:txBody>
          <a:bodyPr wrap="square" rtlCol="0">
            <a:noAutofit/>
          </a:bodyPr>
          <a:lstStyle/>
          <a:p>
            <a:r>
              <a:rPr lang="en-SG" altLang="en-US" sz="1200" dirty="0">
                <a:solidFill>
                  <a:schemeClr val="bg1"/>
                </a:solidFill>
                <a:latin typeface="Arial" panose="020B0604020202020204" pitchFamily="34" charset="0"/>
                <a:cs typeface="Arial" panose="020B0604020202020204" pitchFamily="34" charset="0"/>
              </a:rPr>
              <a:t>R8:</a:t>
            </a:r>
          </a:p>
          <a:p>
            <a:r>
              <a:rPr lang="en-SG" altLang="en-US" sz="1200" dirty="0">
                <a:solidFill>
                  <a:schemeClr val="bg1"/>
                </a:solidFill>
                <a:latin typeface="Arial" panose="020B0604020202020204" pitchFamily="34" charset="0"/>
                <a:cs typeface="Arial" panose="020B0604020202020204" pitchFamily="34" charset="0"/>
              </a:rPr>
              <a:t>Recycle</a:t>
            </a:r>
          </a:p>
          <a:p>
            <a:r>
              <a:rPr lang="en-SG" altLang="en-US" sz="1200" dirty="0">
                <a:solidFill>
                  <a:schemeClr val="bg1"/>
                </a:solidFill>
                <a:latin typeface="Arial" panose="020B0604020202020204" pitchFamily="34" charset="0"/>
                <a:cs typeface="Arial" panose="020B0604020202020204" pitchFamily="34" charset="0"/>
              </a:rPr>
              <a:t>R9:</a:t>
            </a:r>
          </a:p>
          <a:p>
            <a:r>
              <a:rPr lang="en-SG" altLang="en-US" sz="1200" dirty="0">
                <a:solidFill>
                  <a:schemeClr val="bg1"/>
                </a:solidFill>
                <a:latin typeface="Arial" panose="020B0604020202020204" pitchFamily="34" charset="0"/>
                <a:cs typeface="Arial" panose="020B0604020202020204" pitchFamily="34" charset="0"/>
              </a:rPr>
              <a:t>Recover</a:t>
            </a:r>
          </a:p>
        </p:txBody>
      </p:sp>
      <p:sp>
        <p:nvSpPr>
          <p:cNvPr id="10" name="Text Box 9"/>
          <p:cNvSpPr txBox="1"/>
          <p:nvPr/>
        </p:nvSpPr>
        <p:spPr>
          <a:xfrm>
            <a:off x="3198495" y="2743200"/>
            <a:ext cx="5695950" cy="1778000"/>
          </a:xfrm>
          <a:prstGeom prst="rect">
            <a:avLst/>
          </a:prstGeom>
          <a:solidFill>
            <a:srgbClr val="00B050"/>
          </a:solidFill>
          <a:ln>
            <a:solidFill>
              <a:schemeClr val="bg2"/>
            </a:solidFill>
          </a:ln>
        </p:spPr>
        <p:txBody>
          <a:bodyPr wrap="square" rtlCol="0">
            <a:noAutofit/>
          </a:bodyPr>
          <a:lstStyle/>
          <a:p>
            <a:r>
              <a:rPr lang="en-SG" altLang="en-US" sz="1200" dirty="0">
                <a:solidFill>
                  <a:schemeClr val="bg1"/>
                </a:solidFill>
                <a:latin typeface="Arial" panose="020B0604020202020204" pitchFamily="34" charset="0"/>
                <a:cs typeface="Arial" panose="020B0604020202020204" pitchFamily="34" charset="0"/>
              </a:rPr>
              <a:t>Produk yang terbuang digunakan kembali oleh konsumen yang berbeda, dengan produk yang masih berada dalam kondisi baik dan memenuhi fungsinya</a:t>
            </a:r>
          </a:p>
          <a:p>
            <a:r>
              <a:rPr lang="en-SG" altLang="en-US" sz="1200" dirty="0">
                <a:solidFill>
                  <a:schemeClr val="bg1"/>
                </a:solidFill>
                <a:latin typeface="Arial" panose="020B0604020202020204" pitchFamily="34" charset="0"/>
                <a:cs typeface="Arial" panose="020B0604020202020204" pitchFamily="34" charset="0"/>
              </a:rPr>
              <a:t>Perbaikan dan perawatan terhadap produk yang rusak sehingga dapat digunakan kembali sesuai fungsinya</a:t>
            </a:r>
          </a:p>
          <a:p>
            <a:r>
              <a:rPr lang="en-SG" altLang="en-US" sz="1200" dirty="0">
                <a:solidFill>
                  <a:schemeClr val="bg1"/>
                </a:solidFill>
                <a:latin typeface="Arial" panose="020B0604020202020204" pitchFamily="34" charset="0"/>
                <a:cs typeface="Arial" panose="020B0604020202020204" pitchFamily="34" charset="0"/>
              </a:rPr>
              <a:t>Memulihkan sebuah produk lama dan memperbaruinya dengan kondisi terkini</a:t>
            </a:r>
          </a:p>
          <a:p>
            <a:r>
              <a:rPr lang="en-SG" altLang="en-US" sz="1200" dirty="0">
                <a:solidFill>
                  <a:schemeClr val="bg1"/>
                </a:solidFill>
                <a:latin typeface="Arial" panose="020B0604020202020204" pitchFamily="34" charset="0"/>
                <a:cs typeface="Arial" panose="020B0604020202020204" pitchFamily="34" charset="0"/>
              </a:rPr>
              <a:t>Menggunakan kembali bagian-bagian dari sebuah produk yang terbuang untuk dijadikan sebuah produk baru berfungsi sama</a:t>
            </a:r>
          </a:p>
          <a:p>
            <a:r>
              <a:rPr lang="en-SG" altLang="en-US" sz="1200" dirty="0">
                <a:solidFill>
                  <a:schemeClr val="bg1"/>
                </a:solidFill>
                <a:latin typeface="Arial" panose="020B0604020202020204" pitchFamily="34" charset="0"/>
                <a:cs typeface="Arial" panose="020B0604020202020204" pitchFamily="34" charset="0"/>
              </a:rPr>
              <a:t>Menggunakan bagian-bagian dari sebuah produk yang terbuang untuk dijadikan sebuah produk baru dengan fungsi berbeda</a:t>
            </a:r>
          </a:p>
        </p:txBody>
      </p:sp>
      <p:sp>
        <p:nvSpPr>
          <p:cNvPr id="11" name="Text Box 10"/>
          <p:cNvSpPr txBox="1"/>
          <p:nvPr/>
        </p:nvSpPr>
        <p:spPr>
          <a:xfrm>
            <a:off x="3215640" y="4724400"/>
            <a:ext cx="5695950" cy="908685"/>
          </a:xfrm>
          <a:prstGeom prst="rect">
            <a:avLst/>
          </a:prstGeom>
          <a:solidFill>
            <a:srgbClr val="00B050"/>
          </a:solidFill>
          <a:ln>
            <a:solidFill>
              <a:schemeClr val="bg2"/>
            </a:solidFill>
          </a:ln>
        </p:spPr>
        <p:txBody>
          <a:bodyPr wrap="square" rtlCol="0">
            <a:noAutofit/>
          </a:bodyPr>
          <a:lstStyle/>
          <a:p>
            <a:r>
              <a:rPr lang="en-SG" altLang="en-US" sz="1200" dirty="0">
                <a:solidFill>
                  <a:schemeClr val="bg1"/>
                </a:solidFill>
                <a:latin typeface="Arial" panose="020B0604020202020204" pitchFamily="34" charset="0"/>
                <a:cs typeface="Arial" panose="020B0604020202020204" pitchFamily="34" charset="0"/>
              </a:rPr>
              <a:t>Mengolah material untuk mendapatkan kualitas yang </a:t>
            </a:r>
          </a:p>
          <a:p>
            <a:r>
              <a:rPr lang="en-SG" altLang="en-US" sz="1200" dirty="0">
                <a:solidFill>
                  <a:schemeClr val="bg1"/>
                </a:solidFill>
                <a:latin typeface="Arial" panose="020B0604020202020204" pitchFamily="34" charset="0"/>
                <a:cs typeface="Arial" panose="020B0604020202020204" pitchFamily="34" charset="0"/>
              </a:rPr>
              <a:t>sama (kualitas tinggi) atau lebih rendah</a:t>
            </a:r>
          </a:p>
          <a:p>
            <a:r>
              <a:rPr lang="en-SG" altLang="en-US" sz="1200" dirty="0">
                <a:solidFill>
                  <a:schemeClr val="bg1"/>
                </a:solidFill>
                <a:latin typeface="Arial" panose="020B0604020202020204" pitchFamily="34" charset="0"/>
                <a:cs typeface="Arial" panose="020B0604020202020204" pitchFamily="34" charset="0"/>
              </a:rPr>
              <a:t>Pemulihan energi dari pengolahan limbah dengan </a:t>
            </a:r>
          </a:p>
          <a:p>
            <a:r>
              <a:rPr lang="en-SG" altLang="en-US" sz="1200" dirty="0">
                <a:solidFill>
                  <a:schemeClr val="bg1"/>
                </a:solidFill>
                <a:latin typeface="Arial" panose="020B0604020202020204" pitchFamily="34" charset="0"/>
                <a:cs typeface="Arial" panose="020B0604020202020204" pitchFamily="34" charset="0"/>
              </a:rPr>
              <a:t>teknologi apapun (energy recovery)</a:t>
            </a:r>
          </a:p>
        </p:txBody>
      </p:sp>
      <p:sp>
        <p:nvSpPr>
          <p:cNvPr id="14" name="Text Box 13"/>
          <p:cNvSpPr txBox="1"/>
          <p:nvPr/>
        </p:nvSpPr>
        <p:spPr>
          <a:xfrm>
            <a:off x="852170" y="457200"/>
            <a:ext cx="1339850" cy="706755"/>
          </a:xfrm>
          <a:prstGeom prst="rect">
            <a:avLst/>
          </a:prstGeom>
          <a:solidFill>
            <a:schemeClr val="accent6"/>
          </a:solidFill>
        </p:spPr>
        <p:txBody>
          <a:bodyPr wrap="square" rtlCol="0">
            <a:spAutoFit/>
          </a:bodyPr>
          <a:lstStyle/>
          <a:p>
            <a:r>
              <a:rPr lang="en-SG" altLang="en-US" sz="2000" dirty="0">
                <a:solidFill>
                  <a:schemeClr val="bg1"/>
                </a:solidFill>
              </a:rPr>
              <a:t>Stategi Sirkularitas</a:t>
            </a:r>
          </a:p>
        </p:txBody>
      </p:sp>
      <p:sp>
        <p:nvSpPr>
          <p:cNvPr id="15" name="Text Box 14"/>
          <p:cNvSpPr txBox="1"/>
          <p:nvPr/>
        </p:nvSpPr>
        <p:spPr>
          <a:xfrm>
            <a:off x="2078990" y="457835"/>
            <a:ext cx="6830060" cy="738505"/>
          </a:xfrm>
          <a:prstGeom prst="rect">
            <a:avLst/>
          </a:prstGeom>
          <a:solidFill>
            <a:srgbClr val="FFC000"/>
          </a:solidFill>
        </p:spPr>
        <p:txBody>
          <a:bodyPr wrap="square" rtlCol="0">
            <a:noAutofit/>
          </a:bodyPr>
          <a:lstStyle/>
          <a:p>
            <a:pPr algn="ctr"/>
            <a:r>
              <a:rPr lang="en-SG" altLang="en-US" sz="4000" dirty="0">
                <a:solidFill>
                  <a:schemeClr val="bg1"/>
                </a:solidFill>
              </a:rPr>
              <a:t>9R</a:t>
            </a: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692785" y="457200"/>
            <a:ext cx="8097520" cy="398780"/>
          </a:xfrm>
          <a:prstGeom prst="rect">
            <a:avLst/>
          </a:prstGeom>
          <a:noFill/>
        </p:spPr>
        <p:txBody>
          <a:bodyPr wrap="square" rtlCol="0">
            <a:spAutoFit/>
          </a:bodyPr>
          <a:lstStyle/>
          <a:p>
            <a:pPr marL="0" indent="457200" algn="l">
              <a:buNone/>
            </a:pPr>
            <a:r>
              <a:rPr lang="en-SG" altLang="en-US" sz="2000" i="1">
                <a:solidFill>
                  <a:schemeClr val="tx2"/>
                </a:solidFill>
                <a:effectLst>
                  <a:outerShdw blurRad="38100" dist="19050" dir="2700000" algn="tl" rotWithShape="0">
                    <a:schemeClr val="dk1">
                      <a:alpha val="40000"/>
                    </a:schemeClr>
                  </a:outerShdw>
                </a:effectLst>
                <a:sym typeface="+mn-ea"/>
              </a:rPr>
              <a:t>a.</a:t>
            </a:r>
            <a:r>
              <a:rPr lang="en-SG" altLang="en-US" sz="2000" b="1" i="1">
                <a:solidFill>
                  <a:schemeClr val="tx2"/>
                </a:solidFill>
                <a:effectLst>
                  <a:outerShdw blurRad="38100" dist="19050" dir="2700000" algn="tl" rotWithShape="0">
                    <a:schemeClr val="dk1">
                      <a:alpha val="40000"/>
                    </a:schemeClr>
                  </a:outerShdw>
                </a:effectLst>
                <a:sym typeface="+mn-ea"/>
              </a:rPr>
              <a:t> Pengelolaan Lingkungan - terutama sampah yg  berbasis kawasan.</a:t>
            </a:r>
            <a:endParaRPr lang="en-SG" altLang="en-US" sz="2000" b="1" i="1" dirty="0">
              <a:solidFill>
                <a:schemeClr val="tx2"/>
              </a:solidFill>
              <a:effectLst>
                <a:outerShdw blurRad="38100" dist="19050" dir="2700000" algn="tl" rotWithShape="0">
                  <a:schemeClr val="dk1">
                    <a:alpha val="40000"/>
                  </a:schemeClr>
                </a:outerShdw>
              </a:effectLst>
              <a:sym typeface="+mn-ea"/>
            </a:endParaRPr>
          </a:p>
        </p:txBody>
      </p:sp>
      <p:pic>
        <p:nvPicPr>
          <p:cNvPr id="4" name="Picture 3" descr="WhatsApp Image 2023-10-31 at 22.24.26"/>
          <p:cNvPicPr>
            <a:picLocks noChangeAspect="1"/>
          </p:cNvPicPr>
          <p:nvPr/>
        </p:nvPicPr>
        <p:blipFill>
          <a:blip r:embed="rId2"/>
          <a:stretch>
            <a:fillRect/>
          </a:stretch>
        </p:blipFill>
        <p:spPr>
          <a:xfrm>
            <a:off x="1295400" y="1066800"/>
            <a:ext cx="2366010" cy="4451985"/>
          </a:xfrm>
          <a:prstGeom prst="rect">
            <a:avLst/>
          </a:prstGeom>
        </p:spPr>
      </p:pic>
      <p:pic>
        <p:nvPicPr>
          <p:cNvPr id="5" name="Picture 4" descr="WhatsApp Image 2023-10-31 at 22.23.03"/>
          <p:cNvPicPr>
            <a:picLocks noChangeAspect="1"/>
          </p:cNvPicPr>
          <p:nvPr/>
        </p:nvPicPr>
        <p:blipFill>
          <a:blip r:embed="rId3"/>
          <a:stretch>
            <a:fillRect/>
          </a:stretch>
        </p:blipFill>
        <p:spPr>
          <a:xfrm>
            <a:off x="3708400" y="1066800"/>
            <a:ext cx="4723130" cy="4540885"/>
          </a:xfrm>
          <a:prstGeom prst="rect">
            <a:avLst/>
          </a:prstGeom>
        </p:spPr>
      </p:pic>
      <p:sp>
        <p:nvSpPr>
          <p:cNvPr id="6" name="Text Box 5"/>
          <p:cNvSpPr txBox="1"/>
          <p:nvPr/>
        </p:nvSpPr>
        <p:spPr>
          <a:xfrm>
            <a:off x="1410970" y="5715000"/>
            <a:ext cx="6920865" cy="275590"/>
          </a:xfrm>
          <a:prstGeom prst="rect">
            <a:avLst/>
          </a:prstGeom>
          <a:noFill/>
        </p:spPr>
        <p:txBody>
          <a:bodyPr wrap="square" rtlCol="0">
            <a:spAutoFit/>
          </a:bodyPr>
          <a:lstStyle/>
          <a:p>
            <a:pPr algn="ctr"/>
            <a:r>
              <a:rPr lang="en-SG" altLang="en-US" sz="1200" i="1" dirty="0">
                <a:solidFill>
                  <a:srgbClr val="0070C0"/>
                </a:solidFill>
              </a:rPr>
              <a:t>Sumber Dinas Lingkungan Hidup Provinsi DKI Jakarta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49997" y="1148827"/>
            <a:ext cx="7505700" cy="369332"/>
          </a:xfrm>
          <a:prstGeom prst="rect">
            <a:avLst/>
          </a:prstGeom>
          <a:noFill/>
        </p:spPr>
        <p:txBody>
          <a:bodyPr wrap="square" rtlCol="0">
            <a:spAutoFit/>
          </a:bodyPr>
          <a:lstStyle/>
          <a:p>
            <a:pPr marL="0" indent="457200" algn="l">
              <a:buNone/>
            </a:pPr>
            <a:r>
              <a:rPr lang="en-SG" altLang="en-US" dirty="0">
                <a:effectLst>
                  <a:outerShdw blurRad="38100" dist="19050" dir="2700000" algn="tl" rotWithShape="0">
                    <a:schemeClr val="dk1">
                      <a:alpha val="40000"/>
                    </a:schemeClr>
                  </a:outerShdw>
                </a:effectLst>
                <a:sym typeface="+mn-ea"/>
              </a:rPr>
              <a:t>b. </a:t>
            </a:r>
            <a:r>
              <a:rPr lang="en-SG" altLang="en-US" dirty="0" err="1">
                <a:effectLst>
                  <a:outerShdw blurRad="38100" dist="19050" dir="2700000" algn="tl" rotWithShape="0">
                    <a:schemeClr val="dk1">
                      <a:alpha val="40000"/>
                    </a:schemeClr>
                  </a:outerShdw>
                </a:effectLst>
                <a:sym typeface="+mn-ea"/>
              </a:rPr>
              <a:t>Pengelolaan</a:t>
            </a:r>
            <a:r>
              <a:rPr lang="en-SG" altLang="en-US" dirty="0">
                <a:effectLst>
                  <a:outerShdw blurRad="38100" dist="19050" dir="2700000" algn="tl" rotWithShape="0">
                    <a:schemeClr val="dk1">
                      <a:alpha val="40000"/>
                    </a:schemeClr>
                  </a:outerShdw>
                </a:effectLst>
                <a:sym typeface="+mn-ea"/>
              </a:rPr>
              <a:t> property </a:t>
            </a:r>
            <a:r>
              <a:rPr lang="en-SG" altLang="en-US" dirty="0" err="1">
                <a:effectLst>
                  <a:outerShdw blurRad="38100" dist="19050" dir="2700000" algn="tl" rotWithShape="0">
                    <a:schemeClr val="dk1">
                      <a:alpha val="40000"/>
                    </a:schemeClr>
                  </a:outerShdw>
                </a:effectLst>
                <a:sym typeface="+mn-ea"/>
              </a:rPr>
              <a:t>kantor</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yg</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rusak</a:t>
            </a:r>
            <a:r>
              <a:rPr lang="en-SG" altLang="en-US" dirty="0">
                <a:effectLst>
                  <a:outerShdw blurRad="38100" dist="19050" dir="2700000" algn="tl" rotWithShape="0">
                    <a:schemeClr val="dk1">
                      <a:alpha val="40000"/>
                    </a:schemeClr>
                  </a:outerShdw>
                </a:effectLst>
                <a:sym typeface="+mn-ea"/>
              </a:rPr>
              <a:t> dan </a:t>
            </a:r>
            <a:r>
              <a:rPr lang="en-SG" altLang="en-US" dirty="0" err="1">
                <a:effectLst>
                  <a:outerShdw blurRad="38100" dist="19050" dir="2700000" algn="tl" rotWithShape="0">
                    <a:schemeClr val="dk1">
                      <a:alpha val="40000"/>
                    </a:schemeClr>
                  </a:outerShdw>
                </a:effectLst>
                <a:sym typeface="+mn-ea"/>
              </a:rPr>
              <a:t>purna</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pakai</a:t>
            </a:r>
            <a:endParaRPr lang="en-SG" altLang="en-US" dirty="0">
              <a:effectLst>
                <a:outerShdw blurRad="38100" dist="19050" dir="2700000" algn="tl" rotWithShape="0">
                  <a:schemeClr val="dk1">
                    <a:alpha val="40000"/>
                  </a:schemeClr>
                </a:outerShdw>
              </a:effectLst>
              <a:sym typeface="+mn-ea"/>
            </a:endParaRPr>
          </a:p>
        </p:txBody>
      </p:sp>
      <p:sp>
        <p:nvSpPr>
          <p:cNvPr id="3" name="Text Box 2"/>
          <p:cNvSpPr txBox="1"/>
          <p:nvPr/>
        </p:nvSpPr>
        <p:spPr>
          <a:xfrm>
            <a:off x="1249997" y="1436458"/>
            <a:ext cx="7070725" cy="369332"/>
          </a:xfrm>
          <a:prstGeom prst="rect">
            <a:avLst/>
          </a:prstGeom>
          <a:noFill/>
        </p:spPr>
        <p:txBody>
          <a:bodyPr wrap="square" rtlCol="0">
            <a:spAutoFit/>
          </a:bodyPr>
          <a:lstStyle/>
          <a:p>
            <a:pPr marL="0" indent="457200">
              <a:buNone/>
            </a:pPr>
            <a:r>
              <a:rPr lang="en-SG" altLang="en-US" dirty="0">
                <a:effectLst>
                  <a:outerShdw blurRad="38100" dist="19050" dir="2700000" algn="tl" rotWithShape="0">
                    <a:schemeClr val="dk1">
                      <a:alpha val="40000"/>
                    </a:schemeClr>
                  </a:outerShdw>
                </a:effectLst>
                <a:sym typeface="+mn-ea"/>
              </a:rPr>
              <a:t>c. </a:t>
            </a:r>
            <a:r>
              <a:rPr lang="en-SG" altLang="en-US" dirty="0" err="1">
                <a:effectLst>
                  <a:outerShdw blurRad="38100" dist="19050" dir="2700000" algn="tl" rotWithShape="0">
                    <a:schemeClr val="dk1">
                      <a:alpha val="40000"/>
                    </a:schemeClr>
                  </a:outerShdw>
                </a:effectLst>
                <a:sym typeface="+mn-ea"/>
              </a:rPr>
              <a:t>Pengelolaan</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parkir</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yg</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sesuai</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dng</a:t>
            </a:r>
            <a:r>
              <a:rPr lang="en-SG" altLang="en-US" dirty="0">
                <a:effectLst>
                  <a:outerShdw blurRad="38100" dist="19050" dir="2700000" algn="tl" rotWithShape="0">
                    <a:schemeClr val="dk1">
                      <a:alpha val="40000"/>
                    </a:schemeClr>
                  </a:outerShdw>
                </a:effectLst>
                <a:sym typeface="+mn-ea"/>
              </a:rPr>
              <a:t> era 4.0 </a:t>
            </a:r>
          </a:p>
        </p:txBody>
      </p:sp>
      <p:sp>
        <p:nvSpPr>
          <p:cNvPr id="4" name="Text Box 3"/>
          <p:cNvSpPr txBox="1"/>
          <p:nvPr/>
        </p:nvSpPr>
        <p:spPr>
          <a:xfrm>
            <a:off x="1249997" y="1742030"/>
            <a:ext cx="6522085" cy="369332"/>
          </a:xfrm>
          <a:prstGeom prst="rect">
            <a:avLst/>
          </a:prstGeom>
          <a:noFill/>
        </p:spPr>
        <p:txBody>
          <a:bodyPr wrap="square" rtlCol="0">
            <a:spAutoFit/>
          </a:bodyPr>
          <a:lstStyle/>
          <a:p>
            <a:pPr marL="0" indent="457200">
              <a:buNone/>
            </a:pPr>
            <a:r>
              <a:rPr lang="en-SG" altLang="en-US" dirty="0">
                <a:effectLst>
                  <a:outerShdw blurRad="38100" dist="19050" dir="2700000" algn="tl" rotWithShape="0">
                    <a:schemeClr val="dk1">
                      <a:alpha val="40000"/>
                    </a:schemeClr>
                  </a:outerShdw>
                </a:effectLst>
                <a:sym typeface="+mn-ea"/>
              </a:rPr>
              <a:t>d. </a:t>
            </a:r>
            <a:r>
              <a:rPr lang="en-SG" altLang="en-US" dirty="0" err="1">
                <a:effectLst>
                  <a:outerShdw blurRad="38100" dist="19050" dir="2700000" algn="tl" rotWithShape="0">
                    <a:schemeClr val="dk1">
                      <a:alpha val="40000"/>
                    </a:schemeClr>
                  </a:outerShdw>
                </a:effectLst>
                <a:sym typeface="+mn-ea"/>
              </a:rPr>
              <a:t>Pengelolaan</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Energi</a:t>
            </a:r>
            <a:r>
              <a:rPr lang="en-SG" altLang="en-US" dirty="0">
                <a:effectLst>
                  <a:outerShdw blurRad="38100" dist="19050" dir="2700000" algn="tl" rotWithShape="0">
                    <a:schemeClr val="dk1">
                      <a:alpha val="40000"/>
                    </a:schemeClr>
                  </a:outerShdw>
                </a:effectLst>
                <a:sym typeface="+mn-ea"/>
              </a:rPr>
              <a:t> Listrik &amp; Air</a:t>
            </a:r>
          </a:p>
        </p:txBody>
      </p:sp>
      <p:sp>
        <p:nvSpPr>
          <p:cNvPr id="6" name="Text Box 5"/>
          <p:cNvSpPr txBox="1"/>
          <p:nvPr/>
        </p:nvSpPr>
        <p:spPr>
          <a:xfrm>
            <a:off x="1271587" y="2045447"/>
            <a:ext cx="7210425" cy="646331"/>
          </a:xfrm>
          <a:prstGeom prst="rect">
            <a:avLst/>
          </a:prstGeom>
          <a:noFill/>
        </p:spPr>
        <p:txBody>
          <a:bodyPr wrap="square" rtlCol="0">
            <a:spAutoFit/>
          </a:bodyPr>
          <a:lstStyle/>
          <a:p>
            <a:pPr marL="0" indent="457200">
              <a:buNone/>
            </a:pPr>
            <a:r>
              <a:rPr lang="en-SG" altLang="en-US" dirty="0">
                <a:effectLst>
                  <a:outerShdw blurRad="38100" dist="19050" dir="2700000" algn="tl" rotWithShape="0">
                    <a:schemeClr val="dk1">
                      <a:alpha val="40000"/>
                    </a:schemeClr>
                  </a:outerShdw>
                </a:effectLst>
                <a:sym typeface="+mn-ea"/>
              </a:rPr>
              <a:t>e. </a:t>
            </a:r>
            <a:r>
              <a:rPr lang="en-SG" altLang="en-US" dirty="0" err="1">
                <a:effectLst>
                  <a:outerShdw blurRad="38100" dist="19050" dir="2700000" algn="tl" rotWithShape="0">
                    <a:schemeClr val="dk1">
                      <a:alpha val="40000"/>
                    </a:schemeClr>
                  </a:outerShdw>
                </a:effectLst>
                <a:sym typeface="+mn-ea"/>
              </a:rPr>
              <a:t>Peninjauan</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kembali</a:t>
            </a:r>
            <a:r>
              <a:rPr lang="en-SG" altLang="en-US" dirty="0">
                <a:effectLst>
                  <a:outerShdw blurRad="38100" dist="19050" dir="2700000" algn="tl" rotWithShape="0">
                    <a:schemeClr val="dk1">
                      <a:alpha val="40000"/>
                    </a:schemeClr>
                  </a:outerShdw>
                </a:effectLst>
                <a:sym typeface="+mn-ea"/>
              </a:rPr>
              <a:t>/Re-thinking  </a:t>
            </a:r>
            <a:r>
              <a:rPr lang="en-SG" altLang="en-US" dirty="0" err="1">
                <a:effectLst>
                  <a:outerShdw blurRad="38100" dist="19050" dir="2700000" algn="tl" rotWithShape="0">
                    <a:schemeClr val="dk1">
                      <a:alpha val="40000"/>
                    </a:schemeClr>
                  </a:outerShdw>
                </a:effectLst>
                <a:sym typeface="+mn-ea"/>
              </a:rPr>
              <a:t>terhadap</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desain</a:t>
            </a:r>
            <a:r>
              <a:rPr lang="en-SG" altLang="en-US" dirty="0">
                <a:effectLst>
                  <a:outerShdw blurRad="38100" dist="19050" dir="2700000" algn="tl" rotWithShape="0">
                    <a:schemeClr val="dk1">
                      <a:alpha val="40000"/>
                    </a:schemeClr>
                  </a:outerShdw>
                </a:effectLst>
                <a:sym typeface="+mn-ea"/>
              </a:rPr>
              <a:t> - 	</a:t>
            </a:r>
            <a:r>
              <a:rPr lang="en-SG" altLang="en-US" dirty="0" err="1">
                <a:effectLst>
                  <a:outerShdw blurRad="38100" dist="19050" dir="2700000" algn="tl" rotWithShape="0">
                    <a:schemeClr val="dk1">
                      <a:alpha val="40000"/>
                    </a:schemeClr>
                  </a:outerShdw>
                </a:effectLst>
                <a:sym typeface="+mn-ea"/>
              </a:rPr>
              <a:t>efisiensi</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ruang</a:t>
            </a:r>
            <a:r>
              <a:rPr lang="en-SG" altLang="en-US" dirty="0">
                <a:effectLst>
                  <a:outerShdw blurRad="38100" dist="19050" dir="2700000" algn="tl" rotWithShape="0">
                    <a:schemeClr val="dk1">
                      <a:alpha val="40000"/>
                    </a:schemeClr>
                  </a:outerShdw>
                </a:effectLst>
                <a:sym typeface="+mn-ea"/>
              </a:rPr>
              <a:t>        &amp; </a:t>
            </a:r>
            <a:r>
              <a:rPr lang="en-SG" altLang="en-US" dirty="0" err="1">
                <a:effectLst>
                  <a:outerShdw blurRad="38100" dist="19050" dir="2700000" algn="tl" rotWithShape="0">
                    <a:schemeClr val="dk1">
                      <a:alpha val="40000"/>
                    </a:schemeClr>
                  </a:outerShdw>
                </a:effectLst>
                <a:sym typeface="+mn-ea"/>
              </a:rPr>
              <a:t>penggunaan</a:t>
            </a:r>
            <a:r>
              <a:rPr lang="en-SG" altLang="en-US" dirty="0">
                <a:effectLst>
                  <a:outerShdw blurRad="38100" dist="19050" dir="2700000" algn="tl" rotWithShape="0">
                    <a:schemeClr val="dk1">
                      <a:alpha val="40000"/>
                    </a:schemeClr>
                  </a:outerShdw>
                </a:effectLst>
                <a:sym typeface="+mn-ea"/>
              </a:rPr>
              <a:t> </a:t>
            </a:r>
            <a:r>
              <a:rPr lang="en-SG" altLang="en-US" dirty="0" err="1">
                <a:effectLst>
                  <a:outerShdw blurRad="38100" dist="19050" dir="2700000" algn="tl" rotWithShape="0">
                    <a:schemeClr val="dk1">
                      <a:alpha val="40000"/>
                    </a:schemeClr>
                  </a:outerShdw>
                </a:effectLst>
                <a:sym typeface="+mn-ea"/>
              </a:rPr>
              <a:t>matrial</a:t>
            </a:r>
            <a:r>
              <a:rPr lang="en-SG" altLang="en-US" dirty="0">
                <a:effectLst>
                  <a:outerShdw blurRad="38100" dist="19050" dir="2700000" algn="tl" rotWithShape="0">
                    <a:schemeClr val="dk1">
                      <a:alpha val="40000"/>
                    </a:schemeClr>
                  </a:outerShdw>
                </a:effectLst>
                <a:sym typeface="+mn-ea"/>
              </a:rPr>
              <a:t> yang up to date</a:t>
            </a:r>
          </a:p>
        </p:txBody>
      </p:sp>
      <p:pic>
        <p:nvPicPr>
          <p:cNvPr id="7" name="Picture 6" descr="15"/>
          <p:cNvPicPr>
            <a:picLocks noChangeAspect="1"/>
          </p:cNvPicPr>
          <p:nvPr/>
        </p:nvPicPr>
        <p:blipFill>
          <a:blip r:embed="rId2"/>
          <a:stretch>
            <a:fillRect/>
          </a:stretch>
        </p:blipFill>
        <p:spPr>
          <a:xfrm>
            <a:off x="1676400" y="3363595"/>
            <a:ext cx="2524760" cy="3117850"/>
          </a:xfrm>
          <a:prstGeom prst="rect">
            <a:avLst/>
          </a:prstGeom>
        </p:spPr>
      </p:pic>
      <p:pic>
        <p:nvPicPr>
          <p:cNvPr id="8" name="Picture 7" descr="11"/>
          <p:cNvPicPr>
            <a:picLocks noChangeAspect="1"/>
          </p:cNvPicPr>
          <p:nvPr/>
        </p:nvPicPr>
        <p:blipFill>
          <a:blip r:embed="rId3"/>
          <a:stretch>
            <a:fillRect/>
          </a:stretch>
        </p:blipFill>
        <p:spPr>
          <a:xfrm>
            <a:off x="4876800" y="3336925"/>
            <a:ext cx="2661920" cy="3169285"/>
          </a:xfrm>
          <a:prstGeom prst="rect">
            <a:avLst/>
          </a:prstGeom>
        </p:spPr>
      </p:pic>
      <p:sp>
        <p:nvSpPr>
          <p:cNvPr id="10" name="TextBox 9">
            <a:extLst>
              <a:ext uri="{FF2B5EF4-FFF2-40B4-BE49-F238E27FC236}">
                <a16:creationId xmlns:a16="http://schemas.microsoft.com/office/drawing/2014/main" id="{3AA239D3-B5EF-48B5-B9A5-A458DC2F1C60}"/>
              </a:ext>
            </a:extLst>
          </p:cNvPr>
          <p:cNvSpPr txBox="1"/>
          <p:nvPr/>
        </p:nvSpPr>
        <p:spPr>
          <a:xfrm>
            <a:off x="1676400" y="336673"/>
            <a:ext cx="4572000" cy="461665"/>
          </a:xfrm>
          <a:prstGeom prst="rect">
            <a:avLst/>
          </a:prstGeom>
          <a:noFill/>
        </p:spPr>
        <p:txBody>
          <a:bodyPr wrap="square">
            <a:spAutoFit/>
          </a:bodyPr>
          <a:lstStyle/>
          <a:p>
            <a:pPr algn="ctr"/>
            <a:r>
              <a:rPr lang="en-SG" altLang="en-US" sz="2400" b="1" dirty="0">
                <a:effectLst>
                  <a:outerShdw blurRad="38100" dist="25400" dir="5400000" algn="ctr" rotWithShape="0">
                    <a:srgbClr val="6E747A">
                      <a:alpha val="43000"/>
                    </a:srgbClr>
                  </a:outerShdw>
                </a:effectLst>
                <a:sym typeface="+mn-ea"/>
              </a:rPr>
              <a:t>Target </a:t>
            </a:r>
            <a:r>
              <a:rPr lang="en-SG" altLang="en-US" sz="2400" b="1" dirty="0" err="1">
                <a:effectLst>
                  <a:outerShdw blurRad="38100" dist="25400" dir="5400000" algn="ctr" rotWithShape="0">
                    <a:srgbClr val="6E747A">
                      <a:alpha val="43000"/>
                    </a:srgbClr>
                  </a:outerShdw>
                </a:effectLst>
                <a:sym typeface="+mn-ea"/>
              </a:rPr>
              <a:t>Keuntungan</a:t>
            </a:r>
            <a:r>
              <a:rPr lang="en-SG" altLang="en-US" sz="2400" b="1" dirty="0">
                <a:effectLst>
                  <a:outerShdw blurRad="38100" dist="25400" dir="5400000" algn="ctr" rotWithShape="0">
                    <a:srgbClr val="6E747A">
                      <a:alpha val="43000"/>
                    </a:srgbClr>
                  </a:outerShdw>
                </a:effectLst>
                <a:sym typeface="+mn-ea"/>
              </a:rPr>
              <a:t> </a:t>
            </a:r>
            <a:endParaRPr lang="en-ID" sz="2400" dirty="0"/>
          </a:p>
        </p:txBody>
      </p:sp>
      <p:sp>
        <p:nvSpPr>
          <p:cNvPr id="12" name="TextBox 11">
            <a:extLst>
              <a:ext uri="{FF2B5EF4-FFF2-40B4-BE49-F238E27FC236}">
                <a16:creationId xmlns:a16="http://schemas.microsoft.com/office/drawing/2014/main" id="{1C0AEC96-7700-4419-A097-9EC3CC959D93}"/>
              </a:ext>
            </a:extLst>
          </p:cNvPr>
          <p:cNvSpPr txBox="1"/>
          <p:nvPr/>
        </p:nvSpPr>
        <p:spPr>
          <a:xfrm>
            <a:off x="1110298" y="779495"/>
            <a:ext cx="7350124" cy="369332"/>
          </a:xfrm>
          <a:prstGeom prst="rect">
            <a:avLst/>
          </a:prstGeom>
          <a:noFill/>
        </p:spPr>
        <p:txBody>
          <a:bodyPr wrap="square">
            <a:spAutoFit/>
          </a:bodyPr>
          <a:lstStyle/>
          <a:p>
            <a:pPr marL="0" indent="457200">
              <a:buNone/>
            </a:pPr>
            <a:r>
              <a:rPr lang="en-SG" altLang="en-US" dirty="0">
                <a:solidFill>
                  <a:schemeClr val="tx1"/>
                </a:solidFill>
                <a:effectLst>
                  <a:outerShdw blurRad="38100" dist="19050" dir="2700000" algn="tl" rotWithShape="0">
                    <a:schemeClr val="dk1">
                      <a:alpha val="40000"/>
                    </a:schemeClr>
                  </a:outerShdw>
                </a:effectLst>
                <a:sym typeface="+mn-ea"/>
              </a:rPr>
              <a:t>  a. </a:t>
            </a:r>
            <a:r>
              <a:rPr lang="en-SG" altLang="en-US" dirty="0" err="1">
                <a:solidFill>
                  <a:schemeClr val="tx1"/>
                </a:solidFill>
                <a:effectLst>
                  <a:outerShdw blurRad="38100" dist="19050" dir="2700000" algn="tl" rotWithShape="0">
                    <a:schemeClr val="dk1">
                      <a:alpha val="40000"/>
                    </a:schemeClr>
                  </a:outerShdw>
                </a:effectLst>
                <a:sym typeface="+mn-ea"/>
              </a:rPr>
              <a:t>Pengelolaan</a:t>
            </a:r>
            <a:r>
              <a:rPr lang="en-SG" altLang="en-US" dirty="0">
                <a:solidFill>
                  <a:schemeClr val="tx1"/>
                </a:solidFill>
                <a:effectLst>
                  <a:outerShdw blurRad="38100" dist="19050" dir="2700000" algn="tl" rotWithShape="0">
                    <a:schemeClr val="dk1">
                      <a:alpha val="40000"/>
                    </a:schemeClr>
                  </a:outerShdw>
                </a:effectLst>
                <a:sym typeface="+mn-ea"/>
              </a:rPr>
              <a:t> </a:t>
            </a:r>
            <a:r>
              <a:rPr lang="en-SG" altLang="en-US" dirty="0" err="1">
                <a:solidFill>
                  <a:schemeClr val="tx1"/>
                </a:solidFill>
                <a:effectLst>
                  <a:outerShdw blurRad="38100" dist="19050" dir="2700000" algn="tl" rotWithShape="0">
                    <a:schemeClr val="dk1">
                      <a:alpha val="40000"/>
                    </a:schemeClr>
                  </a:outerShdw>
                </a:effectLst>
                <a:sym typeface="+mn-ea"/>
              </a:rPr>
              <a:t>Lingkungan</a:t>
            </a:r>
            <a:r>
              <a:rPr lang="en-SG" altLang="en-US" dirty="0">
                <a:solidFill>
                  <a:schemeClr val="tx1"/>
                </a:solidFill>
                <a:effectLst>
                  <a:outerShdw blurRad="38100" dist="19050" dir="2700000" algn="tl" rotWithShape="0">
                    <a:schemeClr val="dk1">
                      <a:alpha val="40000"/>
                    </a:schemeClr>
                  </a:outerShdw>
                </a:effectLst>
                <a:sym typeface="+mn-ea"/>
              </a:rPr>
              <a:t> - </a:t>
            </a:r>
            <a:r>
              <a:rPr lang="en-SG" altLang="en-US" dirty="0" err="1">
                <a:solidFill>
                  <a:schemeClr val="tx1"/>
                </a:solidFill>
                <a:effectLst>
                  <a:outerShdw blurRad="38100" dist="19050" dir="2700000" algn="tl" rotWithShape="0">
                    <a:schemeClr val="dk1">
                      <a:alpha val="40000"/>
                    </a:schemeClr>
                  </a:outerShdw>
                </a:effectLst>
                <a:sym typeface="+mn-ea"/>
              </a:rPr>
              <a:t>terutama</a:t>
            </a:r>
            <a:r>
              <a:rPr lang="en-SG" altLang="en-US" dirty="0">
                <a:solidFill>
                  <a:schemeClr val="tx1"/>
                </a:solidFill>
                <a:effectLst>
                  <a:outerShdw blurRad="38100" dist="19050" dir="2700000" algn="tl" rotWithShape="0">
                    <a:schemeClr val="dk1">
                      <a:alpha val="40000"/>
                    </a:schemeClr>
                  </a:outerShdw>
                </a:effectLst>
                <a:sym typeface="+mn-ea"/>
              </a:rPr>
              <a:t> </a:t>
            </a:r>
            <a:r>
              <a:rPr lang="en-SG" altLang="en-US" dirty="0" err="1">
                <a:solidFill>
                  <a:schemeClr val="tx1"/>
                </a:solidFill>
                <a:effectLst>
                  <a:outerShdw blurRad="38100" dist="19050" dir="2700000" algn="tl" rotWithShape="0">
                    <a:schemeClr val="dk1">
                      <a:alpha val="40000"/>
                    </a:schemeClr>
                  </a:outerShdw>
                </a:effectLst>
                <a:sym typeface="+mn-ea"/>
              </a:rPr>
              <a:t>sampah</a:t>
            </a:r>
            <a:r>
              <a:rPr lang="en-SG" altLang="en-US" dirty="0">
                <a:solidFill>
                  <a:schemeClr val="tx1"/>
                </a:solidFill>
                <a:effectLst>
                  <a:outerShdw blurRad="38100" dist="19050" dir="2700000" algn="tl" rotWithShape="0">
                    <a:schemeClr val="dk1">
                      <a:alpha val="40000"/>
                    </a:schemeClr>
                  </a:outerShdw>
                </a:effectLst>
                <a:sym typeface="+mn-ea"/>
              </a:rPr>
              <a:t> </a:t>
            </a:r>
            <a:r>
              <a:rPr lang="en-SG" altLang="en-US" dirty="0" err="1">
                <a:solidFill>
                  <a:schemeClr val="tx1"/>
                </a:solidFill>
                <a:effectLst>
                  <a:outerShdw blurRad="38100" dist="19050" dir="2700000" algn="tl" rotWithShape="0">
                    <a:schemeClr val="dk1">
                      <a:alpha val="40000"/>
                    </a:schemeClr>
                  </a:outerShdw>
                </a:effectLst>
                <a:sym typeface="+mn-ea"/>
              </a:rPr>
              <a:t>yg</a:t>
            </a:r>
            <a:r>
              <a:rPr lang="en-SG" altLang="en-US" dirty="0">
                <a:solidFill>
                  <a:schemeClr val="tx1"/>
                </a:solidFill>
                <a:effectLst>
                  <a:outerShdw blurRad="38100" dist="19050" dir="2700000" algn="tl" rotWithShape="0">
                    <a:schemeClr val="dk1">
                      <a:alpha val="40000"/>
                    </a:schemeClr>
                  </a:outerShdw>
                </a:effectLst>
                <a:sym typeface="+mn-ea"/>
              </a:rPr>
              <a:t>  </a:t>
            </a:r>
            <a:r>
              <a:rPr lang="en-SG" altLang="en-US" dirty="0" err="1">
                <a:solidFill>
                  <a:schemeClr val="tx1"/>
                </a:solidFill>
                <a:effectLst>
                  <a:outerShdw blurRad="38100" dist="19050" dir="2700000" algn="tl" rotWithShape="0">
                    <a:schemeClr val="dk1">
                      <a:alpha val="40000"/>
                    </a:schemeClr>
                  </a:outerShdw>
                </a:effectLst>
                <a:sym typeface="+mn-ea"/>
              </a:rPr>
              <a:t>berbasis</a:t>
            </a:r>
            <a:r>
              <a:rPr lang="en-SG" altLang="en-US" dirty="0">
                <a:solidFill>
                  <a:schemeClr val="tx1"/>
                </a:solidFill>
                <a:effectLst>
                  <a:outerShdw blurRad="38100" dist="19050" dir="2700000" algn="tl" rotWithShape="0">
                    <a:schemeClr val="dk1">
                      <a:alpha val="40000"/>
                    </a:schemeClr>
                  </a:outerShdw>
                </a:effectLst>
                <a:sym typeface="+mn-ea"/>
              </a:rPr>
              <a:t> </a:t>
            </a:r>
            <a:r>
              <a:rPr lang="en-SG" altLang="en-US" dirty="0" err="1">
                <a:solidFill>
                  <a:schemeClr val="tx1"/>
                </a:solidFill>
                <a:effectLst>
                  <a:outerShdw blurRad="38100" dist="19050" dir="2700000" algn="tl" rotWithShape="0">
                    <a:schemeClr val="dk1">
                      <a:alpha val="40000"/>
                    </a:schemeClr>
                  </a:outerShdw>
                </a:effectLst>
                <a:sym typeface="+mn-ea"/>
              </a:rPr>
              <a:t>kawasan</a:t>
            </a:r>
            <a:r>
              <a:rPr lang="en-SG" altLang="en-US" b="1" dirty="0">
                <a:solidFill>
                  <a:schemeClr val="tx1"/>
                </a:solidFill>
                <a:effectLst>
                  <a:outerShdw blurRad="38100" dist="19050" dir="2700000" algn="tl" rotWithShape="0">
                    <a:schemeClr val="dk1">
                      <a:alpha val="40000"/>
                    </a:schemeClr>
                  </a:outerShdw>
                </a:effectLst>
                <a:sym typeface="+mn-ea"/>
              </a:rPr>
              <a:t>.</a:t>
            </a:r>
            <a:endParaRPr lang="en-SG" altLang="en-US" b="1" dirty="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
          <p:cNvPicPr>
            <a:picLocks noChangeAspect="1"/>
          </p:cNvPicPr>
          <p:nvPr/>
        </p:nvPicPr>
        <p:blipFill>
          <a:blip r:embed="rId2"/>
          <a:stretch>
            <a:fillRect/>
          </a:stretch>
        </p:blipFill>
        <p:spPr>
          <a:xfrm>
            <a:off x="1143000" y="762000"/>
            <a:ext cx="3429000" cy="4944745"/>
          </a:xfrm>
          <a:prstGeom prst="rect">
            <a:avLst/>
          </a:prstGeom>
        </p:spPr>
      </p:pic>
      <p:pic>
        <p:nvPicPr>
          <p:cNvPr id="3" name="Picture 2" descr="2"/>
          <p:cNvPicPr>
            <a:picLocks noChangeAspect="1"/>
          </p:cNvPicPr>
          <p:nvPr/>
        </p:nvPicPr>
        <p:blipFill>
          <a:blip r:embed="rId3"/>
          <a:stretch>
            <a:fillRect/>
          </a:stretch>
        </p:blipFill>
        <p:spPr>
          <a:xfrm>
            <a:off x="5181600" y="685800"/>
            <a:ext cx="3200400" cy="51816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52500"/>
            <a:ext cx="3514090" cy="4392295"/>
          </a:xfrm>
          <a:prstGeom prst="rect">
            <a:avLst/>
          </a:prstGeom>
          <a:noFill/>
          <a:ln>
            <a:noFill/>
          </a:ln>
        </p:spPr>
      </p:pic>
      <p:pic>
        <p:nvPicPr>
          <p:cNvPr id="3" name="Picture 2" descr="13"/>
          <p:cNvPicPr>
            <a:picLocks noChangeAspect="1"/>
          </p:cNvPicPr>
          <p:nvPr/>
        </p:nvPicPr>
        <p:blipFill>
          <a:blip r:embed="rId3"/>
          <a:stretch>
            <a:fillRect/>
          </a:stretch>
        </p:blipFill>
        <p:spPr>
          <a:xfrm>
            <a:off x="5029200" y="1752600"/>
            <a:ext cx="3200400" cy="35928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3-10-31 at 23.24.59"/>
          <p:cNvPicPr>
            <a:picLocks noChangeAspect="1"/>
          </p:cNvPicPr>
          <p:nvPr/>
        </p:nvPicPr>
        <p:blipFill>
          <a:blip r:embed="rId2"/>
          <a:stretch>
            <a:fillRect/>
          </a:stretch>
        </p:blipFill>
        <p:spPr>
          <a:xfrm>
            <a:off x="762000" y="1600200"/>
            <a:ext cx="3853815" cy="3317875"/>
          </a:xfrm>
          <a:prstGeom prst="rect">
            <a:avLst/>
          </a:prstGeom>
        </p:spPr>
      </p:pic>
      <p:pic>
        <p:nvPicPr>
          <p:cNvPr id="3" name="Picture 2" descr="WhatsApp Image 2023-10-31 at 23.24.59 (1)"/>
          <p:cNvPicPr>
            <a:picLocks noChangeAspect="1"/>
          </p:cNvPicPr>
          <p:nvPr/>
        </p:nvPicPr>
        <p:blipFill>
          <a:blip r:embed="rId3"/>
          <a:stretch>
            <a:fillRect/>
          </a:stretch>
        </p:blipFill>
        <p:spPr>
          <a:xfrm>
            <a:off x="5181600" y="1828800"/>
            <a:ext cx="3390900" cy="298386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488055" y="2071370"/>
            <a:ext cx="3048000" cy="398780"/>
          </a:xfrm>
          <a:prstGeom prst="rect">
            <a:avLst/>
          </a:prstGeom>
          <a:noFill/>
        </p:spPr>
        <p:txBody>
          <a:bodyPr wrap="square" rtlCol="0">
            <a:spAutoFit/>
          </a:bodyPr>
          <a:lstStyle/>
          <a:p>
            <a:endParaRPr lang="en-SG" altLang="en-US" sz="2000" dirty="0">
              <a:solidFill>
                <a:srgbClr val="0070C0"/>
              </a:solidFill>
            </a:endParaRPr>
          </a:p>
        </p:txBody>
      </p:sp>
      <p:pic>
        <p:nvPicPr>
          <p:cNvPr id="4" name="Picture 3" descr="WhatsApp Image 2023-10-29 at 01.05.20"/>
          <p:cNvPicPr>
            <a:picLocks noChangeAspect="1"/>
          </p:cNvPicPr>
          <p:nvPr/>
        </p:nvPicPr>
        <p:blipFill>
          <a:blip r:embed="rId2"/>
          <a:stretch>
            <a:fillRect/>
          </a:stretch>
        </p:blipFill>
        <p:spPr>
          <a:xfrm>
            <a:off x="1143000" y="1092200"/>
            <a:ext cx="6920230" cy="4974590"/>
          </a:xfrm>
          <a:prstGeom prst="rect">
            <a:avLst/>
          </a:prstGeom>
        </p:spPr>
      </p:pic>
      <p:sp>
        <p:nvSpPr>
          <p:cNvPr id="2" name="Text Box 1"/>
          <p:cNvSpPr txBox="1"/>
          <p:nvPr/>
        </p:nvSpPr>
        <p:spPr>
          <a:xfrm>
            <a:off x="1955800" y="533400"/>
            <a:ext cx="5747385" cy="449580"/>
          </a:xfrm>
          <a:prstGeom prst="rect">
            <a:avLst/>
          </a:prstGeom>
          <a:noFill/>
        </p:spPr>
        <p:txBody>
          <a:bodyPr wrap="square" rtlCol="0">
            <a:noAutofit/>
          </a:bodyPr>
          <a:lstStyle/>
          <a:p>
            <a:r>
              <a:rPr lang="en-SG" altLang="en-US" sz="2000" b="1">
                <a:effectLst>
                  <a:outerShdw blurRad="38100" dist="19050" dir="2700000" algn="tl" rotWithShape="0">
                    <a:schemeClr val="dk1">
                      <a:alpha val="40000"/>
                    </a:schemeClr>
                  </a:outerShdw>
                </a:effectLst>
                <a:sym typeface="+mn-ea"/>
              </a:rPr>
              <a:t> </a:t>
            </a:r>
            <a:r>
              <a:rPr lang="en-SG" altLang="en-US" sz="1600" b="1">
                <a:solidFill>
                  <a:srgbClr val="FF0000"/>
                </a:solidFill>
                <a:effectLst>
                  <a:outerShdw blurRad="38100" dist="19050" dir="2700000" algn="tl" rotWithShape="0">
                    <a:schemeClr val="dk1">
                      <a:alpha val="40000"/>
                    </a:schemeClr>
                  </a:outerShdw>
                </a:effectLst>
                <a:sym typeface="+mn-ea"/>
              </a:rPr>
              <a:t>f.</a:t>
            </a:r>
            <a:r>
              <a:rPr lang="en-SG" altLang="en-US" sz="1400" b="1">
                <a:solidFill>
                  <a:srgbClr val="FF0000"/>
                </a:solidFill>
                <a:effectLst>
                  <a:outerShdw blurRad="38100" dist="19050" dir="2700000" algn="tl" rotWithShape="0">
                    <a:schemeClr val="dk1">
                      <a:alpha val="40000"/>
                    </a:schemeClr>
                  </a:outerShdw>
                </a:effectLst>
                <a:sym typeface="+mn-ea"/>
              </a:rPr>
              <a:t>  Dapat menggunakan program BIM, membuat anggaran,RAB &amp; cashflow</a:t>
            </a:r>
            <a:endParaRPr lang="en-SG" altLang="en-US" sz="1400" b="1" dirty="0">
              <a:solidFill>
                <a:srgbClr val="FF0000"/>
              </a:solidFill>
              <a:effectLst>
                <a:outerShdw blurRad="38100" dist="19050" dir="2700000" algn="tl" rotWithShape="0">
                  <a:schemeClr val="dk1">
                    <a:alpha val="40000"/>
                  </a:schemeClr>
                </a:outerShdw>
              </a:effectLst>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66800" y="381000"/>
            <a:ext cx="7402830" cy="460375"/>
          </a:xfrm>
          <a:prstGeom prst="rect">
            <a:avLst/>
          </a:prstGeom>
          <a:noFill/>
        </p:spPr>
        <p:txBody>
          <a:bodyPr wrap="square" rtlCol="0" anchor="t">
            <a:spAutoFit/>
          </a:bodyPr>
          <a:lstStyle/>
          <a:p>
            <a:pPr marL="0" indent="0">
              <a:buNone/>
            </a:pPr>
            <a:r>
              <a:rPr lang="en-US" sz="2400">
                <a:sym typeface="+mn-ea"/>
              </a:rPr>
              <a:t>3. </a:t>
            </a:r>
            <a:r>
              <a:rPr lang="en-SG" altLang="en-US" sz="2400">
                <a:sym typeface="+mn-ea"/>
              </a:rPr>
              <a:t>    </a:t>
            </a:r>
            <a:r>
              <a:rPr lang="en-US" sz="2400">
                <a:sym typeface="+mn-ea"/>
              </a:rPr>
              <a:t> </a:t>
            </a:r>
            <a:r>
              <a:rPr lang="en-US" sz="2400" b="1">
                <a:sym typeface="+mn-ea"/>
              </a:rPr>
              <a:t>Melaksanakan Pengelolaan Sumber Daya Manusia</a:t>
            </a:r>
            <a:r>
              <a:rPr lang="en-US" sz="2400">
                <a:sym typeface="+mn-ea"/>
              </a:rPr>
              <a:t> </a:t>
            </a:r>
            <a:endParaRPr lang="en-US" altLang="en-US" sz="2400" dirty="0">
              <a:solidFill>
                <a:srgbClr val="0070C0"/>
              </a:solidFill>
              <a:sym typeface="+mn-ea"/>
            </a:endParaRP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935" y="990798"/>
            <a:ext cx="6812145" cy="56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38200" y="228600"/>
            <a:ext cx="5334000" cy="400110"/>
          </a:xfrm>
          <a:prstGeom prst="rect">
            <a:avLst/>
          </a:prstGeom>
          <a:noFill/>
        </p:spPr>
        <p:txBody>
          <a:bodyPr wrap="square" rtlCol="0">
            <a:spAutoFit/>
          </a:bodyPr>
          <a:lstStyle/>
          <a:p>
            <a:r>
              <a:rPr lang="en-US" sz="2000" b="1" i="1" dirty="0">
                <a:sym typeface="+mn-ea"/>
              </a:rPr>
              <a:t>1. </a:t>
            </a:r>
            <a:r>
              <a:rPr lang="en-US" sz="2000" b="1" i="1" dirty="0" err="1">
                <a:sym typeface="+mn-ea"/>
              </a:rPr>
              <a:t>Merumuskan</a:t>
            </a:r>
            <a:r>
              <a:rPr lang="en-US" sz="2000" b="1" i="1" dirty="0">
                <a:sym typeface="+mn-ea"/>
              </a:rPr>
              <a:t> program </a:t>
            </a:r>
            <a:r>
              <a:rPr lang="en-US" sz="2000" b="1" i="1" dirty="0" err="1">
                <a:sym typeface="+mn-ea"/>
              </a:rPr>
              <a:t>sumber</a:t>
            </a:r>
            <a:r>
              <a:rPr lang="en-US" sz="2000" b="1" i="1" dirty="0">
                <a:sym typeface="+mn-ea"/>
              </a:rPr>
              <a:t> </a:t>
            </a:r>
            <a:r>
              <a:rPr lang="en-US" sz="2000" b="1" i="1" dirty="0" err="1">
                <a:sym typeface="+mn-ea"/>
              </a:rPr>
              <a:t>daya</a:t>
            </a:r>
            <a:r>
              <a:rPr lang="en-US" sz="2000" b="1" i="1" dirty="0">
                <a:sym typeface="+mn-ea"/>
              </a:rPr>
              <a:t> </a:t>
            </a:r>
            <a:r>
              <a:rPr lang="en-US" sz="2000" b="1" i="1" dirty="0" err="1">
                <a:sym typeface="+mn-ea"/>
              </a:rPr>
              <a:t>manusia</a:t>
            </a:r>
            <a:endParaRPr lang="en-SG" altLang="en-US" sz="2000" b="1" i="1" dirty="0">
              <a:solidFill>
                <a:srgbClr val="0070C0"/>
              </a:solidFill>
            </a:endParaRPr>
          </a:p>
        </p:txBody>
      </p:sp>
      <p:sp>
        <p:nvSpPr>
          <p:cNvPr id="3" name="Text Box 2"/>
          <p:cNvSpPr txBox="1"/>
          <p:nvPr/>
        </p:nvSpPr>
        <p:spPr>
          <a:xfrm>
            <a:off x="963930" y="838200"/>
            <a:ext cx="7682865" cy="1014730"/>
          </a:xfrm>
          <a:prstGeom prst="rect">
            <a:avLst/>
          </a:prstGeom>
          <a:noFill/>
        </p:spPr>
        <p:txBody>
          <a:bodyPr wrap="square" rtlCol="0">
            <a:spAutoFit/>
          </a:bodyPr>
          <a:lstStyle/>
          <a:p>
            <a:r>
              <a:rPr lang="en-US" sz="2000" dirty="0">
                <a:sym typeface="+mn-ea"/>
              </a:rPr>
              <a:t>1.1  </a:t>
            </a:r>
            <a:r>
              <a:rPr lang="en-US" sz="2000" dirty="0" err="1">
                <a:sym typeface="+mn-ea"/>
              </a:rPr>
              <a:t>Menyusun</a:t>
            </a:r>
            <a:r>
              <a:rPr lang="en-US" sz="2000" dirty="0">
                <a:sym typeface="+mn-ea"/>
              </a:rPr>
              <a:t> </a:t>
            </a:r>
            <a:r>
              <a:rPr lang="en-US" sz="2000" dirty="0" err="1">
                <a:sym typeface="+mn-ea"/>
              </a:rPr>
              <a:t>Kegiatan</a:t>
            </a:r>
            <a:r>
              <a:rPr lang="en-US" sz="2000" dirty="0">
                <a:sym typeface="+mn-ea"/>
              </a:rPr>
              <a:t>  </a:t>
            </a:r>
            <a:r>
              <a:rPr lang="en-US" sz="2000" dirty="0" err="1">
                <a:sym typeface="+mn-ea"/>
              </a:rPr>
              <a:t>pengelolaan</a:t>
            </a:r>
            <a:r>
              <a:rPr lang="en-US" sz="2000" dirty="0">
                <a:sym typeface="+mn-ea"/>
              </a:rPr>
              <a:t> </a:t>
            </a:r>
            <a:r>
              <a:rPr lang="en-US" sz="2000" dirty="0" err="1">
                <a:sym typeface="+mn-ea"/>
              </a:rPr>
              <a:t>sumber</a:t>
            </a:r>
            <a:r>
              <a:rPr lang="en-US" sz="2000" dirty="0">
                <a:sym typeface="+mn-ea"/>
              </a:rPr>
              <a:t> </a:t>
            </a:r>
            <a:r>
              <a:rPr lang="en-US" sz="2000" dirty="0" err="1">
                <a:sym typeface="+mn-ea"/>
              </a:rPr>
              <a:t>daya</a:t>
            </a:r>
            <a:r>
              <a:rPr lang="en-US" sz="2000" dirty="0">
                <a:sym typeface="+mn-ea"/>
              </a:rPr>
              <a:t> </a:t>
            </a:r>
            <a:r>
              <a:rPr lang="en-US" sz="2000" dirty="0" err="1">
                <a:sym typeface="+mn-ea"/>
              </a:rPr>
              <a:t>manusia</a:t>
            </a:r>
            <a:r>
              <a:rPr lang="en-US" sz="2000" dirty="0">
                <a:sym typeface="+mn-ea"/>
              </a:rPr>
              <a:t>.</a:t>
            </a:r>
            <a:endParaRPr lang="en-US" sz="2000" dirty="0"/>
          </a:p>
          <a:p>
            <a:r>
              <a:rPr lang="en-US" sz="2000" dirty="0">
                <a:sym typeface="+mn-ea"/>
              </a:rPr>
              <a:t>1.2  </a:t>
            </a:r>
            <a:r>
              <a:rPr lang="en-US" sz="2000" dirty="0" err="1">
                <a:sym typeface="+mn-ea"/>
              </a:rPr>
              <a:t>Menyusun</a:t>
            </a:r>
            <a:r>
              <a:rPr lang="en-US" sz="2000" dirty="0">
                <a:sym typeface="+mn-ea"/>
              </a:rPr>
              <a:t>  </a:t>
            </a:r>
            <a:r>
              <a:rPr lang="en-US" sz="2000" dirty="0" err="1">
                <a:sym typeface="+mn-ea"/>
              </a:rPr>
              <a:t>Struktur</a:t>
            </a:r>
            <a:r>
              <a:rPr lang="en-US" sz="2000" dirty="0">
                <a:sym typeface="+mn-ea"/>
              </a:rPr>
              <a:t> </a:t>
            </a:r>
            <a:r>
              <a:rPr lang="en-US" sz="2000" dirty="0" err="1">
                <a:sym typeface="+mn-ea"/>
              </a:rPr>
              <a:t>organisasi</a:t>
            </a:r>
            <a:r>
              <a:rPr lang="en-US" sz="2000" dirty="0">
                <a:sym typeface="+mn-ea"/>
              </a:rPr>
              <a:t> </a:t>
            </a:r>
            <a:r>
              <a:rPr lang="en-US" sz="2000" dirty="0" err="1">
                <a:sym typeface="+mn-ea"/>
              </a:rPr>
              <a:t>bagian</a:t>
            </a:r>
            <a:r>
              <a:rPr lang="en-US" sz="2000" dirty="0">
                <a:sym typeface="+mn-ea"/>
              </a:rPr>
              <a:t> </a:t>
            </a:r>
            <a:r>
              <a:rPr lang="en-US" sz="2000" dirty="0" err="1">
                <a:sym typeface="+mn-ea"/>
              </a:rPr>
              <a:t>sumber</a:t>
            </a:r>
            <a:r>
              <a:rPr lang="en-US" sz="2000" dirty="0">
                <a:sym typeface="+mn-ea"/>
              </a:rPr>
              <a:t> </a:t>
            </a:r>
            <a:r>
              <a:rPr lang="en-US" sz="2000" dirty="0" err="1">
                <a:sym typeface="+mn-ea"/>
              </a:rPr>
              <a:t>daya</a:t>
            </a:r>
            <a:r>
              <a:rPr lang="en-US" sz="2000" dirty="0">
                <a:sym typeface="+mn-ea"/>
              </a:rPr>
              <a:t> </a:t>
            </a:r>
            <a:r>
              <a:rPr lang="en-US" sz="2000" dirty="0" err="1">
                <a:sym typeface="+mn-ea"/>
              </a:rPr>
              <a:t>manusia</a:t>
            </a:r>
            <a:r>
              <a:rPr lang="en-US" sz="2000" dirty="0">
                <a:sym typeface="+mn-ea"/>
              </a:rPr>
              <a:t> .</a:t>
            </a:r>
            <a:endParaRPr lang="en-US" sz="2000" dirty="0"/>
          </a:p>
          <a:p>
            <a:r>
              <a:rPr lang="en-US" sz="2000" dirty="0">
                <a:sym typeface="+mn-ea"/>
              </a:rPr>
              <a:t>1.3  </a:t>
            </a:r>
            <a:r>
              <a:rPr lang="en-US" sz="2000" dirty="0" err="1">
                <a:sym typeface="+mn-ea"/>
              </a:rPr>
              <a:t>Menyusun</a:t>
            </a:r>
            <a:r>
              <a:rPr lang="en-US" sz="2000" dirty="0">
                <a:sym typeface="+mn-ea"/>
              </a:rPr>
              <a:t>  </a:t>
            </a:r>
            <a:r>
              <a:rPr lang="en-US" sz="2000" dirty="0" err="1">
                <a:sym typeface="+mn-ea"/>
              </a:rPr>
              <a:t>Jadwal</a:t>
            </a:r>
            <a:r>
              <a:rPr lang="en-US" sz="2000" dirty="0">
                <a:sym typeface="+mn-ea"/>
              </a:rPr>
              <a:t>  </a:t>
            </a:r>
            <a:r>
              <a:rPr lang="en-US" sz="2000" dirty="0" err="1">
                <a:sym typeface="+mn-ea"/>
              </a:rPr>
              <a:t>pelaksanaan</a:t>
            </a:r>
            <a:r>
              <a:rPr lang="en-US" sz="2000" dirty="0">
                <a:sym typeface="+mn-ea"/>
              </a:rPr>
              <a:t>  program </a:t>
            </a:r>
            <a:r>
              <a:rPr lang="en-US" sz="2000" dirty="0" err="1">
                <a:sym typeface="+mn-ea"/>
              </a:rPr>
              <a:t>sumber</a:t>
            </a:r>
            <a:r>
              <a:rPr lang="en-US" sz="2000" dirty="0">
                <a:sym typeface="+mn-ea"/>
              </a:rPr>
              <a:t> </a:t>
            </a:r>
            <a:r>
              <a:rPr lang="en-US" sz="2000" dirty="0" err="1">
                <a:sym typeface="+mn-ea"/>
              </a:rPr>
              <a:t>daya</a:t>
            </a:r>
            <a:r>
              <a:rPr lang="en-US" sz="2000" dirty="0">
                <a:sym typeface="+mn-ea"/>
              </a:rPr>
              <a:t> </a:t>
            </a:r>
            <a:r>
              <a:rPr lang="en-US" sz="2000" dirty="0" err="1">
                <a:sym typeface="+mn-ea"/>
              </a:rPr>
              <a:t>manusia</a:t>
            </a:r>
            <a:r>
              <a:rPr lang="en-US" sz="2000" dirty="0">
                <a:sym typeface="+mn-ea"/>
              </a:rPr>
              <a:t> .</a:t>
            </a:r>
            <a:endParaRPr lang="en-SG" altLang="en-US" sz="2000" dirty="0">
              <a:solidFill>
                <a:srgbClr val="0070C0"/>
              </a:solidFill>
            </a:endParaRPr>
          </a:p>
        </p:txBody>
      </p:sp>
      <p:sp>
        <p:nvSpPr>
          <p:cNvPr id="4" name="Text Box 3"/>
          <p:cNvSpPr txBox="1"/>
          <p:nvPr/>
        </p:nvSpPr>
        <p:spPr>
          <a:xfrm>
            <a:off x="963930" y="1981200"/>
            <a:ext cx="7684135" cy="1630045"/>
          </a:xfrm>
          <a:prstGeom prst="rect">
            <a:avLst/>
          </a:prstGeom>
          <a:noFill/>
        </p:spPr>
        <p:txBody>
          <a:bodyPr wrap="square" rtlCol="0">
            <a:spAutoFit/>
          </a:bodyPr>
          <a:lstStyle/>
          <a:p>
            <a:r>
              <a:rPr lang="en-US" sz="2000" b="1" u="sng" dirty="0">
                <a:sym typeface="+mn-ea"/>
              </a:rPr>
              <a:t>PENGERTIAN PERENCANAAN SDM</a:t>
            </a:r>
            <a:endParaRPr lang="en-US" sz="2000" b="1" u="sng" dirty="0"/>
          </a:p>
          <a:p>
            <a:pPr algn="just"/>
            <a:r>
              <a:rPr lang="en-US" sz="2000" dirty="0" err="1">
                <a:sym typeface="+mn-ea"/>
              </a:rPr>
              <a:t>Perencanaan</a:t>
            </a:r>
            <a:r>
              <a:rPr lang="en-US" sz="2000" dirty="0">
                <a:sym typeface="+mn-ea"/>
              </a:rPr>
              <a:t> </a:t>
            </a:r>
            <a:r>
              <a:rPr lang="en-US" sz="2000" dirty="0" err="1">
                <a:sym typeface="+mn-ea"/>
              </a:rPr>
              <a:t>sumber</a:t>
            </a:r>
            <a:r>
              <a:rPr lang="en-US" sz="2000" dirty="0">
                <a:sym typeface="+mn-ea"/>
              </a:rPr>
              <a:t> </a:t>
            </a:r>
            <a:r>
              <a:rPr lang="en-US" sz="2000" dirty="0" err="1">
                <a:sym typeface="+mn-ea"/>
              </a:rPr>
              <a:t>daya</a:t>
            </a:r>
            <a:r>
              <a:rPr lang="en-US" sz="2000" dirty="0">
                <a:sym typeface="+mn-ea"/>
              </a:rPr>
              <a:t> </a:t>
            </a:r>
            <a:r>
              <a:rPr lang="en-US" sz="2000" dirty="0" err="1">
                <a:sym typeface="+mn-ea"/>
              </a:rPr>
              <a:t>manusia</a:t>
            </a:r>
            <a:r>
              <a:rPr lang="en-US" sz="2000" dirty="0">
                <a:sym typeface="+mn-ea"/>
              </a:rPr>
              <a:t> ( SDM ) </a:t>
            </a:r>
            <a:r>
              <a:rPr lang="en-US" sz="2000" dirty="0" err="1">
                <a:sym typeface="+mn-ea"/>
              </a:rPr>
              <a:t>adalah</a:t>
            </a:r>
            <a:r>
              <a:rPr lang="en-US" sz="2000" dirty="0">
                <a:sym typeface="+mn-ea"/>
              </a:rPr>
              <a:t> proses </a:t>
            </a:r>
            <a:r>
              <a:rPr lang="en-US" sz="2000" dirty="0" err="1">
                <a:sym typeface="+mn-ea"/>
              </a:rPr>
              <a:t>perencanaan</a:t>
            </a:r>
            <a:r>
              <a:rPr lang="en-US" sz="2000" dirty="0">
                <a:sym typeface="+mn-ea"/>
              </a:rPr>
              <a:t> </a:t>
            </a:r>
            <a:r>
              <a:rPr lang="en-US" sz="2000" dirty="0" err="1">
                <a:sym typeface="+mn-ea"/>
              </a:rPr>
              <a:t>strategis</a:t>
            </a:r>
            <a:r>
              <a:rPr lang="en-US" sz="2000" dirty="0">
                <a:sym typeface="+mn-ea"/>
              </a:rPr>
              <a:t> yang </a:t>
            </a:r>
            <a:r>
              <a:rPr lang="en-US" sz="2000" dirty="0" err="1">
                <a:sym typeface="+mn-ea"/>
              </a:rPr>
              <a:t>dirancang</a:t>
            </a:r>
            <a:r>
              <a:rPr lang="en-US" sz="2000" dirty="0">
                <a:sym typeface="+mn-ea"/>
              </a:rPr>
              <a:t> </a:t>
            </a:r>
            <a:r>
              <a:rPr lang="en-US" sz="2000" dirty="0" err="1">
                <a:sym typeface="+mn-ea"/>
              </a:rPr>
              <a:t>untuk</a:t>
            </a:r>
            <a:r>
              <a:rPr lang="en-US" sz="2000" dirty="0">
                <a:sym typeface="+mn-ea"/>
              </a:rPr>
              <a:t> </a:t>
            </a:r>
            <a:r>
              <a:rPr lang="en-US" sz="2000" dirty="0" err="1">
                <a:sym typeface="+mn-ea"/>
              </a:rPr>
              <a:t>memastikan</a:t>
            </a:r>
            <a:r>
              <a:rPr lang="en-US" sz="2000" dirty="0">
                <a:sym typeface="+mn-ea"/>
              </a:rPr>
              <a:t> </a:t>
            </a:r>
            <a:r>
              <a:rPr lang="en-US" sz="2000" dirty="0" err="1">
                <a:sym typeface="+mn-ea"/>
              </a:rPr>
              <a:t>bahwa</a:t>
            </a:r>
            <a:r>
              <a:rPr lang="en-US" sz="2000" dirty="0">
                <a:sym typeface="+mn-ea"/>
              </a:rPr>
              <a:t> </a:t>
            </a:r>
            <a:r>
              <a:rPr lang="en-US" sz="2000" dirty="0" err="1">
                <a:sym typeface="+mn-ea"/>
              </a:rPr>
              <a:t>organisasi</a:t>
            </a:r>
            <a:r>
              <a:rPr lang="en-US" sz="2000" dirty="0">
                <a:sym typeface="+mn-ea"/>
              </a:rPr>
              <a:t> </a:t>
            </a:r>
            <a:r>
              <a:rPr lang="en-US" sz="2000" dirty="0" err="1">
                <a:sym typeface="+mn-ea"/>
              </a:rPr>
              <a:t>memiliki</a:t>
            </a:r>
            <a:r>
              <a:rPr lang="en-US" sz="2000" dirty="0">
                <a:sym typeface="+mn-ea"/>
              </a:rPr>
              <a:t> </a:t>
            </a:r>
            <a:r>
              <a:rPr lang="en-US" sz="2000" dirty="0" err="1">
                <a:sym typeface="+mn-ea"/>
              </a:rPr>
              <a:t>jumlah</a:t>
            </a:r>
            <a:r>
              <a:rPr lang="en-US" sz="2000" dirty="0">
                <a:sym typeface="+mn-ea"/>
              </a:rPr>
              <a:t>, </a:t>
            </a:r>
            <a:r>
              <a:rPr lang="en-US" sz="2000" dirty="0" err="1">
                <a:sym typeface="+mn-ea"/>
              </a:rPr>
              <a:t>jenis</a:t>
            </a:r>
            <a:r>
              <a:rPr lang="en-US" sz="2000" dirty="0">
                <a:sym typeface="+mn-ea"/>
              </a:rPr>
              <a:t>, </a:t>
            </a:r>
            <a:r>
              <a:rPr lang="en-US" sz="2000" dirty="0" err="1">
                <a:sym typeface="+mn-ea"/>
              </a:rPr>
              <a:t>dan</a:t>
            </a:r>
            <a:r>
              <a:rPr lang="en-US" sz="2000" dirty="0">
                <a:sym typeface="+mn-ea"/>
              </a:rPr>
              <a:t> </a:t>
            </a:r>
            <a:r>
              <a:rPr lang="en-US" sz="2000" dirty="0" err="1">
                <a:sym typeface="+mn-ea"/>
              </a:rPr>
              <a:t>kualitas</a:t>
            </a:r>
            <a:r>
              <a:rPr lang="en-US" sz="2000" dirty="0">
                <a:sym typeface="+mn-ea"/>
              </a:rPr>
              <a:t> </a:t>
            </a:r>
            <a:r>
              <a:rPr lang="en-US" sz="2000" dirty="0" err="1">
                <a:sym typeface="+mn-ea"/>
              </a:rPr>
              <a:t>karyawan</a:t>
            </a:r>
            <a:r>
              <a:rPr lang="en-US" sz="2000" dirty="0">
                <a:sym typeface="+mn-ea"/>
              </a:rPr>
              <a:t> yang </a:t>
            </a:r>
            <a:r>
              <a:rPr lang="en-US" sz="2000" dirty="0" err="1">
                <a:sym typeface="+mn-ea"/>
              </a:rPr>
              <a:t>tepat</a:t>
            </a:r>
            <a:r>
              <a:rPr lang="en-US" sz="2000" dirty="0">
                <a:sym typeface="+mn-ea"/>
              </a:rPr>
              <a:t> </a:t>
            </a:r>
            <a:r>
              <a:rPr lang="en-US" sz="2000" dirty="0" err="1">
                <a:sym typeface="+mn-ea"/>
              </a:rPr>
              <a:t>pada</a:t>
            </a:r>
            <a:r>
              <a:rPr lang="en-US" sz="2000" dirty="0">
                <a:sym typeface="+mn-ea"/>
              </a:rPr>
              <a:t> </a:t>
            </a:r>
            <a:r>
              <a:rPr lang="en-US" sz="2000" dirty="0" err="1">
                <a:sym typeface="+mn-ea"/>
              </a:rPr>
              <a:t>saat</a:t>
            </a:r>
            <a:r>
              <a:rPr lang="en-US" sz="2000" dirty="0">
                <a:sym typeface="+mn-ea"/>
              </a:rPr>
              <a:t> yang </a:t>
            </a:r>
            <a:r>
              <a:rPr lang="en-US" sz="2000" dirty="0" err="1">
                <a:sym typeface="+mn-ea"/>
              </a:rPr>
              <a:t>tepat</a:t>
            </a:r>
            <a:r>
              <a:rPr lang="en-US" sz="2000" dirty="0">
                <a:sym typeface="+mn-ea"/>
              </a:rPr>
              <a:t> </a:t>
            </a:r>
            <a:r>
              <a:rPr lang="en-US" sz="2000" dirty="0" err="1">
                <a:sym typeface="+mn-ea"/>
              </a:rPr>
              <a:t>untuk</a:t>
            </a:r>
            <a:r>
              <a:rPr lang="en-US" sz="2000" dirty="0">
                <a:sym typeface="+mn-ea"/>
              </a:rPr>
              <a:t> </a:t>
            </a:r>
            <a:r>
              <a:rPr lang="en-US" sz="2000" dirty="0" err="1">
                <a:sym typeface="+mn-ea"/>
              </a:rPr>
              <a:t>mencapai</a:t>
            </a:r>
            <a:r>
              <a:rPr lang="en-US" sz="2000" dirty="0">
                <a:sym typeface="+mn-ea"/>
              </a:rPr>
              <a:t> </a:t>
            </a:r>
            <a:r>
              <a:rPr lang="en-US" sz="2000" dirty="0" err="1">
                <a:sym typeface="+mn-ea"/>
              </a:rPr>
              <a:t>tujuan</a:t>
            </a:r>
            <a:r>
              <a:rPr lang="en-US" sz="2000" dirty="0">
                <a:sym typeface="+mn-ea"/>
              </a:rPr>
              <a:t> </a:t>
            </a:r>
            <a:r>
              <a:rPr lang="en-US" sz="2000" dirty="0" err="1">
                <a:sym typeface="+mn-ea"/>
              </a:rPr>
              <a:t>bisnisnya</a:t>
            </a:r>
            <a:r>
              <a:rPr lang="en-US" sz="2000" dirty="0">
                <a:sym typeface="+mn-ea"/>
              </a:rPr>
              <a:t>.</a:t>
            </a:r>
            <a:endParaRPr lang="en-SG" altLang="en-US" sz="2000" dirty="0">
              <a:solidFill>
                <a:srgbClr val="0070C0"/>
              </a:solidFill>
            </a:endParaRPr>
          </a:p>
        </p:txBody>
      </p:sp>
      <p:sp>
        <p:nvSpPr>
          <p:cNvPr id="5" name="Text Box 4"/>
          <p:cNvSpPr txBox="1"/>
          <p:nvPr/>
        </p:nvSpPr>
        <p:spPr>
          <a:xfrm>
            <a:off x="1143000" y="3611245"/>
            <a:ext cx="7432675" cy="368300"/>
          </a:xfrm>
          <a:prstGeom prst="rect">
            <a:avLst/>
          </a:prstGeom>
          <a:noFill/>
        </p:spPr>
        <p:txBody>
          <a:bodyPr wrap="square" rtlCol="0" anchor="t">
            <a:spAutoFit/>
          </a:bodyPr>
          <a:lstStyle/>
          <a:p>
            <a:r>
              <a:rPr lang="en-US" b="1" dirty="0" err="1">
                <a:solidFill>
                  <a:srgbClr val="232933"/>
                </a:solidFill>
                <a:effectLst/>
                <a:latin typeface="Times New Roman" panose="02020603050405020304" charset="0"/>
                <a:cs typeface="Times New Roman" panose="02020603050405020304" charset="0"/>
                <a:sym typeface="+mn-ea"/>
              </a:rPr>
              <a:t>Fungsi</a:t>
            </a:r>
            <a:r>
              <a:rPr lang="en-US" b="1" dirty="0">
                <a:solidFill>
                  <a:srgbClr val="232933"/>
                </a:solidFill>
                <a:effectLst/>
                <a:latin typeface="Times New Roman" panose="02020603050405020304" charset="0"/>
                <a:cs typeface="Times New Roman" panose="02020603050405020304" charset="0"/>
                <a:sym typeface="+mn-ea"/>
              </a:rPr>
              <a:t> </a:t>
            </a:r>
            <a:r>
              <a:rPr lang="en-US" b="1" dirty="0" err="1">
                <a:solidFill>
                  <a:srgbClr val="232933"/>
                </a:solidFill>
                <a:effectLst/>
                <a:latin typeface="Times New Roman" panose="02020603050405020304" charset="0"/>
                <a:cs typeface="Times New Roman" panose="02020603050405020304" charset="0"/>
                <a:sym typeface="+mn-ea"/>
              </a:rPr>
              <a:t>dan</a:t>
            </a:r>
            <a:r>
              <a:rPr lang="en-US" b="1" dirty="0">
                <a:solidFill>
                  <a:srgbClr val="232933"/>
                </a:solidFill>
                <a:effectLst/>
                <a:latin typeface="Times New Roman" panose="02020603050405020304" charset="0"/>
                <a:cs typeface="Times New Roman" panose="02020603050405020304" charset="0"/>
                <a:sym typeface="+mn-ea"/>
              </a:rPr>
              <a:t> </a:t>
            </a:r>
            <a:r>
              <a:rPr lang="en-US" b="1" dirty="0" err="1">
                <a:solidFill>
                  <a:srgbClr val="232933"/>
                </a:solidFill>
                <a:effectLst/>
                <a:latin typeface="Times New Roman" panose="02020603050405020304" charset="0"/>
                <a:cs typeface="Times New Roman" panose="02020603050405020304" charset="0"/>
                <a:sym typeface="+mn-ea"/>
              </a:rPr>
              <a:t>Tujuan</a:t>
            </a:r>
            <a:r>
              <a:rPr lang="en-US" b="1" dirty="0">
                <a:solidFill>
                  <a:srgbClr val="232933"/>
                </a:solidFill>
                <a:effectLst/>
                <a:latin typeface="Times New Roman" panose="02020603050405020304" charset="0"/>
                <a:cs typeface="Times New Roman" panose="02020603050405020304" charset="0"/>
                <a:sym typeface="+mn-ea"/>
              </a:rPr>
              <a:t> </a:t>
            </a:r>
            <a:r>
              <a:rPr lang="en-US" b="1" dirty="0" err="1">
                <a:solidFill>
                  <a:srgbClr val="232933"/>
                </a:solidFill>
                <a:effectLst/>
                <a:latin typeface="Times New Roman" panose="02020603050405020304" charset="0"/>
                <a:cs typeface="Times New Roman" panose="02020603050405020304" charset="0"/>
                <a:sym typeface="+mn-ea"/>
              </a:rPr>
              <a:t>dari</a:t>
            </a:r>
            <a:r>
              <a:rPr lang="en-US" b="1" dirty="0">
                <a:solidFill>
                  <a:srgbClr val="232933"/>
                </a:solidFill>
                <a:effectLst/>
                <a:latin typeface="Times New Roman" panose="02020603050405020304" charset="0"/>
                <a:cs typeface="Times New Roman" panose="02020603050405020304" charset="0"/>
                <a:sym typeface="+mn-ea"/>
              </a:rPr>
              <a:t> </a:t>
            </a:r>
            <a:r>
              <a:rPr lang="en-US" b="1" dirty="0" err="1">
                <a:solidFill>
                  <a:srgbClr val="232933"/>
                </a:solidFill>
                <a:effectLst/>
                <a:latin typeface="Times New Roman" panose="02020603050405020304" charset="0"/>
                <a:cs typeface="Times New Roman" panose="02020603050405020304" charset="0"/>
                <a:sym typeface="+mn-ea"/>
              </a:rPr>
              <a:t>Perencanaan</a:t>
            </a:r>
            <a:r>
              <a:rPr lang="en-US" b="1" dirty="0">
                <a:solidFill>
                  <a:srgbClr val="232933"/>
                </a:solidFill>
                <a:effectLst/>
                <a:latin typeface="Times New Roman" panose="02020603050405020304" charset="0"/>
                <a:cs typeface="Times New Roman" panose="02020603050405020304" charset="0"/>
                <a:sym typeface="+mn-ea"/>
              </a:rPr>
              <a:t> SDM</a:t>
            </a:r>
            <a:endParaRPr lang="en-US" altLang="en-US" sz="2000" b="1" dirty="0">
              <a:solidFill>
                <a:srgbClr val="232933"/>
              </a:solidFill>
              <a:effectLst/>
              <a:latin typeface="Times New Roman" panose="02020603050405020304" charset="0"/>
              <a:cs typeface="Times New Roman" panose="02020603050405020304" charset="0"/>
              <a:sym typeface="+mn-ea"/>
            </a:endParaRPr>
          </a:p>
        </p:txBody>
      </p:sp>
      <p:sp>
        <p:nvSpPr>
          <p:cNvPr id="6" name="Text Box 5"/>
          <p:cNvSpPr txBox="1"/>
          <p:nvPr/>
        </p:nvSpPr>
        <p:spPr>
          <a:xfrm>
            <a:off x="1090930" y="3981450"/>
            <a:ext cx="7557135" cy="1198880"/>
          </a:xfrm>
          <a:prstGeom prst="rect">
            <a:avLst/>
          </a:prstGeom>
          <a:noFill/>
        </p:spPr>
        <p:txBody>
          <a:bodyPr wrap="square" rtlCol="0" anchor="t">
            <a:spAutoFit/>
          </a:bodyPr>
          <a:lstStyle/>
          <a:p>
            <a:pPr indent="0">
              <a:buFont typeface="Wingdings" panose="05000000000000000000" pitchFamily="2" charset="2"/>
              <a:buNone/>
            </a:pPr>
            <a:r>
              <a:rPr lang="en-SG" altLang="en-US" b="1" i="1" dirty="0" err="1">
                <a:sym typeface="+mn-ea"/>
              </a:rPr>
              <a:t>a.</a:t>
            </a:r>
            <a:r>
              <a:rPr lang="en-US" b="1" i="1" dirty="0" err="1">
                <a:sym typeface="+mn-ea"/>
              </a:rPr>
              <a:t>Memastikan</a:t>
            </a:r>
            <a:r>
              <a:rPr lang="en-US" b="1" i="1" dirty="0">
                <a:sym typeface="+mn-ea"/>
              </a:rPr>
              <a:t> </a:t>
            </a:r>
            <a:r>
              <a:rPr lang="en-US" b="1" i="1" dirty="0" err="1">
                <a:sym typeface="+mn-ea"/>
              </a:rPr>
              <a:t>Ketersediaan</a:t>
            </a:r>
            <a:r>
              <a:rPr lang="en-US" b="1" i="1" dirty="0">
                <a:sym typeface="+mn-ea"/>
              </a:rPr>
              <a:t> </a:t>
            </a:r>
            <a:r>
              <a:rPr lang="en-US" b="1" i="1" dirty="0" err="1">
                <a:sym typeface="+mn-ea"/>
              </a:rPr>
              <a:t>Tenaga</a:t>
            </a:r>
            <a:r>
              <a:rPr lang="en-US" b="1" i="1" dirty="0">
                <a:sym typeface="+mn-ea"/>
              </a:rPr>
              <a:t> </a:t>
            </a:r>
            <a:r>
              <a:rPr lang="en-US" b="1" i="1" dirty="0" err="1">
                <a:sym typeface="+mn-ea"/>
              </a:rPr>
              <a:t>Kerja</a:t>
            </a:r>
            <a:endParaRPr lang="en-US" dirty="0"/>
          </a:p>
          <a:p>
            <a:r>
              <a:rPr lang="en-US" dirty="0" err="1">
                <a:sym typeface="+mn-ea"/>
              </a:rPr>
              <a:t>Perencanaan</a:t>
            </a:r>
            <a:r>
              <a:rPr lang="en-US" dirty="0">
                <a:sym typeface="+mn-ea"/>
              </a:rPr>
              <a:t> SDM </a:t>
            </a:r>
            <a:r>
              <a:rPr lang="en-US" dirty="0" err="1">
                <a:sym typeface="+mn-ea"/>
              </a:rPr>
              <a:t>bertujuan</a:t>
            </a:r>
            <a:r>
              <a:rPr lang="en-US" dirty="0">
                <a:sym typeface="+mn-ea"/>
              </a:rPr>
              <a:t> </a:t>
            </a:r>
            <a:r>
              <a:rPr lang="en-US" dirty="0" err="1">
                <a:sym typeface="+mn-ea"/>
              </a:rPr>
              <a:t>untuk</a:t>
            </a:r>
            <a:r>
              <a:rPr lang="en-US" dirty="0">
                <a:sym typeface="+mn-ea"/>
              </a:rPr>
              <a:t> </a:t>
            </a:r>
            <a:r>
              <a:rPr lang="en-US" dirty="0" err="1">
                <a:sym typeface="+mn-ea"/>
              </a:rPr>
              <a:t>memastikan</a:t>
            </a:r>
            <a:r>
              <a:rPr lang="en-US" dirty="0">
                <a:sym typeface="+mn-ea"/>
              </a:rPr>
              <a:t> </a:t>
            </a:r>
            <a:r>
              <a:rPr lang="en-US" dirty="0" err="1">
                <a:sym typeface="+mn-ea"/>
              </a:rPr>
              <a:t>bahwa</a:t>
            </a:r>
            <a:r>
              <a:rPr lang="en-US" dirty="0">
                <a:sym typeface="+mn-ea"/>
              </a:rPr>
              <a:t> </a:t>
            </a:r>
            <a:r>
              <a:rPr lang="en-US" dirty="0" err="1">
                <a:sym typeface="+mn-ea"/>
              </a:rPr>
              <a:t>perusahaan</a:t>
            </a:r>
            <a:r>
              <a:rPr lang="en-US" dirty="0">
                <a:sym typeface="+mn-ea"/>
              </a:rPr>
              <a:t> </a:t>
            </a:r>
            <a:r>
              <a:rPr lang="en-US" dirty="0" err="1">
                <a:sym typeface="+mn-ea"/>
              </a:rPr>
              <a:t>memiliki</a:t>
            </a:r>
            <a:r>
              <a:rPr lang="en-US" dirty="0">
                <a:sym typeface="+mn-ea"/>
              </a:rPr>
              <a:t> </a:t>
            </a:r>
            <a:r>
              <a:rPr lang="en-US" dirty="0" err="1">
                <a:sym typeface="+mn-ea"/>
              </a:rPr>
              <a:t>jumlah</a:t>
            </a:r>
            <a:r>
              <a:rPr lang="en-US" dirty="0">
                <a:sym typeface="+mn-ea"/>
              </a:rPr>
              <a:t> </a:t>
            </a:r>
            <a:r>
              <a:rPr lang="en-US" dirty="0" err="1">
                <a:sym typeface="+mn-ea"/>
              </a:rPr>
              <a:t>karyawan</a:t>
            </a:r>
            <a:r>
              <a:rPr lang="en-US" dirty="0">
                <a:sym typeface="+mn-ea"/>
              </a:rPr>
              <a:t> yang </a:t>
            </a:r>
            <a:r>
              <a:rPr lang="en-US" dirty="0" err="1">
                <a:sym typeface="+mn-ea"/>
              </a:rPr>
              <a:t>cukup</a:t>
            </a:r>
            <a:r>
              <a:rPr lang="en-US" dirty="0">
                <a:sym typeface="+mn-ea"/>
              </a:rPr>
              <a:t> </a:t>
            </a:r>
            <a:r>
              <a:rPr lang="en-US" dirty="0" err="1">
                <a:sym typeface="+mn-ea"/>
              </a:rPr>
              <a:t>untuk</a:t>
            </a:r>
            <a:r>
              <a:rPr lang="en-US" dirty="0">
                <a:sym typeface="+mn-ea"/>
              </a:rPr>
              <a:t> </a:t>
            </a:r>
            <a:r>
              <a:rPr lang="en-US" dirty="0" err="1">
                <a:sym typeface="+mn-ea"/>
              </a:rPr>
              <a:t>memenuhi</a:t>
            </a:r>
            <a:r>
              <a:rPr lang="en-US" dirty="0">
                <a:sym typeface="+mn-ea"/>
              </a:rPr>
              <a:t> </a:t>
            </a:r>
            <a:r>
              <a:rPr lang="en-US" dirty="0" err="1">
                <a:sym typeface="+mn-ea"/>
              </a:rPr>
              <a:t>kebutuhan</a:t>
            </a:r>
            <a:r>
              <a:rPr lang="en-US" dirty="0">
                <a:sym typeface="+mn-ea"/>
              </a:rPr>
              <a:t> </a:t>
            </a:r>
            <a:r>
              <a:rPr lang="en-US" dirty="0" err="1">
                <a:sym typeface="+mn-ea"/>
              </a:rPr>
              <a:t>bisnis</a:t>
            </a:r>
            <a:r>
              <a:rPr lang="en-US" dirty="0">
                <a:sym typeface="+mn-ea"/>
              </a:rPr>
              <a:t> </a:t>
            </a:r>
            <a:r>
              <a:rPr lang="en-US" dirty="0" err="1">
                <a:sym typeface="+mn-ea"/>
              </a:rPr>
              <a:t>saat</a:t>
            </a:r>
            <a:r>
              <a:rPr lang="en-US" dirty="0">
                <a:sym typeface="+mn-ea"/>
              </a:rPr>
              <a:t> </a:t>
            </a:r>
            <a:r>
              <a:rPr lang="en-US" dirty="0" err="1">
                <a:sym typeface="+mn-ea"/>
              </a:rPr>
              <a:t>ini</a:t>
            </a:r>
            <a:r>
              <a:rPr lang="en-US" dirty="0">
                <a:sym typeface="+mn-ea"/>
              </a:rPr>
              <a:t> </a:t>
            </a:r>
            <a:r>
              <a:rPr lang="en-US" dirty="0" err="1">
                <a:sym typeface="+mn-ea"/>
              </a:rPr>
              <a:t>dan</a:t>
            </a:r>
            <a:r>
              <a:rPr lang="en-US" dirty="0">
                <a:sym typeface="+mn-ea"/>
              </a:rPr>
              <a:t> </a:t>
            </a:r>
            <a:r>
              <a:rPr lang="en-US" dirty="0" err="1">
                <a:sym typeface="+mn-ea"/>
              </a:rPr>
              <a:t>masa</a:t>
            </a:r>
            <a:r>
              <a:rPr lang="en-US" dirty="0">
                <a:sym typeface="+mn-ea"/>
              </a:rPr>
              <a:t> </a:t>
            </a:r>
            <a:r>
              <a:rPr lang="en-US" dirty="0" err="1">
                <a:sym typeface="+mn-ea"/>
              </a:rPr>
              <a:t>depan</a:t>
            </a:r>
            <a:r>
              <a:rPr lang="en-US" dirty="0">
                <a:sym typeface="+mn-ea"/>
              </a:rPr>
              <a:t>.</a:t>
            </a:r>
            <a:endParaRPr lang="en-US" altLang="en-US" sz="2000" dirty="0">
              <a:solidFill>
                <a:srgbClr val="0070C0"/>
              </a:solidFill>
              <a:sym typeface="+mn-ea"/>
            </a:endParaRPr>
          </a:p>
        </p:txBody>
      </p:sp>
      <p:sp>
        <p:nvSpPr>
          <p:cNvPr id="7" name="Text Box 6"/>
          <p:cNvSpPr txBox="1"/>
          <p:nvPr/>
        </p:nvSpPr>
        <p:spPr>
          <a:xfrm>
            <a:off x="1143000" y="5105400"/>
            <a:ext cx="7432675" cy="1642110"/>
          </a:xfrm>
          <a:prstGeom prst="rect">
            <a:avLst/>
          </a:prstGeom>
          <a:noFill/>
        </p:spPr>
        <p:txBody>
          <a:bodyPr wrap="square" rtlCol="0">
            <a:noAutofit/>
          </a:bodyPr>
          <a:lstStyle/>
          <a:p>
            <a:pPr indent="0">
              <a:buFont typeface="Wingdings" panose="05000000000000000000" pitchFamily="2" charset="2"/>
              <a:buNone/>
            </a:pPr>
            <a:r>
              <a:rPr lang="en-SG" altLang="en-US" sz="2000" b="1" i="1" dirty="0" err="1">
                <a:sym typeface="+mn-ea"/>
              </a:rPr>
              <a:t>b.</a:t>
            </a:r>
            <a:r>
              <a:rPr lang="en-US" b="1" i="1" dirty="0" err="1">
                <a:sym typeface="+mn-ea"/>
              </a:rPr>
              <a:t>Menentukan</a:t>
            </a:r>
            <a:r>
              <a:rPr lang="en-US" b="1" i="1" dirty="0">
                <a:sym typeface="+mn-ea"/>
              </a:rPr>
              <a:t> </a:t>
            </a:r>
            <a:r>
              <a:rPr lang="en-US" b="1" i="1" dirty="0" err="1">
                <a:sym typeface="+mn-ea"/>
              </a:rPr>
              <a:t>Kebutuhan</a:t>
            </a:r>
            <a:r>
              <a:rPr lang="en-US" b="1" i="1" dirty="0">
                <a:sym typeface="+mn-ea"/>
              </a:rPr>
              <a:t> SDM</a:t>
            </a:r>
            <a:endParaRPr lang="en-US" b="1" i="1" dirty="0"/>
          </a:p>
          <a:p>
            <a:r>
              <a:rPr lang="en-US" dirty="0" err="1">
                <a:sym typeface="+mn-ea"/>
              </a:rPr>
              <a:t>Perencanaan</a:t>
            </a:r>
            <a:r>
              <a:rPr lang="en-US" dirty="0">
                <a:sym typeface="+mn-ea"/>
              </a:rPr>
              <a:t> SDM </a:t>
            </a:r>
            <a:r>
              <a:rPr lang="en-US" dirty="0" err="1">
                <a:sym typeface="+mn-ea"/>
              </a:rPr>
              <a:t>membantu</a:t>
            </a:r>
            <a:r>
              <a:rPr lang="en-US" dirty="0">
                <a:sym typeface="+mn-ea"/>
              </a:rPr>
              <a:t> </a:t>
            </a:r>
            <a:r>
              <a:rPr lang="en-US" dirty="0" err="1">
                <a:sym typeface="+mn-ea"/>
              </a:rPr>
              <a:t>perusahaan</a:t>
            </a:r>
            <a:r>
              <a:rPr lang="en-US" dirty="0">
                <a:sym typeface="+mn-ea"/>
              </a:rPr>
              <a:t> </a:t>
            </a:r>
            <a:r>
              <a:rPr lang="en-US" dirty="0" err="1">
                <a:sym typeface="+mn-ea"/>
              </a:rPr>
              <a:t>dalam</a:t>
            </a:r>
            <a:r>
              <a:rPr lang="en-US" dirty="0">
                <a:sym typeface="+mn-ea"/>
              </a:rPr>
              <a:t> </a:t>
            </a:r>
            <a:r>
              <a:rPr lang="en-US" dirty="0" err="1">
                <a:sym typeface="+mn-ea"/>
              </a:rPr>
              <a:t>menentukan</a:t>
            </a:r>
            <a:r>
              <a:rPr lang="en-US" dirty="0">
                <a:sym typeface="+mn-ea"/>
              </a:rPr>
              <a:t> </a:t>
            </a:r>
            <a:r>
              <a:rPr lang="en-US" dirty="0" err="1">
                <a:sym typeface="+mn-ea"/>
              </a:rPr>
              <a:t>jenis</a:t>
            </a:r>
            <a:r>
              <a:rPr lang="en-SG" altLang="en-US" dirty="0" err="1">
                <a:sym typeface="+mn-ea"/>
              </a:rPr>
              <a:t> </a:t>
            </a:r>
            <a:r>
              <a:rPr lang="en-US" dirty="0" err="1">
                <a:sym typeface="+mn-ea"/>
              </a:rPr>
              <a:t>karyawan</a:t>
            </a:r>
            <a:r>
              <a:rPr lang="en-US" dirty="0">
                <a:sym typeface="+mn-ea"/>
              </a:rPr>
              <a:t> yang </a:t>
            </a:r>
            <a:r>
              <a:rPr lang="en-US" dirty="0" err="1">
                <a:sym typeface="+mn-ea"/>
              </a:rPr>
              <a:t>dibutuhkan</a:t>
            </a:r>
            <a:r>
              <a:rPr lang="en-US" dirty="0">
                <a:sym typeface="+mn-ea"/>
              </a:rPr>
              <a:t>, </a:t>
            </a:r>
            <a:r>
              <a:rPr lang="en-US" dirty="0" err="1">
                <a:sym typeface="+mn-ea"/>
              </a:rPr>
              <a:t>keterampilan</a:t>
            </a:r>
            <a:r>
              <a:rPr lang="en-US" dirty="0">
                <a:sym typeface="+mn-ea"/>
              </a:rPr>
              <a:t> </a:t>
            </a:r>
            <a:r>
              <a:rPr lang="en-US" dirty="0" err="1">
                <a:sym typeface="+mn-ea"/>
              </a:rPr>
              <a:t>dan</a:t>
            </a:r>
            <a:r>
              <a:rPr lang="en-US" dirty="0">
                <a:sym typeface="+mn-ea"/>
              </a:rPr>
              <a:t> </a:t>
            </a:r>
            <a:r>
              <a:rPr lang="en-US" dirty="0" err="1">
                <a:sym typeface="+mn-ea"/>
              </a:rPr>
              <a:t>pengetahuan</a:t>
            </a:r>
            <a:r>
              <a:rPr lang="en-US" dirty="0">
                <a:sym typeface="+mn-ea"/>
              </a:rPr>
              <a:t> yang </a:t>
            </a:r>
            <a:r>
              <a:rPr lang="en-US" dirty="0" err="1">
                <a:sym typeface="+mn-ea"/>
              </a:rPr>
              <a:t>dibutuhkan</a:t>
            </a:r>
            <a:r>
              <a:rPr lang="en-US" dirty="0">
                <a:sym typeface="+mn-ea"/>
              </a:rPr>
              <a:t>, </a:t>
            </a:r>
            <a:r>
              <a:rPr lang="en-US" dirty="0" err="1">
                <a:sym typeface="+mn-ea"/>
              </a:rPr>
              <a:t>serta</a:t>
            </a:r>
            <a:r>
              <a:rPr lang="en-US" dirty="0">
                <a:sym typeface="+mn-ea"/>
              </a:rPr>
              <a:t> </a:t>
            </a:r>
            <a:r>
              <a:rPr lang="en-US" dirty="0" err="1">
                <a:sym typeface="+mn-ea"/>
              </a:rPr>
              <a:t>jumlah</a:t>
            </a:r>
            <a:r>
              <a:rPr lang="en-US" dirty="0">
                <a:sym typeface="+mn-ea"/>
              </a:rPr>
              <a:t> </a:t>
            </a:r>
            <a:r>
              <a:rPr lang="en-US" dirty="0" err="1">
                <a:sym typeface="+mn-ea"/>
              </a:rPr>
              <a:t>karyawan</a:t>
            </a:r>
            <a:r>
              <a:rPr lang="en-US" dirty="0">
                <a:sym typeface="+mn-ea"/>
              </a:rPr>
              <a:t> yang </a:t>
            </a:r>
            <a:r>
              <a:rPr lang="en-US" dirty="0" err="1">
                <a:sym typeface="+mn-ea"/>
              </a:rPr>
              <a:t>dibutuhkan</a:t>
            </a:r>
            <a:r>
              <a:rPr lang="en-US" dirty="0">
                <a:sym typeface="+mn-ea"/>
              </a:rPr>
              <a:t> </a:t>
            </a:r>
            <a:r>
              <a:rPr lang="en-US" dirty="0" err="1">
                <a:sym typeface="+mn-ea"/>
              </a:rPr>
              <a:t>dalam</a:t>
            </a:r>
            <a:r>
              <a:rPr lang="en-US" dirty="0">
                <a:sym typeface="+mn-ea"/>
              </a:rPr>
              <a:t> </a:t>
            </a:r>
            <a:r>
              <a:rPr lang="en-US" dirty="0" err="1">
                <a:sym typeface="+mn-ea"/>
              </a:rPr>
              <a:t>berbagai</a:t>
            </a:r>
            <a:r>
              <a:rPr lang="en-US" dirty="0">
                <a:sym typeface="+mn-ea"/>
              </a:rPr>
              <a:t> </a:t>
            </a:r>
            <a:r>
              <a:rPr lang="en-US" dirty="0" err="1">
                <a:sym typeface="+mn-ea"/>
              </a:rPr>
              <a:t>posisi</a:t>
            </a:r>
            <a:r>
              <a:rPr lang="en-US" dirty="0">
                <a:sym typeface="+mn-ea"/>
              </a:rPr>
              <a:t> di </a:t>
            </a:r>
            <a:r>
              <a:rPr lang="en-US" dirty="0" err="1">
                <a:sym typeface="+mn-ea"/>
              </a:rPr>
              <a:t>organisasi</a:t>
            </a:r>
            <a:r>
              <a:rPr lang="en-US" dirty="0">
                <a:sym typeface="+mn-ea"/>
              </a:rPr>
              <a:t>.</a:t>
            </a:r>
            <a:endParaRPr lang="en-SG" altLang="en-US" dirty="0">
              <a:solidFill>
                <a:srgbClr val="0070C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838200" y="457200"/>
            <a:ext cx="7790180" cy="1229995"/>
          </a:xfrm>
          <a:prstGeom prst="rect">
            <a:avLst/>
          </a:prstGeom>
          <a:noFill/>
        </p:spPr>
        <p:txBody>
          <a:bodyPr wrap="square" rtlCol="0">
            <a:spAutoFit/>
          </a:bodyPr>
          <a:lstStyle/>
          <a:p>
            <a:pPr indent="0">
              <a:buFont typeface="Wingdings" panose="05000000000000000000" pitchFamily="2" charset="2"/>
              <a:buNone/>
            </a:pPr>
            <a:r>
              <a:rPr lang="en-SG" altLang="en-US" sz="2000" b="1" i="1" u="sng" dirty="0" err="1">
                <a:sym typeface="+mn-ea"/>
              </a:rPr>
              <a:t>c.</a:t>
            </a:r>
            <a:r>
              <a:rPr lang="en-US" sz="2000" b="1" i="1" u="sng" dirty="0" err="1">
                <a:sym typeface="+mn-ea"/>
              </a:rPr>
              <a:t>Meningkatkan</a:t>
            </a:r>
            <a:r>
              <a:rPr lang="en-US" sz="2000" b="1" i="1" u="sng" dirty="0">
                <a:sym typeface="+mn-ea"/>
              </a:rPr>
              <a:t> </a:t>
            </a:r>
            <a:r>
              <a:rPr lang="en-US" sz="2000" b="1" i="1" u="sng" dirty="0" err="1">
                <a:sym typeface="+mn-ea"/>
              </a:rPr>
              <a:t>Efektivitas</a:t>
            </a:r>
            <a:endParaRPr lang="en-US" sz="2000" dirty="0"/>
          </a:p>
          <a:p>
            <a:r>
              <a:rPr lang="en-US" dirty="0" err="1">
                <a:sym typeface="+mn-ea"/>
              </a:rPr>
              <a:t>Perencanaan</a:t>
            </a:r>
            <a:r>
              <a:rPr lang="en-US" dirty="0">
                <a:sym typeface="+mn-ea"/>
              </a:rPr>
              <a:t> SDM </a:t>
            </a:r>
            <a:r>
              <a:rPr lang="en-US" dirty="0" err="1">
                <a:sym typeface="+mn-ea"/>
              </a:rPr>
              <a:t>bertujuan</a:t>
            </a:r>
            <a:r>
              <a:rPr lang="en-US" dirty="0">
                <a:sym typeface="+mn-ea"/>
              </a:rPr>
              <a:t> </a:t>
            </a:r>
            <a:r>
              <a:rPr lang="en-US" dirty="0" err="1">
                <a:sym typeface="+mn-ea"/>
              </a:rPr>
              <a:t>untuk</a:t>
            </a:r>
            <a:r>
              <a:rPr lang="en-US" dirty="0">
                <a:sym typeface="+mn-ea"/>
              </a:rPr>
              <a:t> </a:t>
            </a:r>
            <a:r>
              <a:rPr lang="en-US" dirty="0" err="1">
                <a:sym typeface="+mn-ea"/>
              </a:rPr>
              <a:t>meningkatkan</a:t>
            </a:r>
            <a:r>
              <a:rPr lang="en-US" dirty="0">
                <a:sym typeface="+mn-ea"/>
              </a:rPr>
              <a:t> </a:t>
            </a:r>
            <a:r>
              <a:rPr lang="en-US" dirty="0" err="1">
                <a:sym typeface="+mn-ea"/>
              </a:rPr>
              <a:t>efektivitas</a:t>
            </a:r>
            <a:r>
              <a:rPr lang="en-US" dirty="0">
                <a:sym typeface="+mn-ea"/>
              </a:rPr>
              <a:t> </a:t>
            </a:r>
            <a:r>
              <a:rPr lang="en-US" dirty="0" err="1">
                <a:sym typeface="+mn-ea"/>
              </a:rPr>
              <a:t>perusahaan</a:t>
            </a:r>
            <a:r>
              <a:rPr lang="en-US" dirty="0">
                <a:sym typeface="+mn-ea"/>
              </a:rPr>
              <a:t> </a:t>
            </a:r>
            <a:r>
              <a:rPr lang="en-US" dirty="0" err="1">
                <a:sym typeface="+mn-ea"/>
              </a:rPr>
              <a:t>dengan</a:t>
            </a:r>
            <a:r>
              <a:rPr lang="en-US" dirty="0">
                <a:sym typeface="+mn-ea"/>
              </a:rPr>
              <a:t> </a:t>
            </a:r>
            <a:r>
              <a:rPr lang="en-US" dirty="0" err="1">
                <a:sym typeface="+mn-ea"/>
              </a:rPr>
              <a:t>memastikan</a:t>
            </a:r>
            <a:r>
              <a:rPr lang="en-US" dirty="0">
                <a:sym typeface="+mn-ea"/>
              </a:rPr>
              <a:t> </a:t>
            </a:r>
            <a:r>
              <a:rPr lang="en-US" dirty="0" err="1">
                <a:sym typeface="+mn-ea"/>
              </a:rPr>
              <a:t>bahwa</a:t>
            </a:r>
            <a:r>
              <a:rPr lang="en-US" dirty="0">
                <a:sym typeface="+mn-ea"/>
              </a:rPr>
              <a:t> </a:t>
            </a:r>
            <a:r>
              <a:rPr lang="en-US" dirty="0" err="1">
                <a:sym typeface="+mn-ea"/>
              </a:rPr>
              <a:t>perusahaan</a:t>
            </a:r>
            <a:r>
              <a:rPr lang="en-US" dirty="0">
                <a:sym typeface="+mn-ea"/>
              </a:rPr>
              <a:t> </a:t>
            </a:r>
            <a:r>
              <a:rPr lang="en-US" dirty="0" err="1">
                <a:sym typeface="+mn-ea"/>
              </a:rPr>
              <a:t>memiliki</a:t>
            </a:r>
            <a:r>
              <a:rPr lang="en-US" dirty="0">
                <a:sym typeface="+mn-ea"/>
              </a:rPr>
              <a:t> </a:t>
            </a:r>
            <a:r>
              <a:rPr lang="en-US" dirty="0" err="1">
                <a:sym typeface="+mn-ea"/>
              </a:rPr>
              <a:t>karyawan</a:t>
            </a:r>
            <a:r>
              <a:rPr lang="en-US" dirty="0">
                <a:sym typeface="+mn-ea"/>
              </a:rPr>
              <a:t> yang </a:t>
            </a:r>
            <a:r>
              <a:rPr lang="en-US" dirty="0" err="1">
                <a:sym typeface="+mn-ea"/>
              </a:rPr>
              <a:t>memiliki</a:t>
            </a:r>
            <a:r>
              <a:rPr lang="en-US" dirty="0">
                <a:sym typeface="+mn-ea"/>
              </a:rPr>
              <a:t> </a:t>
            </a:r>
            <a:r>
              <a:rPr lang="en-US" dirty="0" err="1">
                <a:sym typeface="+mn-ea"/>
              </a:rPr>
              <a:t>keterampilan</a:t>
            </a:r>
            <a:r>
              <a:rPr lang="en-US" dirty="0">
                <a:sym typeface="+mn-ea"/>
              </a:rPr>
              <a:t> </a:t>
            </a:r>
            <a:r>
              <a:rPr lang="en-US" dirty="0" err="1">
                <a:sym typeface="+mn-ea"/>
              </a:rPr>
              <a:t>dan</a:t>
            </a:r>
            <a:r>
              <a:rPr lang="en-US" dirty="0">
                <a:sym typeface="+mn-ea"/>
              </a:rPr>
              <a:t> </a:t>
            </a:r>
            <a:r>
              <a:rPr lang="en-US" dirty="0" err="1">
                <a:sym typeface="+mn-ea"/>
              </a:rPr>
              <a:t>pengetahuan</a:t>
            </a:r>
            <a:r>
              <a:rPr lang="en-US" dirty="0">
                <a:sym typeface="+mn-ea"/>
              </a:rPr>
              <a:t> yang </a:t>
            </a:r>
            <a:r>
              <a:rPr lang="en-US" dirty="0" err="1">
                <a:sym typeface="+mn-ea"/>
              </a:rPr>
              <a:t>diperlukan</a:t>
            </a:r>
            <a:r>
              <a:rPr lang="en-US" dirty="0">
                <a:sym typeface="+mn-ea"/>
              </a:rPr>
              <a:t> </a:t>
            </a:r>
            <a:r>
              <a:rPr lang="en-US" dirty="0" err="1">
                <a:sym typeface="+mn-ea"/>
              </a:rPr>
              <a:t>untuk</a:t>
            </a:r>
            <a:r>
              <a:rPr lang="en-US" dirty="0">
                <a:sym typeface="+mn-ea"/>
              </a:rPr>
              <a:t> </a:t>
            </a:r>
            <a:r>
              <a:rPr lang="en-US" dirty="0" err="1">
                <a:sym typeface="+mn-ea"/>
              </a:rPr>
              <a:t>mencapai</a:t>
            </a:r>
            <a:r>
              <a:rPr lang="en-US" dirty="0">
                <a:sym typeface="+mn-ea"/>
              </a:rPr>
              <a:t> </a:t>
            </a:r>
            <a:r>
              <a:rPr lang="en-US" dirty="0" err="1">
                <a:sym typeface="+mn-ea"/>
              </a:rPr>
              <a:t>tujuan</a:t>
            </a:r>
            <a:r>
              <a:rPr lang="en-US" dirty="0">
                <a:sym typeface="+mn-ea"/>
              </a:rPr>
              <a:t> </a:t>
            </a:r>
            <a:r>
              <a:rPr lang="en-US" dirty="0" err="1">
                <a:sym typeface="+mn-ea"/>
              </a:rPr>
              <a:t>bisnisnya</a:t>
            </a:r>
            <a:r>
              <a:rPr lang="en-US" dirty="0">
                <a:sym typeface="+mn-ea"/>
              </a:rPr>
              <a:t>.</a:t>
            </a:r>
            <a:endParaRPr lang="en-SG" altLang="en-US" dirty="0">
              <a:solidFill>
                <a:srgbClr val="0070C0"/>
              </a:solidFill>
            </a:endParaRPr>
          </a:p>
        </p:txBody>
      </p:sp>
      <p:sp>
        <p:nvSpPr>
          <p:cNvPr id="3" name="Text Box 2"/>
          <p:cNvSpPr txBox="1"/>
          <p:nvPr/>
        </p:nvSpPr>
        <p:spPr>
          <a:xfrm>
            <a:off x="838835" y="1752600"/>
            <a:ext cx="7655560" cy="1198880"/>
          </a:xfrm>
          <a:prstGeom prst="rect">
            <a:avLst/>
          </a:prstGeom>
          <a:noFill/>
        </p:spPr>
        <p:txBody>
          <a:bodyPr wrap="square" rtlCol="0">
            <a:spAutoFit/>
          </a:bodyPr>
          <a:lstStyle/>
          <a:p>
            <a:pPr indent="0">
              <a:buFont typeface="Wingdings" panose="05000000000000000000" pitchFamily="2" charset="2"/>
              <a:buNone/>
            </a:pPr>
            <a:r>
              <a:rPr lang="en-SG" altLang="en-US" b="1" i="1" dirty="0" err="1">
                <a:sym typeface="+mn-ea"/>
              </a:rPr>
              <a:t>d.</a:t>
            </a:r>
            <a:r>
              <a:rPr lang="en-US" b="1" i="1" dirty="0" err="1">
                <a:sym typeface="+mn-ea"/>
              </a:rPr>
              <a:t>Meningkatkan</a:t>
            </a:r>
            <a:r>
              <a:rPr lang="en-US" b="1" i="1" dirty="0">
                <a:sym typeface="+mn-ea"/>
              </a:rPr>
              <a:t> </a:t>
            </a:r>
            <a:r>
              <a:rPr lang="en-US" b="1" i="1" dirty="0" err="1">
                <a:sym typeface="+mn-ea"/>
              </a:rPr>
              <a:t>Kepuasan</a:t>
            </a:r>
            <a:r>
              <a:rPr lang="en-US" b="1" i="1" dirty="0">
                <a:sym typeface="+mn-ea"/>
              </a:rPr>
              <a:t> </a:t>
            </a:r>
            <a:r>
              <a:rPr lang="en-US" b="1" i="1" dirty="0" err="1">
                <a:sym typeface="+mn-ea"/>
              </a:rPr>
              <a:t>Karyawan</a:t>
            </a:r>
            <a:endParaRPr lang="en-US" b="1" i="1" dirty="0"/>
          </a:p>
          <a:p>
            <a:pPr algn="just"/>
            <a:r>
              <a:rPr lang="en-US" dirty="0" err="1">
                <a:sym typeface="+mn-ea"/>
              </a:rPr>
              <a:t>Perencanaan</a:t>
            </a:r>
            <a:r>
              <a:rPr lang="en-US" dirty="0">
                <a:sym typeface="+mn-ea"/>
              </a:rPr>
              <a:t> SDM </a:t>
            </a:r>
            <a:r>
              <a:rPr lang="en-US" dirty="0" err="1">
                <a:sym typeface="+mn-ea"/>
              </a:rPr>
              <a:t>juga</a:t>
            </a:r>
            <a:r>
              <a:rPr lang="en-US" dirty="0">
                <a:sym typeface="+mn-ea"/>
              </a:rPr>
              <a:t> </a:t>
            </a:r>
            <a:r>
              <a:rPr lang="en-US" dirty="0" err="1">
                <a:sym typeface="+mn-ea"/>
              </a:rPr>
              <a:t>dapat</a:t>
            </a:r>
            <a:r>
              <a:rPr lang="en-US" dirty="0">
                <a:sym typeface="+mn-ea"/>
              </a:rPr>
              <a:t> </a:t>
            </a:r>
            <a:r>
              <a:rPr lang="en-US" dirty="0" err="1">
                <a:sym typeface="+mn-ea"/>
              </a:rPr>
              <a:t>membantu</a:t>
            </a:r>
            <a:r>
              <a:rPr lang="en-US" dirty="0">
                <a:sym typeface="+mn-ea"/>
              </a:rPr>
              <a:t> </a:t>
            </a:r>
            <a:r>
              <a:rPr lang="en-US" dirty="0" err="1">
                <a:sym typeface="+mn-ea"/>
              </a:rPr>
              <a:t>meningkatkan</a:t>
            </a:r>
            <a:r>
              <a:rPr lang="en-US" dirty="0">
                <a:sym typeface="+mn-ea"/>
              </a:rPr>
              <a:t> </a:t>
            </a:r>
            <a:r>
              <a:rPr lang="en-US" dirty="0" err="1">
                <a:sym typeface="+mn-ea"/>
              </a:rPr>
              <a:t>kepuasan</a:t>
            </a:r>
            <a:r>
              <a:rPr lang="en-US" dirty="0">
                <a:sym typeface="+mn-ea"/>
              </a:rPr>
              <a:t> </a:t>
            </a:r>
            <a:r>
              <a:rPr lang="en-US" dirty="0" err="1">
                <a:sym typeface="+mn-ea"/>
              </a:rPr>
              <a:t>karyawan</a:t>
            </a:r>
            <a:r>
              <a:rPr lang="en-US" dirty="0">
                <a:sym typeface="+mn-ea"/>
              </a:rPr>
              <a:t> </a:t>
            </a:r>
            <a:r>
              <a:rPr lang="en-US" dirty="0" err="1">
                <a:sym typeface="+mn-ea"/>
              </a:rPr>
              <a:t>dengan</a:t>
            </a:r>
            <a:r>
              <a:rPr lang="en-US" dirty="0">
                <a:sym typeface="+mn-ea"/>
              </a:rPr>
              <a:t> </a:t>
            </a:r>
            <a:r>
              <a:rPr lang="en-US" dirty="0" err="1">
                <a:sym typeface="+mn-ea"/>
              </a:rPr>
              <a:t>memastikan</a:t>
            </a:r>
            <a:r>
              <a:rPr lang="en-US" dirty="0">
                <a:sym typeface="+mn-ea"/>
              </a:rPr>
              <a:t> </a:t>
            </a:r>
            <a:r>
              <a:rPr lang="en-US" dirty="0" err="1">
                <a:sym typeface="+mn-ea"/>
              </a:rPr>
              <a:t>bahwa</a:t>
            </a:r>
            <a:r>
              <a:rPr lang="en-US" dirty="0">
                <a:sym typeface="+mn-ea"/>
              </a:rPr>
              <a:t> </a:t>
            </a:r>
            <a:r>
              <a:rPr lang="en-US" dirty="0" err="1">
                <a:sym typeface="+mn-ea"/>
              </a:rPr>
              <a:t>organisasi</a:t>
            </a:r>
            <a:r>
              <a:rPr lang="en-US" dirty="0">
                <a:sym typeface="+mn-ea"/>
              </a:rPr>
              <a:t> </a:t>
            </a:r>
            <a:r>
              <a:rPr lang="en-US" dirty="0" err="1">
                <a:sym typeface="+mn-ea"/>
              </a:rPr>
              <a:t>memiliki</a:t>
            </a:r>
            <a:r>
              <a:rPr lang="en-US" dirty="0">
                <a:sym typeface="+mn-ea"/>
              </a:rPr>
              <a:t> </a:t>
            </a:r>
            <a:r>
              <a:rPr lang="en-US" dirty="0" err="1">
                <a:sym typeface="+mn-ea"/>
              </a:rPr>
              <a:t>sistem</a:t>
            </a:r>
            <a:r>
              <a:rPr lang="en-US" dirty="0">
                <a:sym typeface="+mn-ea"/>
              </a:rPr>
              <a:t> </a:t>
            </a:r>
            <a:r>
              <a:rPr lang="en-US" dirty="0" err="1">
                <a:sym typeface="+mn-ea"/>
              </a:rPr>
              <a:t>penghargaan</a:t>
            </a:r>
            <a:r>
              <a:rPr lang="en-US" dirty="0">
                <a:sym typeface="+mn-ea"/>
              </a:rPr>
              <a:t> </a:t>
            </a:r>
            <a:r>
              <a:rPr lang="en-US" dirty="0" err="1">
                <a:sym typeface="+mn-ea"/>
              </a:rPr>
              <a:t>dan</a:t>
            </a:r>
            <a:r>
              <a:rPr lang="en-US" dirty="0">
                <a:sym typeface="+mn-ea"/>
              </a:rPr>
              <a:t> </a:t>
            </a:r>
            <a:r>
              <a:rPr lang="en-US" dirty="0" err="1">
                <a:sym typeface="+mn-ea"/>
              </a:rPr>
              <a:t>pengembangan</a:t>
            </a:r>
            <a:r>
              <a:rPr lang="en-US" dirty="0">
                <a:sym typeface="+mn-ea"/>
              </a:rPr>
              <a:t> </a:t>
            </a:r>
            <a:r>
              <a:rPr lang="en-US" dirty="0" err="1">
                <a:sym typeface="+mn-ea"/>
              </a:rPr>
              <a:t>karyawan</a:t>
            </a:r>
            <a:r>
              <a:rPr lang="en-US" dirty="0">
                <a:sym typeface="+mn-ea"/>
              </a:rPr>
              <a:t> yang </a:t>
            </a:r>
            <a:r>
              <a:rPr lang="en-US" dirty="0" err="1">
                <a:sym typeface="+mn-ea"/>
              </a:rPr>
              <a:t>adil</a:t>
            </a:r>
            <a:r>
              <a:rPr lang="en-US" dirty="0">
                <a:sym typeface="+mn-ea"/>
              </a:rPr>
              <a:t> </a:t>
            </a:r>
            <a:r>
              <a:rPr lang="en-US" dirty="0" err="1">
                <a:sym typeface="+mn-ea"/>
              </a:rPr>
              <a:t>dan</a:t>
            </a:r>
            <a:r>
              <a:rPr lang="en-US" dirty="0">
                <a:sym typeface="+mn-ea"/>
              </a:rPr>
              <a:t> </a:t>
            </a:r>
            <a:r>
              <a:rPr lang="en-US" dirty="0" err="1">
                <a:sym typeface="+mn-ea"/>
              </a:rPr>
              <a:t>menghargai</a:t>
            </a:r>
            <a:r>
              <a:rPr lang="en-US" dirty="0">
                <a:sym typeface="+mn-ea"/>
              </a:rPr>
              <a:t> </a:t>
            </a:r>
            <a:r>
              <a:rPr lang="en-US" dirty="0" err="1">
                <a:sym typeface="+mn-ea"/>
              </a:rPr>
              <a:t>jerih</a:t>
            </a:r>
            <a:r>
              <a:rPr lang="en-US" dirty="0">
                <a:sym typeface="+mn-ea"/>
              </a:rPr>
              <a:t> </a:t>
            </a:r>
            <a:r>
              <a:rPr lang="en-US" dirty="0" err="1">
                <a:sym typeface="+mn-ea"/>
              </a:rPr>
              <a:t>payah</a:t>
            </a:r>
            <a:r>
              <a:rPr lang="en-US" dirty="0">
                <a:sym typeface="+mn-ea"/>
              </a:rPr>
              <a:t> </a:t>
            </a:r>
            <a:r>
              <a:rPr lang="en-US" dirty="0" err="1">
                <a:sym typeface="+mn-ea"/>
              </a:rPr>
              <a:t>karyawan</a:t>
            </a:r>
            <a:r>
              <a:rPr lang="en-US" dirty="0">
                <a:sym typeface="+mn-ea"/>
              </a:rPr>
              <a:t>.</a:t>
            </a:r>
            <a:endParaRPr lang="en-SG" altLang="en-US" dirty="0">
              <a:solidFill>
                <a:srgbClr val="0070C0"/>
              </a:solidFill>
            </a:endParaRPr>
          </a:p>
        </p:txBody>
      </p:sp>
      <p:sp>
        <p:nvSpPr>
          <p:cNvPr id="4" name="Text Box 3"/>
          <p:cNvSpPr txBox="1"/>
          <p:nvPr/>
        </p:nvSpPr>
        <p:spPr>
          <a:xfrm>
            <a:off x="914400" y="3016885"/>
            <a:ext cx="7480300" cy="1198880"/>
          </a:xfrm>
          <a:prstGeom prst="rect">
            <a:avLst/>
          </a:prstGeom>
          <a:noFill/>
        </p:spPr>
        <p:txBody>
          <a:bodyPr wrap="square" rtlCol="0" anchor="t">
            <a:spAutoFit/>
          </a:bodyPr>
          <a:lstStyle/>
          <a:p>
            <a:pPr indent="0">
              <a:buFont typeface="Wingdings" panose="05000000000000000000" pitchFamily="2" charset="2"/>
              <a:buNone/>
            </a:pPr>
            <a:r>
              <a:rPr lang="en-SG" altLang="en-US" b="1" i="1" dirty="0" err="1">
                <a:sym typeface="+mn-ea"/>
              </a:rPr>
              <a:t>e.</a:t>
            </a:r>
            <a:r>
              <a:rPr lang="en-US" b="1" i="1" dirty="0" err="1">
                <a:sym typeface="+mn-ea"/>
              </a:rPr>
              <a:t>Mempertahankan</a:t>
            </a:r>
            <a:r>
              <a:rPr lang="en-US" b="1" i="1" dirty="0">
                <a:sym typeface="+mn-ea"/>
              </a:rPr>
              <a:t> </a:t>
            </a:r>
            <a:r>
              <a:rPr lang="en-US" b="1" i="1" dirty="0" err="1">
                <a:sym typeface="+mn-ea"/>
              </a:rPr>
              <a:t>dan</a:t>
            </a:r>
            <a:r>
              <a:rPr lang="en-US" b="1" i="1" dirty="0">
                <a:sym typeface="+mn-ea"/>
              </a:rPr>
              <a:t> </a:t>
            </a:r>
            <a:r>
              <a:rPr lang="en-US" b="1" i="1" dirty="0" err="1">
                <a:sym typeface="+mn-ea"/>
              </a:rPr>
              <a:t>Mengembangkan</a:t>
            </a:r>
            <a:r>
              <a:rPr lang="en-US" b="1" i="1" dirty="0">
                <a:sym typeface="+mn-ea"/>
              </a:rPr>
              <a:t> </a:t>
            </a:r>
            <a:r>
              <a:rPr lang="en-US" b="1" i="1" dirty="0" err="1">
                <a:sym typeface="+mn-ea"/>
              </a:rPr>
              <a:t>Bakat</a:t>
            </a:r>
            <a:r>
              <a:rPr lang="en-US" b="1" i="1" dirty="0">
                <a:sym typeface="+mn-ea"/>
              </a:rPr>
              <a:t> </a:t>
            </a:r>
            <a:r>
              <a:rPr lang="en-US" b="1" i="1" dirty="0" err="1">
                <a:sym typeface="+mn-ea"/>
              </a:rPr>
              <a:t>Karyawan</a:t>
            </a:r>
            <a:endParaRPr lang="en-US" b="1" i="1" dirty="0"/>
          </a:p>
          <a:p>
            <a:pPr algn="just"/>
            <a:r>
              <a:rPr lang="en-US" dirty="0" err="1">
                <a:sym typeface="+mn-ea"/>
              </a:rPr>
              <a:t>Perencanaan</a:t>
            </a:r>
            <a:r>
              <a:rPr lang="en-US" dirty="0">
                <a:sym typeface="+mn-ea"/>
              </a:rPr>
              <a:t> SDM </a:t>
            </a:r>
            <a:r>
              <a:rPr lang="en-US" dirty="0" err="1">
                <a:sym typeface="+mn-ea"/>
              </a:rPr>
              <a:t>bertujuan</a:t>
            </a:r>
            <a:r>
              <a:rPr lang="en-US" dirty="0">
                <a:sym typeface="+mn-ea"/>
              </a:rPr>
              <a:t> </a:t>
            </a:r>
            <a:r>
              <a:rPr lang="en-US" dirty="0" err="1">
                <a:sym typeface="+mn-ea"/>
              </a:rPr>
              <a:t>untuk</a:t>
            </a:r>
            <a:r>
              <a:rPr lang="en-US" dirty="0">
                <a:sym typeface="+mn-ea"/>
              </a:rPr>
              <a:t> </a:t>
            </a:r>
            <a:r>
              <a:rPr lang="en-US" dirty="0" err="1">
                <a:sym typeface="+mn-ea"/>
              </a:rPr>
              <a:t>mempertahankan</a:t>
            </a:r>
            <a:r>
              <a:rPr lang="en-US" dirty="0">
                <a:sym typeface="+mn-ea"/>
              </a:rPr>
              <a:t> </a:t>
            </a:r>
            <a:r>
              <a:rPr lang="en-US" dirty="0" err="1">
                <a:sym typeface="+mn-ea"/>
              </a:rPr>
              <a:t>talenta</a:t>
            </a:r>
            <a:r>
              <a:rPr lang="en-US" dirty="0">
                <a:sym typeface="+mn-ea"/>
              </a:rPr>
              <a:t> yang </a:t>
            </a:r>
            <a:r>
              <a:rPr lang="en-US" dirty="0" err="1">
                <a:sym typeface="+mn-ea"/>
              </a:rPr>
              <a:t>sudah</a:t>
            </a:r>
            <a:r>
              <a:rPr lang="en-US" dirty="0">
                <a:sym typeface="+mn-ea"/>
              </a:rPr>
              <a:t> </a:t>
            </a:r>
            <a:r>
              <a:rPr lang="en-US" dirty="0" err="1">
                <a:sym typeface="+mn-ea"/>
              </a:rPr>
              <a:t>ada</a:t>
            </a:r>
            <a:r>
              <a:rPr lang="en-US" dirty="0">
                <a:sym typeface="+mn-ea"/>
              </a:rPr>
              <a:t> </a:t>
            </a:r>
            <a:r>
              <a:rPr lang="en-US" dirty="0" err="1">
                <a:sym typeface="+mn-ea"/>
              </a:rPr>
              <a:t>dalam</a:t>
            </a:r>
            <a:r>
              <a:rPr lang="en-SG" altLang="en-US" dirty="0" err="1">
                <a:sym typeface="+mn-ea"/>
              </a:rPr>
              <a:t>x</a:t>
            </a:r>
            <a:r>
              <a:rPr lang="en-US" dirty="0">
                <a:sym typeface="+mn-ea"/>
              </a:rPr>
              <a:t> </a:t>
            </a:r>
            <a:r>
              <a:rPr lang="en-US" dirty="0" err="1">
                <a:sym typeface="+mn-ea"/>
              </a:rPr>
              <a:t>perusahaan</a:t>
            </a:r>
            <a:r>
              <a:rPr lang="en-US" dirty="0">
                <a:sym typeface="+mn-ea"/>
              </a:rPr>
              <a:t>, </a:t>
            </a:r>
            <a:r>
              <a:rPr lang="en-US" dirty="0" err="1">
                <a:sym typeface="+mn-ea"/>
              </a:rPr>
              <a:t>serta</a:t>
            </a:r>
            <a:r>
              <a:rPr lang="en-US" dirty="0">
                <a:sym typeface="+mn-ea"/>
              </a:rPr>
              <a:t> </a:t>
            </a:r>
            <a:r>
              <a:rPr lang="en-US" dirty="0" err="1">
                <a:sym typeface="+mn-ea"/>
              </a:rPr>
              <a:t>mengembangkan</a:t>
            </a:r>
            <a:r>
              <a:rPr lang="en-US" dirty="0">
                <a:sym typeface="+mn-ea"/>
              </a:rPr>
              <a:t> </a:t>
            </a:r>
            <a:r>
              <a:rPr lang="en-US" dirty="0" err="1">
                <a:sym typeface="+mn-ea"/>
              </a:rPr>
              <a:t>talenta</a:t>
            </a:r>
            <a:r>
              <a:rPr lang="en-US" dirty="0">
                <a:sym typeface="+mn-ea"/>
              </a:rPr>
              <a:t> </a:t>
            </a:r>
            <a:r>
              <a:rPr lang="en-US" dirty="0" err="1">
                <a:sym typeface="+mn-ea"/>
              </a:rPr>
              <a:t>baru</a:t>
            </a:r>
            <a:r>
              <a:rPr lang="en-US" dirty="0">
                <a:sym typeface="+mn-ea"/>
              </a:rPr>
              <a:t> </a:t>
            </a:r>
            <a:r>
              <a:rPr lang="en-US" dirty="0" err="1">
                <a:sym typeface="+mn-ea"/>
              </a:rPr>
              <a:t>untuk</a:t>
            </a:r>
            <a:r>
              <a:rPr lang="en-US" dirty="0">
                <a:sym typeface="+mn-ea"/>
              </a:rPr>
              <a:t> </a:t>
            </a:r>
            <a:r>
              <a:rPr lang="en-US" dirty="0" err="1">
                <a:sym typeface="+mn-ea"/>
              </a:rPr>
              <a:t>memenuhi</a:t>
            </a:r>
            <a:r>
              <a:rPr lang="en-US" dirty="0">
                <a:sym typeface="+mn-ea"/>
              </a:rPr>
              <a:t> </a:t>
            </a:r>
            <a:r>
              <a:rPr lang="en-US" dirty="0" err="1">
                <a:sym typeface="+mn-ea"/>
              </a:rPr>
              <a:t>kebutuhan</a:t>
            </a:r>
            <a:r>
              <a:rPr lang="en-US" dirty="0">
                <a:sym typeface="+mn-ea"/>
              </a:rPr>
              <a:t> </a:t>
            </a:r>
            <a:r>
              <a:rPr lang="en-US" dirty="0" err="1">
                <a:sym typeface="+mn-ea"/>
              </a:rPr>
              <a:t>masa</a:t>
            </a:r>
            <a:r>
              <a:rPr lang="en-US" dirty="0">
                <a:sym typeface="+mn-ea"/>
              </a:rPr>
              <a:t> </a:t>
            </a:r>
            <a:r>
              <a:rPr lang="en-US" dirty="0" err="1">
                <a:sym typeface="+mn-ea"/>
              </a:rPr>
              <a:t>depan</a:t>
            </a:r>
            <a:r>
              <a:rPr lang="en-US" dirty="0">
                <a:sym typeface="+mn-ea"/>
              </a:rPr>
              <a:t> di </a:t>
            </a:r>
            <a:r>
              <a:rPr lang="en-US" dirty="0" err="1">
                <a:sym typeface="+mn-ea"/>
              </a:rPr>
              <a:t>perusahaan</a:t>
            </a:r>
            <a:endParaRPr lang="en-US" altLang="en-US" sz="2000" dirty="0" err="1">
              <a:solidFill>
                <a:srgbClr val="0070C0"/>
              </a:solidFill>
              <a:sym typeface="+mn-ea"/>
            </a:endParaRPr>
          </a:p>
        </p:txBody>
      </p:sp>
      <p:sp>
        <p:nvSpPr>
          <p:cNvPr id="5" name="Text Box 4"/>
          <p:cNvSpPr txBox="1"/>
          <p:nvPr/>
        </p:nvSpPr>
        <p:spPr>
          <a:xfrm>
            <a:off x="951865" y="4267200"/>
            <a:ext cx="7576185" cy="1198880"/>
          </a:xfrm>
          <a:prstGeom prst="rect">
            <a:avLst/>
          </a:prstGeom>
          <a:noFill/>
        </p:spPr>
        <p:txBody>
          <a:bodyPr wrap="square" rtlCol="0" anchor="t">
            <a:spAutoFit/>
          </a:bodyPr>
          <a:lstStyle/>
          <a:p>
            <a:pPr indent="0">
              <a:buFont typeface="Wingdings" panose="05000000000000000000" pitchFamily="2" charset="2"/>
              <a:buNone/>
            </a:pPr>
            <a:r>
              <a:rPr lang="en-SG" altLang="en-US" b="1" i="1" u="sng" dirty="0" err="1">
                <a:sym typeface="+mn-ea"/>
              </a:rPr>
              <a:t>f.</a:t>
            </a:r>
            <a:r>
              <a:rPr lang="en-US" b="1" i="1" u="sng" dirty="0" err="1">
                <a:sym typeface="+mn-ea"/>
              </a:rPr>
              <a:t>Meningkatkan</a:t>
            </a:r>
            <a:r>
              <a:rPr lang="en-US" b="1" i="1" u="sng" dirty="0">
                <a:sym typeface="+mn-ea"/>
              </a:rPr>
              <a:t> </a:t>
            </a:r>
            <a:r>
              <a:rPr lang="en-US" b="1" i="1" u="sng" dirty="0" err="1">
                <a:sym typeface="+mn-ea"/>
              </a:rPr>
              <a:t>Efisiensi</a:t>
            </a:r>
            <a:r>
              <a:rPr lang="en-US" b="1" i="1" u="sng" dirty="0">
                <a:sym typeface="+mn-ea"/>
              </a:rPr>
              <a:t> </a:t>
            </a:r>
            <a:r>
              <a:rPr lang="en-US" b="1" i="1" u="sng" dirty="0" err="1">
                <a:sym typeface="+mn-ea"/>
              </a:rPr>
              <a:t>Biaya</a:t>
            </a:r>
            <a:endParaRPr lang="en-US" b="1" i="1" u="sng" dirty="0"/>
          </a:p>
          <a:p>
            <a:r>
              <a:rPr lang="en-US" dirty="0" err="1">
                <a:sym typeface="+mn-ea"/>
              </a:rPr>
              <a:t>Perencanaan</a:t>
            </a:r>
            <a:r>
              <a:rPr lang="en-US" dirty="0">
                <a:sym typeface="+mn-ea"/>
              </a:rPr>
              <a:t> SDM </a:t>
            </a:r>
            <a:r>
              <a:rPr lang="en-US" dirty="0" err="1">
                <a:sym typeface="+mn-ea"/>
              </a:rPr>
              <a:t>dapat</a:t>
            </a:r>
            <a:r>
              <a:rPr lang="en-US" dirty="0">
                <a:sym typeface="+mn-ea"/>
              </a:rPr>
              <a:t> </a:t>
            </a:r>
            <a:r>
              <a:rPr lang="en-US" dirty="0" err="1">
                <a:sym typeface="+mn-ea"/>
              </a:rPr>
              <a:t>membantu</a:t>
            </a:r>
            <a:r>
              <a:rPr lang="en-US" dirty="0">
                <a:sym typeface="+mn-ea"/>
              </a:rPr>
              <a:t> </a:t>
            </a:r>
            <a:r>
              <a:rPr lang="en-US" dirty="0" err="1">
                <a:sym typeface="+mn-ea"/>
              </a:rPr>
              <a:t>perusahaan</a:t>
            </a:r>
            <a:r>
              <a:rPr lang="en-US" dirty="0">
                <a:sym typeface="+mn-ea"/>
              </a:rPr>
              <a:t> </a:t>
            </a:r>
            <a:r>
              <a:rPr lang="en-US" dirty="0" err="1">
                <a:sym typeface="+mn-ea"/>
              </a:rPr>
              <a:t>dalam</a:t>
            </a:r>
            <a:r>
              <a:rPr lang="en-US" dirty="0">
                <a:sym typeface="+mn-ea"/>
              </a:rPr>
              <a:t> </a:t>
            </a:r>
            <a:r>
              <a:rPr lang="en-US" dirty="0" err="1">
                <a:sym typeface="+mn-ea"/>
              </a:rPr>
              <a:t>menghemat</a:t>
            </a:r>
            <a:r>
              <a:rPr lang="en-US" dirty="0">
                <a:sym typeface="+mn-ea"/>
              </a:rPr>
              <a:t> </a:t>
            </a:r>
            <a:r>
              <a:rPr lang="en-US" dirty="0" err="1">
                <a:sym typeface="+mn-ea"/>
              </a:rPr>
              <a:t>biaya</a:t>
            </a:r>
            <a:r>
              <a:rPr lang="en-US" dirty="0">
                <a:sym typeface="+mn-ea"/>
              </a:rPr>
              <a:t> </a:t>
            </a:r>
            <a:r>
              <a:rPr lang="en-US" dirty="0" err="1">
                <a:sym typeface="+mn-ea"/>
              </a:rPr>
              <a:t>dengan</a:t>
            </a:r>
            <a:r>
              <a:rPr lang="en-US" dirty="0">
                <a:sym typeface="+mn-ea"/>
              </a:rPr>
              <a:t> </a:t>
            </a:r>
            <a:r>
              <a:rPr lang="en-US" dirty="0" err="1">
                <a:sym typeface="+mn-ea"/>
              </a:rPr>
              <a:t>memastikan</a:t>
            </a:r>
            <a:r>
              <a:rPr lang="en-US" dirty="0">
                <a:sym typeface="+mn-ea"/>
              </a:rPr>
              <a:t> </a:t>
            </a:r>
            <a:r>
              <a:rPr lang="en-US" dirty="0" err="1">
                <a:sym typeface="+mn-ea"/>
              </a:rPr>
              <a:t>bahwa</a:t>
            </a:r>
            <a:r>
              <a:rPr lang="en-US" dirty="0">
                <a:sym typeface="+mn-ea"/>
              </a:rPr>
              <a:t> </a:t>
            </a:r>
            <a:r>
              <a:rPr lang="en-US" dirty="0" err="1">
                <a:sym typeface="+mn-ea"/>
              </a:rPr>
              <a:t>perusahaan</a:t>
            </a:r>
            <a:r>
              <a:rPr lang="en-US" dirty="0">
                <a:sym typeface="+mn-ea"/>
              </a:rPr>
              <a:t> </a:t>
            </a:r>
            <a:r>
              <a:rPr lang="en-US" dirty="0" err="1">
                <a:sym typeface="+mn-ea"/>
              </a:rPr>
              <a:t>tidak</a:t>
            </a:r>
            <a:r>
              <a:rPr lang="en-US" dirty="0">
                <a:sym typeface="+mn-ea"/>
              </a:rPr>
              <a:t> </a:t>
            </a:r>
            <a:r>
              <a:rPr lang="en-US" dirty="0" err="1">
                <a:sym typeface="+mn-ea"/>
              </a:rPr>
              <a:t>memiliki</a:t>
            </a:r>
            <a:r>
              <a:rPr lang="en-US" dirty="0">
                <a:sym typeface="+mn-ea"/>
              </a:rPr>
              <a:t> </a:t>
            </a:r>
            <a:r>
              <a:rPr lang="en-US" dirty="0" err="1">
                <a:sym typeface="+mn-ea"/>
              </a:rPr>
              <a:t>karyawan</a:t>
            </a:r>
            <a:r>
              <a:rPr lang="en-US" dirty="0">
                <a:sym typeface="+mn-ea"/>
              </a:rPr>
              <a:t> yang </a:t>
            </a:r>
            <a:r>
              <a:rPr lang="en-US" dirty="0" err="1">
                <a:sym typeface="+mn-ea"/>
              </a:rPr>
              <a:t>berlebihan</a:t>
            </a:r>
            <a:r>
              <a:rPr lang="en-US" dirty="0">
                <a:sym typeface="+mn-ea"/>
              </a:rPr>
              <a:t> </a:t>
            </a:r>
            <a:r>
              <a:rPr lang="en-US" dirty="0" err="1">
                <a:sym typeface="+mn-ea"/>
              </a:rPr>
              <a:t>serta</a:t>
            </a:r>
            <a:r>
              <a:rPr lang="en-US" dirty="0">
                <a:sym typeface="+mn-ea"/>
              </a:rPr>
              <a:t> </a:t>
            </a:r>
            <a:r>
              <a:rPr lang="en-US" dirty="0" err="1">
                <a:sym typeface="+mn-ea"/>
              </a:rPr>
              <a:t>tercukupi</a:t>
            </a:r>
            <a:r>
              <a:rPr lang="en-US" dirty="0">
                <a:sym typeface="+mn-ea"/>
              </a:rPr>
              <a:t> </a:t>
            </a:r>
            <a:r>
              <a:rPr lang="en-US" dirty="0" err="1">
                <a:sym typeface="+mn-ea"/>
              </a:rPr>
              <a:t>untuk</a:t>
            </a:r>
            <a:r>
              <a:rPr lang="en-US" dirty="0">
                <a:sym typeface="+mn-ea"/>
              </a:rPr>
              <a:t> </a:t>
            </a:r>
            <a:r>
              <a:rPr lang="en-US" dirty="0" err="1">
                <a:sym typeface="+mn-ea"/>
              </a:rPr>
              <a:t>masing-masing</a:t>
            </a:r>
            <a:r>
              <a:rPr lang="en-US" dirty="0">
                <a:sym typeface="+mn-ea"/>
              </a:rPr>
              <a:t> </a:t>
            </a:r>
            <a:r>
              <a:rPr lang="en-US" dirty="0" err="1">
                <a:sym typeface="+mn-ea"/>
              </a:rPr>
              <a:t>divisi</a:t>
            </a:r>
            <a:r>
              <a:rPr lang="en-US" dirty="0">
                <a:sym typeface="+mn-ea"/>
              </a:rPr>
              <a:t>.</a:t>
            </a:r>
            <a:endParaRPr lang="en-US" altLang="en-US" sz="2000" dirty="0">
              <a:solidFill>
                <a:srgbClr val="0070C0"/>
              </a:solidFill>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90600" y="609600"/>
            <a:ext cx="7608570" cy="4338320"/>
          </a:xfrm>
          <a:prstGeom prst="rect">
            <a:avLst/>
          </a:prstGeom>
          <a:noFill/>
        </p:spPr>
        <p:txBody>
          <a:bodyPr wrap="square" rtlCol="0">
            <a:spAutoFit/>
          </a:bodyPr>
          <a:lstStyle/>
          <a:p>
            <a:pPr algn="ctr"/>
            <a:r>
              <a:rPr lang="en-US" b="1" i="1" u="sng" dirty="0">
                <a:sym typeface="+mn-ea"/>
              </a:rPr>
              <a:t>MENURUT PASAL 9 UNDANG-UNDANG KETENAGA KERJAAN TAHUN 2003, </a:t>
            </a:r>
          </a:p>
          <a:p>
            <a:pPr algn="ctr"/>
            <a:endParaRPr lang="en-US" b="1" i="1" u="sng" dirty="0"/>
          </a:p>
          <a:p>
            <a:pPr algn="just"/>
            <a:r>
              <a:rPr lang="en-US" sz="2000" dirty="0" err="1">
                <a:sym typeface="+mn-ea"/>
              </a:rPr>
              <a:t>pelatihan</a:t>
            </a:r>
            <a:r>
              <a:rPr lang="en-US" sz="2000" dirty="0">
                <a:sym typeface="+mn-ea"/>
              </a:rPr>
              <a:t> (training) </a:t>
            </a:r>
            <a:r>
              <a:rPr lang="en-US" sz="2000" dirty="0" err="1">
                <a:sym typeface="+mn-ea"/>
              </a:rPr>
              <a:t>kerja</a:t>
            </a:r>
            <a:r>
              <a:rPr lang="en-US" sz="2000" dirty="0">
                <a:sym typeface="+mn-ea"/>
              </a:rPr>
              <a:t> </a:t>
            </a:r>
            <a:r>
              <a:rPr lang="en-US" sz="2000" dirty="0" err="1">
                <a:sym typeface="+mn-ea"/>
              </a:rPr>
              <a:t>diselenggarakan</a:t>
            </a:r>
            <a:r>
              <a:rPr lang="en-US" sz="2000" dirty="0">
                <a:sym typeface="+mn-ea"/>
              </a:rPr>
              <a:t> </a:t>
            </a:r>
            <a:r>
              <a:rPr lang="en-US" sz="2000" dirty="0" err="1">
                <a:sym typeface="+mn-ea"/>
              </a:rPr>
              <a:t>dan</a:t>
            </a:r>
            <a:r>
              <a:rPr lang="en-US" sz="2000" dirty="0">
                <a:sym typeface="+mn-ea"/>
              </a:rPr>
              <a:t> </a:t>
            </a:r>
            <a:r>
              <a:rPr lang="en-US" sz="2000" dirty="0" err="1">
                <a:sym typeface="+mn-ea"/>
              </a:rPr>
              <a:t>diarahkan</a:t>
            </a:r>
            <a:r>
              <a:rPr lang="en-US" sz="2000" dirty="0">
                <a:sym typeface="+mn-ea"/>
              </a:rPr>
              <a:t> </a:t>
            </a:r>
            <a:r>
              <a:rPr lang="en-US" sz="2000" dirty="0" err="1">
                <a:sym typeface="+mn-ea"/>
              </a:rPr>
              <a:t>untuk</a:t>
            </a:r>
            <a:r>
              <a:rPr lang="en-US" sz="2000" dirty="0">
                <a:sym typeface="+mn-ea"/>
              </a:rPr>
              <a:t> </a:t>
            </a:r>
            <a:r>
              <a:rPr lang="en-US" sz="2000" dirty="0" err="1">
                <a:sym typeface="+mn-ea"/>
              </a:rPr>
              <a:t>membekali</a:t>
            </a:r>
            <a:r>
              <a:rPr lang="en-US" sz="2000" dirty="0">
                <a:sym typeface="+mn-ea"/>
              </a:rPr>
              <a:t>, </a:t>
            </a:r>
            <a:r>
              <a:rPr lang="en-US" sz="2000" dirty="0" err="1">
                <a:sym typeface="+mn-ea"/>
              </a:rPr>
              <a:t>meningkatkan</a:t>
            </a:r>
            <a:r>
              <a:rPr lang="en-US" sz="2000" dirty="0">
                <a:sym typeface="+mn-ea"/>
              </a:rPr>
              <a:t> </a:t>
            </a:r>
            <a:r>
              <a:rPr lang="en-US" sz="2000" dirty="0" err="1">
                <a:sym typeface="+mn-ea"/>
              </a:rPr>
              <a:t>dan</a:t>
            </a:r>
            <a:r>
              <a:rPr lang="en-US" sz="2000" dirty="0">
                <a:sym typeface="+mn-ea"/>
              </a:rPr>
              <a:t> </a:t>
            </a:r>
            <a:r>
              <a:rPr lang="en-US" sz="2000" dirty="0" err="1">
                <a:sym typeface="+mn-ea"/>
              </a:rPr>
              <a:t>mengembangkan</a:t>
            </a:r>
            <a:r>
              <a:rPr lang="en-US" sz="2000" dirty="0">
                <a:sym typeface="+mn-ea"/>
              </a:rPr>
              <a:t>  </a:t>
            </a:r>
            <a:r>
              <a:rPr lang="en-US" sz="2000" dirty="0" err="1">
                <a:sym typeface="+mn-ea"/>
              </a:rPr>
              <a:t>kompetensi</a:t>
            </a:r>
            <a:r>
              <a:rPr lang="en-US" sz="2000" dirty="0">
                <a:sym typeface="+mn-ea"/>
              </a:rPr>
              <a:t> </a:t>
            </a:r>
            <a:r>
              <a:rPr lang="en-US" sz="2000" dirty="0" err="1">
                <a:sym typeface="+mn-ea"/>
              </a:rPr>
              <a:t>kerja</a:t>
            </a:r>
            <a:r>
              <a:rPr lang="en-US" sz="2000" dirty="0">
                <a:sym typeface="+mn-ea"/>
              </a:rPr>
              <a:t> </a:t>
            </a:r>
            <a:r>
              <a:rPr lang="en-US" sz="2000" dirty="0" err="1">
                <a:sym typeface="+mn-ea"/>
              </a:rPr>
              <a:t>guna</a:t>
            </a:r>
            <a:r>
              <a:rPr lang="en-US" sz="2000" dirty="0">
                <a:sym typeface="+mn-ea"/>
              </a:rPr>
              <a:t> </a:t>
            </a:r>
            <a:r>
              <a:rPr lang="en-US" sz="2000" dirty="0" err="1">
                <a:sym typeface="+mn-ea"/>
              </a:rPr>
              <a:t>meningkatkan</a:t>
            </a:r>
            <a:r>
              <a:rPr lang="en-US" sz="2000" dirty="0">
                <a:sym typeface="+mn-ea"/>
              </a:rPr>
              <a:t> </a:t>
            </a:r>
            <a:r>
              <a:rPr lang="en-US" sz="2000" dirty="0" err="1">
                <a:sym typeface="+mn-ea"/>
              </a:rPr>
              <a:t>kemampuan</a:t>
            </a:r>
            <a:r>
              <a:rPr lang="en-US" sz="2000" dirty="0">
                <a:sym typeface="+mn-ea"/>
              </a:rPr>
              <a:t>, </a:t>
            </a:r>
            <a:r>
              <a:rPr lang="en-US" sz="2000" dirty="0" err="1">
                <a:sym typeface="+mn-ea"/>
              </a:rPr>
              <a:t>produktivitas</a:t>
            </a:r>
            <a:r>
              <a:rPr lang="en-US" sz="2000" dirty="0">
                <a:sym typeface="+mn-ea"/>
              </a:rPr>
              <a:t>, </a:t>
            </a:r>
            <a:r>
              <a:rPr lang="en-US" sz="2000" dirty="0" err="1">
                <a:sym typeface="+mn-ea"/>
              </a:rPr>
              <a:t>dan</a:t>
            </a:r>
            <a:r>
              <a:rPr lang="en-US" sz="2000" dirty="0">
                <a:sym typeface="+mn-ea"/>
              </a:rPr>
              <a:t> </a:t>
            </a:r>
            <a:r>
              <a:rPr lang="en-US" sz="2000" dirty="0" err="1">
                <a:sym typeface="+mn-ea"/>
              </a:rPr>
              <a:t>kesejahteraan</a:t>
            </a:r>
            <a:r>
              <a:rPr lang="en-US" sz="2000" dirty="0">
                <a:sym typeface="+mn-ea"/>
              </a:rPr>
              <a:t>.  </a:t>
            </a:r>
            <a:r>
              <a:rPr lang="en-US" sz="2000" dirty="0" err="1">
                <a:sym typeface="+mn-ea"/>
              </a:rPr>
              <a:t>Tujuan</a:t>
            </a:r>
            <a:r>
              <a:rPr lang="en-US" sz="2000" dirty="0">
                <a:sym typeface="+mn-ea"/>
              </a:rPr>
              <a:t> </a:t>
            </a:r>
            <a:r>
              <a:rPr lang="en-US" sz="2000" dirty="0" err="1">
                <a:sym typeface="+mn-ea"/>
              </a:rPr>
              <a:t>pelatihan</a:t>
            </a:r>
            <a:r>
              <a:rPr lang="en-US" sz="2000" dirty="0">
                <a:sym typeface="+mn-ea"/>
              </a:rPr>
              <a:t> (training) </a:t>
            </a:r>
            <a:r>
              <a:rPr lang="en-US" sz="2000" dirty="0" err="1">
                <a:sym typeface="+mn-ea"/>
              </a:rPr>
              <a:t>dan</a:t>
            </a:r>
            <a:r>
              <a:rPr lang="en-US" sz="2000" dirty="0">
                <a:sym typeface="+mn-ea"/>
              </a:rPr>
              <a:t> </a:t>
            </a:r>
            <a:r>
              <a:rPr lang="en-US" sz="2000" dirty="0" err="1">
                <a:sym typeface="+mn-ea"/>
              </a:rPr>
              <a:t>pengembangan</a:t>
            </a:r>
            <a:r>
              <a:rPr lang="en-US" sz="2000" dirty="0">
                <a:sym typeface="+mn-ea"/>
              </a:rPr>
              <a:t>  SDM (Human resource development)  </a:t>
            </a:r>
            <a:r>
              <a:rPr lang="en-US" sz="2000" dirty="0" err="1">
                <a:sym typeface="+mn-ea"/>
              </a:rPr>
              <a:t>pada</a:t>
            </a:r>
            <a:r>
              <a:rPr lang="en-US" sz="2000" dirty="0">
                <a:sym typeface="+mn-ea"/>
              </a:rPr>
              <a:t> </a:t>
            </a:r>
            <a:r>
              <a:rPr lang="en-US" sz="2000" dirty="0" err="1">
                <a:sym typeface="+mn-ea"/>
              </a:rPr>
              <a:t>dasarnya</a:t>
            </a:r>
            <a:r>
              <a:rPr lang="en-US" sz="2000" dirty="0">
                <a:sym typeface="+mn-ea"/>
              </a:rPr>
              <a:t> </a:t>
            </a:r>
            <a:r>
              <a:rPr lang="en-US" sz="2000" dirty="0" err="1">
                <a:sym typeface="+mn-ea"/>
              </a:rPr>
              <a:t>dikelompokan</a:t>
            </a:r>
            <a:r>
              <a:rPr lang="en-US" sz="2000" dirty="0">
                <a:sym typeface="+mn-ea"/>
              </a:rPr>
              <a:t> </a:t>
            </a:r>
            <a:r>
              <a:rPr lang="en-US" sz="2000" dirty="0" err="1">
                <a:sym typeface="+mn-ea"/>
              </a:rPr>
              <a:t>ke</a:t>
            </a:r>
            <a:r>
              <a:rPr lang="en-US" sz="2000" dirty="0">
                <a:sym typeface="+mn-ea"/>
              </a:rPr>
              <a:t> </a:t>
            </a:r>
            <a:r>
              <a:rPr lang="en-US" sz="2000" dirty="0" err="1">
                <a:sym typeface="+mn-ea"/>
              </a:rPr>
              <a:t>dalam</a:t>
            </a:r>
            <a:r>
              <a:rPr lang="en-US" sz="2000" dirty="0">
                <a:sym typeface="+mn-ea"/>
              </a:rPr>
              <a:t> lima </a:t>
            </a:r>
            <a:r>
              <a:rPr lang="en-US" sz="2000" dirty="0" err="1">
                <a:sym typeface="+mn-ea"/>
              </a:rPr>
              <a:t>bidang</a:t>
            </a:r>
            <a:r>
              <a:rPr lang="en-US" sz="2000" dirty="0">
                <a:sym typeface="+mn-ea"/>
              </a:rPr>
              <a:t> :</a:t>
            </a:r>
            <a:endParaRPr lang="en-US" sz="2000" dirty="0"/>
          </a:p>
          <a:p>
            <a:pPr algn="just"/>
            <a:r>
              <a:rPr lang="en-US" sz="2000" dirty="0">
                <a:sym typeface="+mn-ea"/>
              </a:rPr>
              <a:t>1. </a:t>
            </a:r>
            <a:r>
              <a:rPr lang="en-US" sz="2000" dirty="0" err="1">
                <a:sym typeface="+mn-ea"/>
              </a:rPr>
              <a:t>Memperbaiki</a:t>
            </a:r>
            <a:r>
              <a:rPr lang="en-US" sz="2000" dirty="0">
                <a:sym typeface="+mn-ea"/>
              </a:rPr>
              <a:t> </a:t>
            </a:r>
            <a:r>
              <a:rPr lang="en-US" sz="2000" dirty="0" err="1">
                <a:sym typeface="+mn-ea"/>
              </a:rPr>
              <a:t>kinerja</a:t>
            </a:r>
            <a:r>
              <a:rPr lang="en-US" sz="2000" dirty="0">
                <a:sym typeface="+mn-ea"/>
              </a:rPr>
              <a:t>, </a:t>
            </a:r>
            <a:endParaRPr lang="en-US" sz="2000" dirty="0"/>
          </a:p>
          <a:p>
            <a:pPr algn="just"/>
            <a:r>
              <a:rPr lang="en-US" sz="2000" dirty="0">
                <a:sym typeface="+mn-ea"/>
              </a:rPr>
              <a:t>2. </a:t>
            </a:r>
            <a:r>
              <a:rPr lang="en-US" sz="2000" dirty="0" err="1">
                <a:sym typeface="+mn-ea"/>
              </a:rPr>
              <a:t>Memutakhirkan</a:t>
            </a:r>
            <a:r>
              <a:rPr lang="en-US" sz="2000" dirty="0">
                <a:sym typeface="+mn-ea"/>
              </a:rPr>
              <a:t> </a:t>
            </a:r>
            <a:r>
              <a:rPr lang="en-US" sz="2000" dirty="0" err="1">
                <a:sym typeface="+mn-ea"/>
              </a:rPr>
              <a:t>keahlian</a:t>
            </a:r>
            <a:r>
              <a:rPr lang="en-US" sz="2000" dirty="0">
                <a:sym typeface="+mn-ea"/>
              </a:rPr>
              <a:t> </a:t>
            </a:r>
            <a:r>
              <a:rPr lang="en-US" sz="2000" dirty="0" err="1">
                <a:sym typeface="+mn-ea"/>
              </a:rPr>
              <a:t>para</a:t>
            </a:r>
            <a:r>
              <a:rPr lang="en-US" sz="2000" dirty="0">
                <a:sym typeface="+mn-ea"/>
              </a:rPr>
              <a:t> </a:t>
            </a:r>
            <a:r>
              <a:rPr lang="en-US" sz="2000" dirty="0" err="1">
                <a:sym typeface="+mn-ea"/>
              </a:rPr>
              <a:t>karyawan</a:t>
            </a:r>
            <a:r>
              <a:rPr lang="en-US" sz="2000" dirty="0">
                <a:sym typeface="+mn-ea"/>
              </a:rPr>
              <a:t> </a:t>
            </a:r>
            <a:r>
              <a:rPr lang="en-US" sz="2000" dirty="0" err="1">
                <a:sym typeface="+mn-ea"/>
              </a:rPr>
              <a:t>sejalan</a:t>
            </a:r>
            <a:r>
              <a:rPr lang="en-US" sz="2000" dirty="0">
                <a:sym typeface="+mn-ea"/>
              </a:rPr>
              <a:t> </a:t>
            </a:r>
            <a:r>
              <a:rPr lang="en-US" sz="2000" dirty="0" err="1">
                <a:sym typeface="+mn-ea"/>
              </a:rPr>
              <a:t>dengan</a:t>
            </a:r>
            <a:r>
              <a:rPr lang="en-US" sz="2000" dirty="0">
                <a:sym typeface="+mn-ea"/>
              </a:rPr>
              <a:t> </a:t>
            </a:r>
            <a:r>
              <a:rPr lang="en-US" sz="2000" dirty="0" err="1">
                <a:sym typeface="+mn-ea"/>
              </a:rPr>
              <a:t>kemajuan</a:t>
            </a:r>
            <a:r>
              <a:rPr lang="en-US" sz="2000" dirty="0">
                <a:sym typeface="+mn-ea"/>
              </a:rPr>
              <a:t> </a:t>
            </a:r>
            <a:r>
              <a:rPr lang="en-US" sz="2000" dirty="0" err="1">
                <a:sym typeface="+mn-ea"/>
              </a:rPr>
              <a:t>teknologi</a:t>
            </a:r>
            <a:r>
              <a:rPr lang="en-US" sz="2000" dirty="0">
                <a:sym typeface="+mn-ea"/>
              </a:rPr>
              <a:t>, </a:t>
            </a:r>
            <a:endParaRPr lang="en-US" sz="2000" dirty="0"/>
          </a:p>
          <a:p>
            <a:pPr algn="just"/>
            <a:r>
              <a:rPr lang="en-US" sz="2000" dirty="0">
                <a:sym typeface="+mn-ea"/>
              </a:rPr>
              <a:t>3. </a:t>
            </a:r>
            <a:r>
              <a:rPr lang="en-US" sz="2000" dirty="0" err="1">
                <a:sym typeface="+mn-ea"/>
              </a:rPr>
              <a:t>Mengurangi</a:t>
            </a:r>
            <a:r>
              <a:rPr lang="en-US" sz="2000" dirty="0">
                <a:sym typeface="+mn-ea"/>
              </a:rPr>
              <a:t> </a:t>
            </a:r>
            <a:r>
              <a:rPr lang="en-US" sz="2000" dirty="0" err="1">
                <a:sym typeface="+mn-ea"/>
              </a:rPr>
              <a:t>waktu</a:t>
            </a:r>
            <a:r>
              <a:rPr lang="en-US" sz="2000" dirty="0">
                <a:sym typeface="+mn-ea"/>
              </a:rPr>
              <a:t> </a:t>
            </a:r>
            <a:r>
              <a:rPr lang="en-US" sz="2000" dirty="0" err="1">
                <a:sym typeface="+mn-ea"/>
              </a:rPr>
              <a:t>pembelajaran</a:t>
            </a:r>
            <a:r>
              <a:rPr lang="en-US" sz="2000" dirty="0">
                <a:sym typeface="+mn-ea"/>
              </a:rPr>
              <a:t> </a:t>
            </a:r>
            <a:r>
              <a:rPr lang="en-US" sz="2000" dirty="0" err="1">
                <a:sym typeface="+mn-ea"/>
              </a:rPr>
              <a:t>bagi</a:t>
            </a:r>
            <a:r>
              <a:rPr lang="en-US" sz="2000" dirty="0">
                <a:sym typeface="+mn-ea"/>
              </a:rPr>
              <a:t> </a:t>
            </a:r>
            <a:r>
              <a:rPr lang="en-US" sz="2000" dirty="0" err="1">
                <a:sym typeface="+mn-ea"/>
              </a:rPr>
              <a:t>karyawan</a:t>
            </a:r>
            <a:r>
              <a:rPr lang="en-US" sz="2000" dirty="0">
                <a:sym typeface="+mn-ea"/>
              </a:rPr>
              <a:t> </a:t>
            </a:r>
            <a:r>
              <a:rPr lang="en-US" sz="2000" dirty="0" err="1">
                <a:sym typeface="+mn-ea"/>
              </a:rPr>
              <a:t>baru</a:t>
            </a:r>
            <a:r>
              <a:rPr lang="en-US" sz="2000" dirty="0">
                <a:sym typeface="+mn-ea"/>
              </a:rPr>
              <a:t> agar  </a:t>
            </a:r>
            <a:r>
              <a:rPr lang="en-US" sz="2000" dirty="0" err="1">
                <a:sym typeface="+mn-ea"/>
              </a:rPr>
              <a:t>kompeten</a:t>
            </a:r>
            <a:r>
              <a:rPr lang="en-US" sz="2000" dirty="0">
                <a:sym typeface="+mn-ea"/>
              </a:rPr>
              <a:t> </a:t>
            </a:r>
            <a:r>
              <a:rPr lang="en-US" sz="2000" dirty="0" err="1">
                <a:sym typeface="+mn-ea"/>
              </a:rPr>
              <a:t>dalam</a:t>
            </a:r>
            <a:r>
              <a:rPr lang="en-US" sz="2000" dirty="0">
                <a:sym typeface="+mn-ea"/>
              </a:rPr>
              <a:t> </a:t>
            </a:r>
            <a:r>
              <a:rPr lang="en-US" sz="2000" dirty="0" err="1">
                <a:sym typeface="+mn-ea"/>
              </a:rPr>
              <a:t>pekerjaan</a:t>
            </a:r>
            <a:r>
              <a:rPr lang="en-US" sz="2000" dirty="0">
                <a:sym typeface="+mn-ea"/>
              </a:rPr>
              <a:t>, </a:t>
            </a:r>
            <a:endParaRPr lang="en-US" sz="2000" dirty="0"/>
          </a:p>
          <a:p>
            <a:pPr algn="just"/>
            <a:r>
              <a:rPr lang="en-US" sz="2000" dirty="0">
                <a:sym typeface="+mn-ea"/>
              </a:rPr>
              <a:t>4. </a:t>
            </a:r>
            <a:r>
              <a:rPr lang="en-US" sz="2000" dirty="0" err="1">
                <a:sym typeface="+mn-ea"/>
              </a:rPr>
              <a:t>membantu</a:t>
            </a:r>
            <a:r>
              <a:rPr lang="en-US" sz="2000" dirty="0">
                <a:sym typeface="+mn-ea"/>
              </a:rPr>
              <a:t> </a:t>
            </a:r>
            <a:r>
              <a:rPr lang="en-US" sz="2000" dirty="0" err="1">
                <a:sym typeface="+mn-ea"/>
              </a:rPr>
              <a:t>memecahkan</a:t>
            </a:r>
            <a:r>
              <a:rPr lang="en-US" sz="2000" dirty="0">
                <a:sym typeface="+mn-ea"/>
              </a:rPr>
              <a:t> </a:t>
            </a:r>
            <a:r>
              <a:rPr lang="en-US" sz="2000" dirty="0" err="1">
                <a:sym typeface="+mn-ea"/>
              </a:rPr>
              <a:t>masalah</a:t>
            </a:r>
            <a:r>
              <a:rPr lang="en-US" sz="2000" dirty="0">
                <a:sym typeface="+mn-ea"/>
              </a:rPr>
              <a:t> </a:t>
            </a:r>
            <a:r>
              <a:rPr lang="en-US" sz="2000" dirty="0" err="1">
                <a:sym typeface="+mn-ea"/>
              </a:rPr>
              <a:t>operasional</a:t>
            </a:r>
            <a:r>
              <a:rPr lang="en-US" sz="2000" dirty="0">
                <a:sym typeface="+mn-ea"/>
              </a:rPr>
              <a:t>, </a:t>
            </a:r>
            <a:endParaRPr lang="en-US" sz="2000" dirty="0"/>
          </a:p>
          <a:p>
            <a:pPr algn="just"/>
            <a:r>
              <a:rPr lang="en-US" sz="2000" dirty="0">
                <a:sym typeface="+mn-ea"/>
              </a:rPr>
              <a:t>5. </a:t>
            </a:r>
            <a:r>
              <a:rPr lang="en-US" sz="2000" dirty="0" err="1">
                <a:sym typeface="+mn-ea"/>
              </a:rPr>
              <a:t>Mempersiapkan</a:t>
            </a:r>
            <a:r>
              <a:rPr lang="en-US" sz="2000" dirty="0">
                <a:sym typeface="+mn-ea"/>
              </a:rPr>
              <a:t> </a:t>
            </a:r>
            <a:r>
              <a:rPr lang="en-US" sz="2000" dirty="0" err="1">
                <a:sym typeface="+mn-ea"/>
              </a:rPr>
              <a:t>karyawan</a:t>
            </a:r>
            <a:r>
              <a:rPr lang="en-US" sz="2000" dirty="0">
                <a:sym typeface="+mn-ea"/>
              </a:rPr>
              <a:t> </a:t>
            </a:r>
            <a:r>
              <a:rPr lang="en-US" sz="2000" dirty="0" err="1">
                <a:sym typeface="+mn-ea"/>
              </a:rPr>
              <a:t>untuk</a:t>
            </a:r>
            <a:r>
              <a:rPr lang="en-US" sz="2000" dirty="0">
                <a:sym typeface="+mn-ea"/>
              </a:rPr>
              <a:t> </a:t>
            </a:r>
            <a:r>
              <a:rPr lang="en-US" sz="2000" dirty="0" err="1">
                <a:sym typeface="+mn-ea"/>
              </a:rPr>
              <a:t>promosi</a:t>
            </a:r>
            <a:endParaRPr lang="en-SG" altLang="en-US" sz="2000" dirty="0">
              <a:solidFill>
                <a:srgbClr val="0070C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43000" y="381000"/>
            <a:ext cx="7496810" cy="398780"/>
          </a:xfrm>
          <a:prstGeom prst="rect">
            <a:avLst/>
          </a:prstGeom>
          <a:noFill/>
        </p:spPr>
        <p:txBody>
          <a:bodyPr wrap="square" rtlCol="0">
            <a:spAutoFit/>
          </a:bodyPr>
          <a:lstStyle/>
          <a:p>
            <a:pPr algn="ctr"/>
            <a:r>
              <a:rPr lang="en-US" sz="2000" b="1" u="sng">
                <a:sym typeface="+mn-ea"/>
              </a:rPr>
              <a:t>4. </a:t>
            </a:r>
            <a:r>
              <a:rPr lang="en-SG" altLang="en-US" sz="2000" b="1" u="sng">
                <a:sym typeface="+mn-ea"/>
              </a:rPr>
              <a:t>    </a:t>
            </a:r>
            <a:r>
              <a:rPr lang="en-US" sz="2000" b="1" u="sng">
                <a:sym typeface="+mn-ea"/>
              </a:rPr>
              <a:t> Melaksanakan Pengelolaan Urusan Umum </a:t>
            </a:r>
            <a:endParaRPr lang="en-SG" altLang="en-US" sz="2000" b="1" u="sng" dirty="0">
              <a:solidFill>
                <a:srgbClr val="0070C0"/>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14345"/>
            <a:ext cx="7239000" cy="5542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66800" y="304800"/>
            <a:ext cx="5755005" cy="398780"/>
          </a:xfrm>
          <a:prstGeom prst="rect">
            <a:avLst/>
          </a:prstGeom>
          <a:noFill/>
        </p:spPr>
        <p:txBody>
          <a:bodyPr wrap="square" rtlCol="0">
            <a:spAutoFit/>
          </a:bodyPr>
          <a:lstStyle/>
          <a:p>
            <a:r>
              <a:rPr lang="sv-SE" sz="2000" dirty="0">
                <a:sym typeface="+mn-ea"/>
              </a:rPr>
              <a:t>1. Merumuskan program urusan umum</a:t>
            </a:r>
            <a:endParaRPr lang="en-SG" altLang="en-US" sz="2000" dirty="0">
              <a:solidFill>
                <a:srgbClr val="0070C0"/>
              </a:solidFill>
            </a:endParaRPr>
          </a:p>
        </p:txBody>
      </p:sp>
      <p:sp>
        <p:nvSpPr>
          <p:cNvPr id="3" name="Text Box 2"/>
          <p:cNvSpPr txBox="1"/>
          <p:nvPr/>
        </p:nvSpPr>
        <p:spPr>
          <a:xfrm>
            <a:off x="1040130" y="762000"/>
            <a:ext cx="6858000" cy="1014730"/>
          </a:xfrm>
          <a:prstGeom prst="rect">
            <a:avLst/>
          </a:prstGeom>
          <a:noFill/>
        </p:spPr>
        <p:txBody>
          <a:bodyPr wrap="square" rtlCol="0">
            <a:spAutoFit/>
          </a:bodyPr>
          <a:lstStyle/>
          <a:p>
            <a:r>
              <a:rPr lang="en-US" sz="2000" dirty="0">
                <a:sym typeface="+mn-ea"/>
              </a:rPr>
              <a:t>1.1 </a:t>
            </a:r>
            <a:r>
              <a:rPr lang="en-US" sz="2000" dirty="0" err="1">
                <a:sym typeface="+mn-ea"/>
              </a:rPr>
              <a:t>Mengidentifikasi</a:t>
            </a:r>
            <a:r>
              <a:rPr lang="en-US" sz="2000" dirty="0">
                <a:sym typeface="+mn-ea"/>
              </a:rPr>
              <a:t> </a:t>
            </a:r>
            <a:r>
              <a:rPr lang="en-US" sz="2000" dirty="0" err="1">
                <a:sym typeface="+mn-ea"/>
              </a:rPr>
              <a:t>Kegiatan</a:t>
            </a:r>
            <a:r>
              <a:rPr lang="en-US" sz="2000" dirty="0">
                <a:sym typeface="+mn-ea"/>
              </a:rPr>
              <a:t> </a:t>
            </a:r>
            <a:r>
              <a:rPr lang="en-US" sz="2000" dirty="0" err="1">
                <a:sym typeface="+mn-ea"/>
              </a:rPr>
              <a:t>pengelolaan</a:t>
            </a:r>
            <a:r>
              <a:rPr lang="en-US" sz="2000" dirty="0">
                <a:sym typeface="+mn-ea"/>
              </a:rPr>
              <a:t> </a:t>
            </a:r>
            <a:r>
              <a:rPr lang="en-US" sz="2000" dirty="0" err="1">
                <a:sym typeface="+mn-ea"/>
              </a:rPr>
              <a:t>urusan</a:t>
            </a:r>
            <a:r>
              <a:rPr lang="en-US" sz="2000" dirty="0">
                <a:sym typeface="+mn-ea"/>
              </a:rPr>
              <a:t> </a:t>
            </a:r>
            <a:r>
              <a:rPr lang="en-US" sz="2000" dirty="0" err="1">
                <a:sym typeface="+mn-ea"/>
              </a:rPr>
              <a:t>umum</a:t>
            </a:r>
            <a:r>
              <a:rPr lang="en-US" sz="2000" dirty="0">
                <a:sym typeface="+mn-ea"/>
              </a:rPr>
              <a:t>.</a:t>
            </a:r>
            <a:endParaRPr lang="en-US" sz="2000" dirty="0"/>
          </a:p>
          <a:p>
            <a:r>
              <a:rPr lang="en-US" sz="2000" dirty="0">
                <a:sym typeface="+mn-ea"/>
              </a:rPr>
              <a:t>1.2 </a:t>
            </a:r>
            <a:r>
              <a:rPr lang="en-US" sz="2000" dirty="0" err="1">
                <a:sym typeface="+mn-ea"/>
              </a:rPr>
              <a:t>Menyusun</a:t>
            </a:r>
            <a:r>
              <a:rPr lang="en-US" sz="2000" dirty="0">
                <a:sym typeface="+mn-ea"/>
              </a:rPr>
              <a:t>  </a:t>
            </a:r>
            <a:r>
              <a:rPr lang="en-US" sz="2000" dirty="0" err="1">
                <a:sym typeface="+mn-ea"/>
              </a:rPr>
              <a:t>Struktur</a:t>
            </a:r>
            <a:r>
              <a:rPr lang="en-US" sz="2000" dirty="0">
                <a:sym typeface="+mn-ea"/>
              </a:rPr>
              <a:t> </a:t>
            </a:r>
            <a:r>
              <a:rPr lang="en-US" sz="2000" dirty="0" err="1">
                <a:sym typeface="+mn-ea"/>
              </a:rPr>
              <a:t>organisasi</a:t>
            </a:r>
            <a:r>
              <a:rPr lang="en-US" sz="2000" dirty="0">
                <a:sym typeface="+mn-ea"/>
              </a:rPr>
              <a:t> </a:t>
            </a:r>
            <a:r>
              <a:rPr lang="en-US" sz="2000" dirty="0" err="1">
                <a:sym typeface="+mn-ea"/>
              </a:rPr>
              <a:t>pengelolaan</a:t>
            </a:r>
            <a:r>
              <a:rPr lang="en-US" sz="2000" dirty="0">
                <a:sym typeface="+mn-ea"/>
              </a:rPr>
              <a:t> </a:t>
            </a:r>
            <a:r>
              <a:rPr lang="en-US" sz="2000" dirty="0" err="1">
                <a:sym typeface="+mn-ea"/>
              </a:rPr>
              <a:t>urusan</a:t>
            </a:r>
            <a:r>
              <a:rPr lang="en-US" sz="2000" dirty="0">
                <a:sym typeface="+mn-ea"/>
              </a:rPr>
              <a:t>  </a:t>
            </a:r>
            <a:r>
              <a:rPr lang="en-US" sz="2000" dirty="0" err="1">
                <a:sym typeface="+mn-ea"/>
              </a:rPr>
              <a:t>umum</a:t>
            </a:r>
            <a:r>
              <a:rPr lang="en-US" sz="2000" dirty="0">
                <a:sym typeface="+mn-ea"/>
              </a:rPr>
              <a:t>.</a:t>
            </a:r>
            <a:endParaRPr lang="en-US" sz="2000" dirty="0"/>
          </a:p>
          <a:p>
            <a:r>
              <a:rPr lang="en-US" sz="2000" dirty="0">
                <a:sym typeface="+mn-ea"/>
              </a:rPr>
              <a:t>1.3 </a:t>
            </a:r>
            <a:r>
              <a:rPr lang="en-US" sz="2000" dirty="0" err="1">
                <a:sym typeface="+mn-ea"/>
              </a:rPr>
              <a:t>Membuat</a:t>
            </a:r>
            <a:r>
              <a:rPr lang="en-US" sz="2000" dirty="0">
                <a:sym typeface="+mn-ea"/>
              </a:rPr>
              <a:t>  </a:t>
            </a:r>
            <a:r>
              <a:rPr lang="en-US" sz="2000" dirty="0" err="1">
                <a:sym typeface="+mn-ea"/>
              </a:rPr>
              <a:t>Jadwal</a:t>
            </a:r>
            <a:r>
              <a:rPr lang="en-US" sz="2000" dirty="0">
                <a:sym typeface="+mn-ea"/>
              </a:rPr>
              <a:t> </a:t>
            </a:r>
            <a:r>
              <a:rPr lang="en-US" sz="2000" dirty="0" err="1">
                <a:sym typeface="+mn-ea"/>
              </a:rPr>
              <a:t>pelaksanaan</a:t>
            </a:r>
            <a:r>
              <a:rPr lang="en-US" sz="2000" dirty="0">
                <a:sym typeface="+mn-ea"/>
              </a:rPr>
              <a:t> program </a:t>
            </a:r>
            <a:r>
              <a:rPr lang="en-US" sz="2000" dirty="0" err="1">
                <a:sym typeface="+mn-ea"/>
              </a:rPr>
              <a:t>urusan</a:t>
            </a:r>
            <a:r>
              <a:rPr lang="en-US" sz="2000" dirty="0">
                <a:sym typeface="+mn-ea"/>
              </a:rPr>
              <a:t> </a:t>
            </a:r>
            <a:r>
              <a:rPr lang="en-US" sz="2000" dirty="0" err="1">
                <a:sym typeface="+mn-ea"/>
              </a:rPr>
              <a:t>umum</a:t>
            </a:r>
            <a:r>
              <a:rPr lang="en-US" sz="2000" dirty="0">
                <a:sym typeface="+mn-ea"/>
              </a:rPr>
              <a:t>.</a:t>
            </a:r>
            <a:endParaRPr lang="en-SG" altLang="en-US" sz="2000" dirty="0">
              <a:solidFill>
                <a:srgbClr val="0070C0"/>
              </a:solidFill>
            </a:endParaRPr>
          </a:p>
        </p:txBody>
      </p:sp>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35150"/>
            <a:ext cx="5943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90600" y="152400"/>
            <a:ext cx="5766435" cy="398780"/>
          </a:xfrm>
          <a:prstGeom prst="rect">
            <a:avLst/>
          </a:prstGeom>
          <a:noFill/>
        </p:spPr>
        <p:txBody>
          <a:bodyPr wrap="square" rtlCol="0">
            <a:spAutoFit/>
          </a:bodyPr>
          <a:lstStyle/>
          <a:p>
            <a:r>
              <a:rPr lang="fi-FI" sz="2000" b="1" dirty="0">
                <a:sym typeface="+mn-ea"/>
              </a:rPr>
              <a:t>2. Melaksanakan program urusan umum</a:t>
            </a:r>
            <a:endParaRPr lang="en-SG" altLang="en-US" sz="2000" b="1" dirty="0">
              <a:solidFill>
                <a:srgbClr val="0070C0"/>
              </a:solidFill>
            </a:endParaRPr>
          </a:p>
        </p:txBody>
      </p:sp>
      <p:sp>
        <p:nvSpPr>
          <p:cNvPr id="3" name="Text Box 2"/>
          <p:cNvSpPr txBox="1"/>
          <p:nvPr/>
        </p:nvSpPr>
        <p:spPr>
          <a:xfrm>
            <a:off x="1066800" y="609600"/>
            <a:ext cx="7500620" cy="1198880"/>
          </a:xfrm>
          <a:prstGeom prst="rect">
            <a:avLst/>
          </a:prstGeom>
          <a:noFill/>
        </p:spPr>
        <p:txBody>
          <a:bodyPr wrap="square" rtlCol="0">
            <a:spAutoFit/>
          </a:bodyPr>
          <a:lstStyle/>
          <a:p>
            <a:r>
              <a:rPr lang="en-US" dirty="0">
                <a:sym typeface="+mn-ea"/>
              </a:rPr>
              <a:t>2.1 </a:t>
            </a:r>
            <a:r>
              <a:rPr lang="en-US" dirty="0" err="1">
                <a:sym typeface="+mn-ea"/>
              </a:rPr>
              <a:t>Menyiapkan</a:t>
            </a:r>
            <a:r>
              <a:rPr lang="en-US" dirty="0">
                <a:sym typeface="+mn-ea"/>
              </a:rPr>
              <a:t>  </a:t>
            </a:r>
            <a:r>
              <a:rPr lang="en-US" dirty="0" err="1">
                <a:sym typeface="+mn-ea"/>
              </a:rPr>
              <a:t>Sumber</a:t>
            </a:r>
            <a:r>
              <a:rPr lang="en-US" dirty="0">
                <a:sym typeface="+mn-ea"/>
              </a:rPr>
              <a:t> </a:t>
            </a:r>
            <a:r>
              <a:rPr lang="en-US" dirty="0" err="1">
                <a:sym typeface="+mn-ea"/>
              </a:rPr>
              <a:t>daya</a:t>
            </a:r>
            <a:r>
              <a:rPr lang="en-US" dirty="0">
                <a:sym typeface="+mn-ea"/>
              </a:rPr>
              <a:t> </a:t>
            </a:r>
            <a:r>
              <a:rPr lang="en-US" dirty="0" err="1">
                <a:sym typeface="+mn-ea"/>
              </a:rPr>
              <a:t>untuk</a:t>
            </a:r>
            <a:r>
              <a:rPr lang="en-US" dirty="0">
                <a:sym typeface="+mn-ea"/>
              </a:rPr>
              <a:t> </a:t>
            </a:r>
            <a:r>
              <a:rPr lang="en-US" dirty="0" err="1">
                <a:sym typeface="+mn-ea"/>
              </a:rPr>
              <a:t>melaksanakan</a:t>
            </a:r>
            <a:r>
              <a:rPr lang="en-US" dirty="0">
                <a:sym typeface="+mn-ea"/>
              </a:rPr>
              <a:t> program </a:t>
            </a:r>
            <a:r>
              <a:rPr lang="en-US" dirty="0" err="1">
                <a:sym typeface="+mn-ea"/>
              </a:rPr>
              <a:t>urusan</a:t>
            </a:r>
            <a:r>
              <a:rPr lang="en-US" dirty="0">
                <a:sym typeface="+mn-ea"/>
              </a:rPr>
              <a:t> </a:t>
            </a:r>
            <a:r>
              <a:rPr lang="en-US" dirty="0" err="1">
                <a:sym typeface="+mn-ea"/>
              </a:rPr>
              <a:t>umum</a:t>
            </a:r>
            <a:r>
              <a:rPr lang="en-US" dirty="0">
                <a:sym typeface="+mn-ea"/>
              </a:rPr>
              <a:t> </a:t>
            </a:r>
            <a:endParaRPr lang="en-US" dirty="0"/>
          </a:p>
          <a:p>
            <a:r>
              <a:rPr lang="en-US" dirty="0">
                <a:sym typeface="+mn-ea"/>
              </a:rPr>
              <a:t>2.2 </a:t>
            </a:r>
            <a:r>
              <a:rPr lang="en-US" dirty="0" err="1">
                <a:sym typeface="+mn-ea"/>
              </a:rPr>
              <a:t>Mengelola</a:t>
            </a:r>
            <a:r>
              <a:rPr lang="en-US" dirty="0">
                <a:sym typeface="+mn-ea"/>
              </a:rPr>
              <a:t> </a:t>
            </a:r>
            <a:r>
              <a:rPr lang="en-US" dirty="0" err="1">
                <a:sym typeface="+mn-ea"/>
              </a:rPr>
              <a:t>Pelaksanaan</a:t>
            </a:r>
            <a:r>
              <a:rPr lang="en-US" dirty="0">
                <a:sym typeface="+mn-ea"/>
              </a:rPr>
              <a:t> program </a:t>
            </a:r>
            <a:r>
              <a:rPr lang="en-US" dirty="0" err="1">
                <a:sym typeface="+mn-ea"/>
              </a:rPr>
              <a:t>urusan</a:t>
            </a:r>
            <a:r>
              <a:rPr lang="en-US" dirty="0">
                <a:sym typeface="+mn-ea"/>
              </a:rPr>
              <a:t> </a:t>
            </a:r>
            <a:r>
              <a:rPr lang="en-US" dirty="0" err="1">
                <a:sym typeface="+mn-ea"/>
              </a:rPr>
              <a:t>umum</a:t>
            </a:r>
            <a:r>
              <a:rPr lang="en-US" dirty="0">
                <a:sym typeface="+mn-ea"/>
              </a:rPr>
              <a:t> </a:t>
            </a:r>
            <a:r>
              <a:rPr lang="en-US" dirty="0" err="1">
                <a:sym typeface="+mn-ea"/>
              </a:rPr>
              <a:t>sesuai</a:t>
            </a:r>
            <a:r>
              <a:rPr lang="en-US" dirty="0">
                <a:sym typeface="+mn-ea"/>
              </a:rPr>
              <a:t> </a:t>
            </a:r>
            <a:r>
              <a:rPr lang="en-US" dirty="0" err="1">
                <a:sym typeface="+mn-ea"/>
              </a:rPr>
              <a:t>dengan</a:t>
            </a:r>
            <a:r>
              <a:rPr lang="en-US" dirty="0">
                <a:sym typeface="+mn-ea"/>
              </a:rPr>
              <a:t> </a:t>
            </a:r>
            <a:r>
              <a:rPr lang="en-US" dirty="0" err="1">
                <a:sym typeface="+mn-ea"/>
              </a:rPr>
              <a:t>prosedur</a:t>
            </a:r>
            <a:r>
              <a:rPr lang="en-US" dirty="0">
                <a:sym typeface="+mn-ea"/>
              </a:rPr>
              <a:t>.</a:t>
            </a:r>
            <a:endParaRPr lang="en-US" dirty="0"/>
          </a:p>
          <a:p>
            <a:r>
              <a:rPr lang="en-US" dirty="0">
                <a:sym typeface="+mn-ea"/>
              </a:rPr>
              <a:t>2.3 </a:t>
            </a:r>
            <a:r>
              <a:rPr lang="en-US" dirty="0" err="1">
                <a:sym typeface="+mn-ea"/>
              </a:rPr>
              <a:t>Menyelesaikan</a:t>
            </a:r>
            <a:r>
              <a:rPr lang="en-US" dirty="0">
                <a:sym typeface="+mn-ea"/>
              </a:rPr>
              <a:t>  </a:t>
            </a:r>
            <a:r>
              <a:rPr lang="en-US" dirty="0" err="1">
                <a:sym typeface="+mn-ea"/>
              </a:rPr>
              <a:t>Persoalan</a:t>
            </a:r>
            <a:r>
              <a:rPr lang="en-US" dirty="0">
                <a:sym typeface="+mn-ea"/>
              </a:rPr>
              <a:t>  yang </a:t>
            </a:r>
            <a:r>
              <a:rPr lang="en-US" dirty="0" err="1">
                <a:sym typeface="+mn-ea"/>
              </a:rPr>
              <a:t>timbul</a:t>
            </a:r>
            <a:r>
              <a:rPr lang="en-US" dirty="0">
                <a:sym typeface="+mn-ea"/>
              </a:rPr>
              <a:t> </a:t>
            </a:r>
            <a:r>
              <a:rPr lang="en-US" dirty="0" err="1">
                <a:sym typeface="+mn-ea"/>
              </a:rPr>
              <a:t>dalam</a:t>
            </a:r>
            <a:r>
              <a:rPr lang="en-US" dirty="0">
                <a:sym typeface="+mn-ea"/>
              </a:rPr>
              <a:t>  </a:t>
            </a:r>
            <a:r>
              <a:rPr lang="en-US" dirty="0" err="1">
                <a:sym typeface="+mn-ea"/>
              </a:rPr>
              <a:t>melaksanakan</a:t>
            </a:r>
            <a:r>
              <a:rPr lang="en-US" dirty="0">
                <a:sym typeface="+mn-ea"/>
              </a:rPr>
              <a:t>  program </a:t>
            </a:r>
            <a:r>
              <a:rPr lang="en-US" dirty="0" err="1">
                <a:sym typeface="+mn-ea"/>
              </a:rPr>
              <a:t>urusan</a:t>
            </a:r>
            <a:r>
              <a:rPr lang="en-US" dirty="0">
                <a:sym typeface="+mn-ea"/>
              </a:rPr>
              <a:t> </a:t>
            </a:r>
            <a:r>
              <a:rPr lang="en-US" dirty="0" err="1">
                <a:sym typeface="+mn-ea"/>
              </a:rPr>
              <a:t>umum</a:t>
            </a:r>
            <a:r>
              <a:rPr lang="en-US" dirty="0">
                <a:sym typeface="+mn-ea"/>
              </a:rPr>
              <a:t>  </a:t>
            </a:r>
            <a:r>
              <a:rPr lang="en-US" dirty="0" err="1">
                <a:sym typeface="+mn-ea"/>
              </a:rPr>
              <a:t>sesuai</a:t>
            </a:r>
            <a:r>
              <a:rPr lang="en-US" dirty="0">
                <a:sym typeface="+mn-ea"/>
              </a:rPr>
              <a:t> </a:t>
            </a:r>
            <a:r>
              <a:rPr lang="en-US" dirty="0" err="1">
                <a:sym typeface="+mn-ea"/>
              </a:rPr>
              <a:t>dengan</a:t>
            </a:r>
            <a:r>
              <a:rPr lang="en-US" dirty="0">
                <a:sym typeface="+mn-ea"/>
              </a:rPr>
              <a:t> </a:t>
            </a:r>
            <a:r>
              <a:rPr lang="en-US" dirty="0" err="1">
                <a:sym typeface="+mn-ea"/>
              </a:rPr>
              <a:t>prosedur</a:t>
            </a:r>
            <a:r>
              <a:rPr lang="en-US" dirty="0">
                <a:sym typeface="+mn-ea"/>
              </a:rPr>
              <a:t>.   </a:t>
            </a:r>
            <a:endParaRPr lang="en-SG" altLang="en-US" dirty="0">
              <a:solidFill>
                <a:srgbClr val="0070C0"/>
              </a:solidFill>
            </a:endParaRPr>
          </a:p>
        </p:txBody>
      </p:sp>
      <p:sp>
        <p:nvSpPr>
          <p:cNvPr id="4" name="Text Box 3"/>
          <p:cNvSpPr txBox="1"/>
          <p:nvPr/>
        </p:nvSpPr>
        <p:spPr>
          <a:xfrm>
            <a:off x="1143000" y="1937385"/>
            <a:ext cx="5015865" cy="398780"/>
          </a:xfrm>
          <a:prstGeom prst="rect">
            <a:avLst/>
          </a:prstGeom>
          <a:noFill/>
        </p:spPr>
        <p:txBody>
          <a:bodyPr wrap="square" rtlCol="0">
            <a:spAutoFit/>
          </a:bodyPr>
          <a:lstStyle/>
          <a:p>
            <a:r>
              <a:rPr lang="en-US" sz="2000" b="1" dirty="0">
                <a:sym typeface="+mn-ea"/>
              </a:rPr>
              <a:t>T</a:t>
            </a:r>
            <a:r>
              <a:rPr lang="en-US" sz="2000" b="1" u="sng" dirty="0">
                <a:sym typeface="+mn-ea"/>
              </a:rPr>
              <a:t>ANGGUNG JAWAB URUSAN UMUM </a:t>
            </a:r>
            <a:endParaRPr lang="en-SG" altLang="en-US" sz="2000" b="1" u="sng" dirty="0">
              <a:solidFill>
                <a:srgbClr val="0070C0"/>
              </a:solidFill>
            </a:endParaRPr>
          </a:p>
        </p:txBody>
      </p:sp>
      <p:sp>
        <p:nvSpPr>
          <p:cNvPr id="5" name="Text Box 4"/>
          <p:cNvSpPr txBox="1"/>
          <p:nvPr/>
        </p:nvSpPr>
        <p:spPr>
          <a:xfrm>
            <a:off x="1143000" y="2309495"/>
            <a:ext cx="3048000" cy="398780"/>
          </a:xfrm>
          <a:prstGeom prst="rect">
            <a:avLst/>
          </a:prstGeom>
          <a:noFill/>
        </p:spPr>
        <p:txBody>
          <a:bodyPr wrap="square" rtlCol="0">
            <a:spAutoFit/>
          </a:bodyPr>
          <a:lstStyle/>
          <a:p>
            <a:r>
              <a:rPr lang="en-SG" altLang="en-US" sz="2000" b="1" i="1" dirty="0" err="1">
                <a:sym typeface="+mn-ea"/>
              </a:rPr>
              <a:t>a.</a:t>
            </a:r>
            <a:r>
              <a:rPr lang="en-US" sz="2000" b="1" i="1" dirty="0" err="1">
                <a:sym typeface="+mn-ea"/>
              </a:rPr>
              <a:t>Menjaga</a:t>
            </a:r>
            <a:r>
              <a:rPr lang="en-US" sz="2000" b="1" i="1" dirty="0">
                <a:sym typeface="+mn-ea"/>
              </a:rPr>
              <a:t> </a:t>
            </a:r>
            <a:r>
              <a:rPr lang="en-US" sz="2000" b="1" i="1" dirty="0" err="1">
                <a:sym typeface="+mn-ea"/>
              </a:rPr>
              <a:t>fasilitas</a:t>
            </a:r>
            <a:r>
              <a:rPr lang="en-US" sz="2000" b="1" i="1" dirty="0">
                <a:sym typeface="+mn-ea"/>
              </a:rPr>
              <a:t> </a:t>
            </a:r>
            <a:r>
              <a:rPr lang="en-US" sz="2000" b="1" i="1" dirty="0" err="1">
                <a:sym typeface="+mn-ea"/>
              </a:rPr>
              <a:t>kantor</a:t>
            </a:r>
            <a:endParaRPr lang="en-SG" altLang="en-US" sz="2000" b="1" i="1" dirty="0">
              <a:solidFill>
                <a:srgbClr val="0070C0"/>
              </a:solidFill>
            </a:endParaRPr>
          </a:p>
        </p:txBody>
      </p:sp>
      <p:sp>
        <p:nvSpPr>
          <p:cNvPr id="6" name="Text Box 5"/>
          <p:cNvSpPr txBox="1"/>
          <p:nvPr/>
        </p:nvSpPr>
        <p:spPr>
          <a:xfrm>
            <a:off x="1143000" y="2590800"/>
            <a:ext cx="7288530" cy="1014730"/>
          </a:xfrm>
          <a:prstGeom prst="rect">
            <a:avLst/>
          </a:prstGeom>
          <a:noFill/>
        </p:spPr>
        <p:txBody>
          <a:bodyPr wrap="square" rtlCol="0">
            <a:spAutoFit/>
          </a:bodyPr>
          <a:lstStyle/>
          <a:p>
            <a:r>
              <a:rPr lang="en-SG" altLang="en-US" sz="2000" dirty="0" err="1">
                <a:sym typeface="+mn-ea"/>
              </a:rPr>
              <a:t>M</a:t>
            </a:r>
            <a:r>
              <a:rPr lang="en-US" sz="2000" dirty="0" err="1">
                <a:sym typeface="+mn-ea"/>
              </a:rPr>
              <a:t>emastikan</a:t>
            </a:r>
            <a:r>
              <a:rPr lang="en-US" sz="2000" dirty="0">
                <a:sym typeface="+mn-ea"/>
              </a:rPr>
              <a:t> </a:t>
            </a:r>
            <a:r>
              <a:rPr lang="en-US" sz="2000" dirty="0" err="1">
                <a:sym typeface="+mn-ea"/>
              </a:rPr>
              <a:t>fasilitas</a:t>
            </a:r>
            <a:r>
              <a:rPr lang="en-US" sz="2000" dirty="0">
                <a:sym typeface="+mn-ea"/>
              </a:rPr>
              <a:t> </a:t>
            </a:r>
            <a:r>
              <a:rPr lang="en-US" sz="2000" dirty="0" err="1">
                <a:sym typeface="+mn-ea"/>
              </a:rPr>
              <a:t>kantor</a:t>
            </a:r>
            <a:r>
              <a:rPr lang="en-US" sz="2000" dirty="0">
                <a:sym typeface="+mn-ea"/>
              </a:rPr>
              <a:t> </a:t>
            </a:r>
            <a:r>
              <a:rPr lang="en-US" sz="2000" dirty="0" err="1">
                <a:sym typeface="+mn-ea"/>
              </a:rPr>
              <a:t>seperti</a:t>
            </a:r>
            <a:r>
              <a:rPr lang="en-US" sz="2000" dirty="0">
                <a:sym typeface="+mn-ea"/>
              </a:rPr>
              <a:t> AC, </a:t>
            </a:r>
            <a:r>
              <a:rPr lang="en-US" sz="2000" dirty="0" err="1">
                <a:sym typeface="+mn-ea"/>
              </a:rPr>
              <a:t>lampu</a:t>
            </a:r>
            <a:r>
              <a:rPr lang="en-US" sz="2000" dirty="0">
                <a:sym typeface="+mn-ea"/>
              </a:rPr>
              <a:t>, </a:t>
            </a:r>
            <a:r>
              <a:rPr lang="en-US" sz="2000" dirty="0" err="1">
                <a:sym typeface="+mn-ea"/>
              </a:rPr>
              <a:t>dan</a:t>
            </a:r>
            <a:r>
              <a:rPr lang="en-US" sz="2000" dirty="0">
                <a:sym typeface="+mn-ea"/>
              </a:rPr>
              <a:t> </a:t>
            </a:r>
            <a:r>
              <a:rPr lang="en-US" sz="2000" dirty="0" err="1">
                <a:sym typeface="+mn-ea"/>
              </a:rPr>
              <a:t>mesin</a:t>
            </a:r>
            <a:r>
              <a:rPr lang="en-US" sz="2000" dirty="0">
                <a:sym typeface="+mn-ea"/>
              </a:rPr>
              <a:t> </a:t>
            </a:r>
            <a:r>
              <a:rPr lang="en-US" sz="2000" dirty="0" err="1">
                <a:sym typeface="+mn-ea"/>
              </a:rPr>
              <a:t>fotokopi</a:t>
            </a:r>
            <a:r>
              <a:rPr lang="en-US" sz="2000" dirty="0">
                <a:sym typeface="+mn-ea"/>
              </a:rPr>
              <a:t> </a:t>
            </a:r>
            <a:r>
              <a:rPr lang="en-US" sz="2000" dirty="0" err="1">
                <a:sym typeface="+mn-ea"/>
              </a:rPr>
              <a:t>berfungsi</a:t>
            </a:r>
            <a:r>
              <a:rPr lang="en-US" sz="2000" dirty="0">
                <a:sym typeface="+mn-ea"/>
              </a:rPr>
              <a:t> </a:t>
            </a:r>
            <a:r>
              <a:rPr lang="en-US" sz="2000" dirty="0" err="1">
                <a:sym typeface="+mn-ea"/>
              </a:rPr>
              <a:t>dengan</a:t>
            </a:r>
            <a:r>
              <a:rPr lang="en-US" sz="2000" dirty="0">
                <a:sym typeface="+mn-ea"/>
              </a:rPr>
              <a:t> </a:t>
            </a:r>
            <a:r>
              <a:rPr lang="en-US" sz="2000" dirty="0" err="1">
                <a:sym typeface="+mn-ea"/>
              </a:rPr>
              <a:t>baik</a:t>
            </a:r>
            <a:r>
              <a:rPr lang="en-US" sz="2000" dirty="0">
                <a:sym typeface="+mn-ea"/>
              </a:rPr>
              <a:t>. </a:t>
            </a:r>
            <a:r>
              <a:rPr lang="en-US" sz="2000" dirty="0" err="1">
                <a:sym typeface="+mn-ea"/>
              </a:rPr>
              <a:t>Mereka</a:t>
            </a:r>
            <a:r>
              <a:rPr lang="en-US" sz="2000" dirty="0">
                <a:sym typeface="+mn-ea"/>
              </a:rPr>
              <a:t> </a:t>
            </a:r>
            <a:r>
              <a:rPr lang="en-US" sz="2000" dirty="0" err="1">
                <a:sym typeface="+mn-ea"/>
              </a:rPr>
              <a:t>juga</a:t>
            </a:r>
            <a:r>
              <a:rPr lang="en-US" sz="2000" dirty="0">
                <a:sym typeface="+mn-ea"/>
              </a:rPr>
              <a:t> </a:t>
            </a:r>
            <a:r>
              <a:rPr lang="en-US" sz="2000" dirty="0" err="1">
                <a:sym typeface="+mn-ea"/>
              </a:rPr>
              <a:t>harus</a:t>
            </a:r>
            <a:r>
              <a:rPr lang="en-US" sz="2000" dirty="0">
                <a:sym typeface="+mn-ea"/>
              </a:rPr>
              <a:t> </a:t>
            </a:r>
            <a:r>
              <a:rPr lang="en-US" sz="2000" dirty="0" err="1">
                <a:sym typeface="+mn-ea"/>
              </a:rPr>
              <a:t>menjaga</a:t>
            </a:r>
            <a:r>
              <a:rPr lang="en-US" sz="2000" dirty="0">
                <a:sym typeface="+mn-ea"/>
              </a:rPr>
              <a:t> </a:t>
            </a:r>
            <a:r>
              <a:rPr lang="en-US" sz="2000" dirty="0" err="1">
                <a:sym typeface="+mn-ea"/>
              </a:rPr>
              <a:t>kebersihan</a:t>
            </a:r>
            <a:r>
              <a:rPr lang="en-US" sz="2000" dirty="0">
                <a:sym typeface="+mn-ea"/>
              </a:rPr>
              <a:t> </a:t>
            </a:r>
            <a:r>
              <a:rPr lang="en-US" sz="2000" dirty="0" err="1">
                <a:sym typeface="+mn-ea"/>
              </a:rPr>
              <a:t>dan</a:t>
            </a:r>
            <a:r>
              <a:rPr lang="en-US" sz="2000" dirty="0">
                <a:sym typeface="+mn-ea"/>
              </a:rPr>
              <a:t> </a:t>
            </a:r>
            <a:r>
              <a:rPr lang="en-US" sz="2000" dirty="0" err="1">
                <a:sym typeface="+mn-ea"/>
              </a:rPr>
              <a:t>kerapian</a:t>
            </a:r>
            <a:r>
              <a:rPr lang="en-US" sz="2000" dirty="0">
                <a:sym typeface="+mn-ea"/>
              </a:rPr>
              <a:t> </a:t>
            </a:r>
            <a:r>
              <a:rPr lang="en-US" sz="2000" dirty="0" err="1">
                <a:sym typeface="+mn-ea"/>
              </a:rPr>
              <a:t>kantor</a:t>
            </a:r>
            <a:r>
              <a:rPr lang="en-US" sz="2000" dirty="0">
                <a:sym typeface="+mn-ea"/>
              </a:rPr>
              <a:t>.</a:t>
            </a:r>
            <a:endParaRPr lang="en-SG" altLang="en-US" sz="2000" dirty="0">
              <a:solidFill>
                <a:srgbClr val="0070C0"/>
              </a:solidFill>
            </a:endParaRPr>
          </a:p>
        </p:txBody>
      </p:sp>
      <p:sp>
        <p:nvSpPr>
          <p:cNvPr id="7" name="Text Box 6"/>
          <p:cNvSpPr txBox="1"/>
          <p:nvPr/>
        </p:nvSpPr>
        <p:spPr>
          <a:xfrm>
            <a:off x="1219200" y="3581400"/>
            <a:ext cx="4317365" cy="398780"/>
          </a:xfrm>
          <a:prstGeom prst="rect">
            <a:avLst/>
          </a:prstGeom>
          <a:noFill/>
        </p:spPr>
        <p:txBody>
          <a:bodyPr wrap="square" rtlCol="0">
            <a:spAutoFit/>
          </a:bodyPr>
          <a:lstStyle/>
          <a:p>
            <a:r>
              <a:rPr lang="en-SG" altLang="en-US" sz="2000" b="1" i="1" dirty="0" err="1">
                <a:sym typeface="+mn-ea"/>
              </a:rPr>
              <a:t>b.</a:t>
            </a:r>
            <a:r>
              <a:rPr lang="en-US" sz="2000" b="1" i="1" dirty="0" err="1">
                <a:sym typeface="+mn-ea"/>
              </a:rPr>
              <a:t>Mengatur</a:t>
            </a:r>
            <a:r>
              <a:rPr lang="en-US" sz="2000" b="1" i="1" dirty="0">
                <a:sym typeface="+mn-ea"/>
              </a:rPr>
              <a:t> </a:t>
            </a:r>
            <a:r>
              <a:rPr lang="en-US" sz="2000" b="1" i="1" dirty="0" err="1">
                <a:sym typeface="+mn-ea"/>
              </a:rPr>
              <a:t>keuangan</a:t>
            </a:r>
            <a:r>
              <a:rPr lang="en-US" sz="2000" b="1" i="1" dirty="0">
                <a:sym typeface="+mn-ea"/>
              </a:rPr>
              <a:t> internal</a:t>
            </a:r>
            <a:endParaRPr lang="en-SG" altLang="en-US" sz="2000" b="1" i="1" dirty="0">
              <a:solidFill>
                <a:srgbClr val="0070C0"/>
              </a:solidFill>
            </a:endParaRPr>
          </a:p>
        </p:txBody>
      </p:sp>
      <p:sp>
        <p:nvSpPr>
          <p:cNvPr id="8" name="Text Box 7"/>
          <p:cNvSpPr txBox="1"/>
          <p:nvPr/>
        </p:nvSpPr>
        <p:spPr>
          <a:xfrm>
            <a:off x="1219200" y="3962400"/>
            <a:ext cx="6839585" cy="706755"/>
          </a:xfrm>
          <a:prstGeom prst="rect">
            <a:avLst/>
          </a:prstGeom>
          <a:noFill/>
        </p:spPr>
        <p:txBody>
          <a:bodyPr wrap="square" rtlCol="0">
            <a:spAutoFit/>
          </a:bodyPr>
          <a:lstStyle/>
          <a:p>
            <a:r>
              <a:rPr lang="en-SG" altLang="en-US" sz="2000" dirty="0" err="1">
                <a:sym typeface="+mn-ea"/>
              </a:rPr>
              <a:t>M</a:t>
            </a:r>
            <a:r>
              <a:rPr lang="en-US" sz="2000" dirty="0" err="1">
                <a:sym typeface="+mn-ea"/>
              </a:rPr>
              <a:t>emastikan</a:t>
            </a:r>
            <a:r>
              <a:rPr lang="en-US" sz="2000" dirty="0">
                <a:sym typeface="+mn-ea"/>
              </a:rPr>
              <a:t> </a:t>
            </a:r>
            <a:r>
              <a:rPr lang="en-US" sz="2000" dirty="0" err="1">
                <a:sym typeface="+mn-ea"/>
              </a:rPr>
              <a:t>bahwa</a:t>
            </a:r>
            <a:r>
              <a:rPr lang="en-US" sz="2000" dirty="0">
                <a:sym typeface="+mn-ea"/>
              </a:rPr>
              <a:t> </a:t>
            </a:r>
            <a:r>
              <a:rPr lang="en-US" sz="2000" dirty="0" err="1">
                <a:sym typeface="+mn-ea"/>
              </a:rPr>
              <a:t>semua</a:t>
            </a:r>
            <a:r>
              <a:rPr lang="en-US" sz="2000" dirty="0">
                <a:sym typeface="+mn-ea"/>
              </a:rPr>
              <a:t> </a:t>
            </a:r>
            <a:r>
              <a:rPr lang="en-US" sz="2000" dirty="0" err="1">
                <a:sym typeface="+mn-ea"/>
              </a:rPr>
              <a:t>pembayaran</a:t>
            </a:r>
            <a:r>
              <a:rPr lang="en-US" sz="2000" dirty="0">
                <a:sym typeface="+mn-ea"/>
              </a:rPr>
              <a:t> </a:t>
            </a:r>
            <a:r>
              <a:rPr lang="en-US" sz="2000" dirty="0" err="1">
                <a:sym typeface="+mn-ea"/>
              </a:rPr>
              <a:t>dan</a:t>
            </a:r>
            <a:r>
              <a:rPr lang="en-US" sz="2000" dirty="0">
                <a:sym typeface="+mn-ea"/>
              </a:rPr>
              <a:t> </a:t>
            </a:r>
            <a:r>
              <a:rPr lang="en-US" sz="2000" dirty="0" err="1">
                <a:sym typeface="+mn-ea"/>
              </a:rPr>
              <a:t>penerimaan</a:t>
            </a:r>
            <a:r>
              <a:rPr lang="en-US" sz="2000" dirty="0">
                <a:sym typeface="+mn-ea"/>
              </a:rPr>
              <a:t> </a:t>
            </a:r>
            <a:r>
              <a:rPr lang="en-US" sz="2000" dirty="0" err="1">
                <a:sym typeface="+mn-ea"/>
              </a:rPr>
              <a:t>uang</a:t>
            </a:r>
            <a:r>
              <a:rPr lang="en-US" sz="2000" dirty="0">
                <a:sym typeface="+mn-ea"/>
              </a:rPr>
              <a:t> </a:t>
            </a:r>
            <a:r>
              <a:rPr lang="en-US" sz="2000" dirty="0" err="1">
                <a:sym typeface="+mn-ea"/>
              </a:rPr>
              <a:t>berjalan</a:t>
            </a:r>
            <a:r>
              <a:rPr lang="en-US" sz="2000" dirty="0">
                <a:sym typeface="+mn-ea"/>
              </a:rPr>
              <a:t> </a:t>
            </a:r>
            <a:r>
              <a:rPr lang="en-US" sz="2000" dirty="0" err="1">
                <a:sym typeface="+mn-ea"/>
              </a:rPr>
              <a:t>dengan</a:t>
            </a:r>
            <a:r>
              <a:rPr lang="en-US" sz="2000" dirty="0">
                <a:sym typeface="+mn-ea"/>
              </a:rPr>
              <a:t> </a:t>
            </a:r>
            <a:r>
              <a:rPr lang="en-US" sz="2000" dirty="0" err="1">
                <a:sym typeface="+mn-ea"/>
              </a:rPr>
              <a:t>baik</a:t>
            </a:r>
            <a:r>
              <a:rPr lang="en-US" sz="2000" dirty="0">
                <a:sym typeface="+mn-ea"/>
              </a:rPr>
              <a:t>, </a:t>
            </a:r>
            <a:r>
              <a:rPr lang="en-US" sz="2000" dirty="0" err="1">
                <a:sym typeface="+mn-ea"/>
              </a:rPr>
              <a:t>dan</a:t>
            </a:r>
            <a:r>
              <a:rPr lang="en-US" sz="2000" dirty="0">
                <a:sym typeface="+mn-ea"/>
              </a:rPr>
              <a:t> </a:t>
            </a:r>
            <a:r>
              <a:rPr lang="en-US" sz="2000" dirty="0" err="1">
                <a:sym typeface="+mn-ea"/>
              </a:rPr>
              <a:t>mencatat</a:t>
            </a:r>
            <a:r>
              <a:rPr lang="en-US" sz="2000" dirty="0">
                <a:sym typeface="+mn-ea"/>
              </a:rPr>
              <a:t> </a:t>
            </a:r>
            <a:r>
              <a:rPr lang="en-US" sz="2000" dirty="0" err="1">
                <a:sym typeface="+mn-ea"/>
              </a:rPr>
              <a:t>semua</a:t>
            </a:r>
            <a:r>
              <a:rPr lang="en-US" sz="2000" dirty="0">
                <a:sym typeface="+mn-ea"/>
              </a:rPr>
              <a:t> </a:t>
            </a:r>
            <a:r>
              <a:rPr lang="en-US" sz="2000" dirty="0" err="1">
                <a:sym typeface="+mn-ea"/>
              </a:rPr>
              <a:t>transaksi</a:t>
            </a:r>
            <a:r>
              <a:rPr lang="en-US" sz="2000" dirty="0">
                <a:sym typeface="+mn-ea"/>
              </a:rPr>
              <a:t> </a:t>
            </a:r>
            <a:r>
              <a:rPr lang="en-US" sz="2000" dirty="0" err="1">
                <a:sym typeface="+mn-ea"/>
              </a:rPr>
              <a:t>keuangan</a:t>
            </a:r>
            <a:r>
              <a:rPr lang="en-US" sz="2000" dirty="0">
                <a:sym typeface="+mn-ea"/>
              </a:rPr>
              <a:t>.</a:t>
            </a:r>
            <a:endParaRPr lang="en-SG" altLang="en-US" sz="2000" dirty="0">
              <a:solidFill>
                <a:srgbClr val="0070C0"/>
              </a:solidFill>
            </a:endParaRPr>
          </a:p>
        </p:txBody>
      </p:sp>
      <p:sp>
        <p:nvSpPr>
          <p:cNvPr id="9" name="Text Box 8"/>
          <p:cNvSpPr txBox="1"/>
          <p:nvPr/>
        </p:nvSpPr>
        <p:spPr>
          <a:xfrm>
            <a:off x="1295400" y="4669155"/>
            <a:ext cx="4612005" cy="398780"/>
          </a:xfrm>
          <a:prstGeom prst="rect">
            <a:avLst/>
          </a:prstGeom>
          <a:noFill/>
        </p:spPr>
        <p:txBody>
          <a:bodyPr wrap="square" rtlCol="0">
            <a:spAutoFit/>
          </a:bodyPr>
          <a:lstStyle/>
          <a:p>
            <a:r>
              <a:rPr lang="en-SG" altLang="en-US" sz="2000" b="1" i="1" dirty="0" err="1">
                <a:sym typeface="+mn-ea"/>
              </a:rPr>
              <a:t>c.</a:t>
            </a:r>
            <a:r>
              <a:rPr lang="en-US" sz="2000" b="1" i="1" dirty="0" err="1">
                <a:sym typeface="+mn-ea"/>
              </a:rPr>
              <a:t>Menjaga</a:t>
            </a:r>
            <a:r>
              <a:rPr lang="en-US" sz="2000" b="1" i="1" dirty="0">
                <a:sym typeface="+mn-ea"/>
              </a:rPr>
              <a:t> </a:t>
            </a:r>
            <a:r>
              <a:rPr lang="en-US" sz="2000" b="1" i="1" dirty="0" err="1">
                <a:sym typeface="+mn-ea"/>
              </a:rPr>
              <a:t>hubungan</a:t>
            </a:r>
            <a:r>
              <a:rPr lang="en-US" sz="2000" b="1" i="1" dirty="0">
                <a:sym typeface="+mn-ea"/>
              </a:rPr>
              <a:t> </a:t>
            </a:r>
            <a:r>
              <a:rPr lang="en-US" sz="2000" b="1" i="1" dirty="0" err="1">
                <a:sym typeface="+mn-ea"/>
              </a:rPr>
              <a:t>dengan</a:t>
            </a:r>
            <a:r>
              <a:rPr lang="en-US" sz="2000" b="1" i="1" dirty="0">
                <a:sym typeface="+mn-ea"/>
              </a:rPr>
              <a:t> vendor</a:t>
            </a:r>
            <a:endParaRPr lang="en-SG" altLang="en-US" sz="2000" b="1" i="1" dirty="0">
              <a:solidFill>
                <a:srgbClr val="0070C0"/>
              </a:solidFill>
            </a:endParaRPr>
          </a:p>
        </p:txBody>
      </p:sp>
      <p:sp>
        <p:nvSpPr>
          <p:cNvPr id="10" name="Text Box 9"/>
          <p:cNvSpPr txBox="1"/>
          <p:nvPr/>
        </p:nvSpPr>
        <p:spPr>
          <a:xfrm>
            <a:off x="1219200" y="5105400"/>
            <a:ext cx="6982460" cy="1014730"/>
          </a:xfrm>
          <a:prstGeom prst="rect">
            <a:avLst/>
          </a:prstGeom>
          <a:noFill/>
        </p:spPr>
        <p:txBody>
          <a:bodyPr wrap="square" rtlCol="0">
            <a:spAutoFit/>
          </a:bodyPr>
          <a:lstStyle/>
          <a:p>
            <a:r>
              <a:rPr lang="en-SG" altLang="sv-SE" sz="2000" dirty="0">
                <a:sym typeface="+mn-ea"/>
              </a:rPr>
              <a:t>M</a:t>
            </a:r>
            <a:r>
              <a:rPr lang="sv-SE" sz="2000" dirty="0">
                <a:sym typeface="+mn-ea"/>
              </a:rPr>
              <a:t>emastikan bahwa hubungan dengan vendor, seperti pemasok makanan, perusahaan cleaning service, dan perusahaan IT, berjalan dengan baik.</a:t>
            </a:r>
            <a:endParaRPr lang="en-SG" altLang="en-US" sz="2000" dirty="0">
              <a:solidFill>
                <a:srgbClr val="0070C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2"/>
          <p:cNvSpPr txBox="1"/>
          <p:nvPr/>
        </p:nvSpPr>
        <p:spPr>
          <a:xfrm>
            <a:off x="762000" y="762000"/>
            <a:ext cx="7709535" cy="645160"/>
          </a:xfrm>
          <a:prstGeom prst="rect">
            <a:avLst/>
          </a:prstGeom>
          <a:noFill/>
        </p:spPr>
        <p:txBody>
          <a:bodyPr wrap="square" rtlCol="0">
            <a:spAutoFit/>
          </a:bodyPr>
          <a:lstStyle/>
          <a:p>
            <a:r>
              <a:rPr lang="en-SG" altLang="en-US" dirty="0" err="1">
                <a:sym typeface="+mn-ea"/>
              </a:rPr>
              <a:t>M</a:t>
            </a:r>
            <a:r>
              <a:rPr lang="en-US" dirty="0" err="1">
                <a:sym typeface="+mn-ea"/>
              </a:rPr>
              <a:t>emastikan</a:t>
            </a:r>
            <a:r>
              <a:rPr lang="en-US" dirty="0">
                <a:sym typeface="+mn-ea"/>
              </a:rPr>
              <a:t> </a:t>
            </a:r>
            <a:r>
              <a:rPr lang="en-US" dirty="0" err="1">
                <a:sym typeface="+mn-ea"/>
              </a:rPr>
              <a:t>bahwa</a:t>
            </a:r>
            <a:r>
              <a:rPr lang="en-US" dirty="0">
                <a:sym typeface="+mn-ea"/>
              </a:rPr>
              <a:t> </a:t>
            </a:r>
            <a:r>
              <a:rPr lang="en-US" dirty="0" err="1">
                <a:sym typeface="+mn-ea"/>
              </a:rPr>
              <a:t>perjalanan</a:t>
            </a:r>
            <a:r>
              <a:rPr lang="en-US" dirty="0">
                <a:sym typeface="+mn-ea"/>
              </a:rPr>
              <a:t> </a:t>
            </a:r>
            <a:r>
              <a:rPr lang="en-US" dirty="0" err="1">
                <a:sym typeface="+mn-ea"/>
              </a:rPr>
              <a:t>dinas</a:t>
            </a:r>
            <a:r>
              <a:rPr lang="en-US" dirty="0">
                <a:sym typeface="+mn-ea"/>
              </a:rPr>
              <a:t> </a:t>
            </a:r>
            <a:r>
              <a:rPr lang="en-US" dirty="0" err="1">
                <a:sym typeface="+mn-ea"/>
              </a:rPr>
              <a:t>pegawai</a:t>
            </a:r>
            <a:r>
              <a:rPr lang="en-US" dirty="0">
                <a:sym typeface="+mn-ea"/>
              </a:rPr>
              <a:t> </a:t>
            </a:r>
            <a:r>
              <a:rPr lang="en-US" dirty="0" err="1">
                <a:sym typeface="+mn-ea"/>
              </a:rPr>
              <a:t>berjalan</a:t>
            </a:r>
            <a:r>
              <a:rPr lang="en-US" dirty="0">
                <a:sym typeface="+mn-ea"/>
              </a:rPr>
              <a:t> </a:t>
            </a:r>
            <a:r>
              <a:rPr lang="en-US" dirty="0" err="1">
                <a:sym typeface="+mn-ea"/>
              </a:rPr>
              <a:t>dengan</a:t>
            </a:r>
            <a:r>
              <a:rPr lang="en-US" dirty="0">
                <a:sym typeface="+mn-ea"/>
              </a:rPr>
              <a:t> </a:t>
            </a:r>
            <a:r>
              <a:rPr lang="en-US" dirty="0" err="1">
                <a:sym typeface="+mn-ea"/>
              </a:rPr>
              <a:t>lancar</a:t>
            </a:r>
            <a:r>
              <a:rPr lang="en-US" dirty="0">
                <a:sym typeface="+mn-ea"/>
              </a:rPr>
              <a:t>, </a:t>
            </a:r>
            <a:r>
              <a:rPr lang="en-US" dirty="0" err="1">
                <a:sym typeface="+mn-ea"/>
              </a:rPr>
              <a:t>mulai</a:t>
            </a:r>
            <a:r>
              <a:rPr lang="en-US" dirty="0">
                <a:sym typeface="+mn-ea"/>
              </a:rPr>
              <a:t> </a:t>
            </a:r>
            <a:r>
              <a:rPr lang="en-US" dirty="0" err="1">
                <a:sym typeface="+mn-ea"/>
              </a:rPr>
              <a:t>dari</a:t>
            </a:r>
            <a:r>
              <a:rPr lang="en-US" dirty="0">
                <a:sym typeface="+mn-ea"/>
              </a:rPr>
              <a:t> </a:t>
            </a:r>
            <a:r>
              <a:rPr lang="en-US" dirty="0" err="1">
                <a:sym typeface="+mn-ea"/>
              </a:rPr>
              <a:t>pemesanan</a:t>
            </a:r>
            <a:r>
              <a:rPr lang="en-US" dirty="0">
                <a:sym typeface="+mn-ea"/>
              </a:rPr>
              <a:t> </a:t>
            </a:r>
            <a:r>
              <a:rPr lang="en-US" dirty="0" err="1">
                <a:sym typeface="+mn-ea"/>
              </a:rPr>
              <a:t>tiket</a:t>
            </a:r>
            <a:r>
              <a:rPr lang="en-US" dirty="0">
                <a:sym typeface="+mn-ea"/>
              </a:rPr>
              <a:t> </a:t>
            </a:r>
            <a:r>
              <a:rPr lang="en-US" dirty="0" err="1">
                <a:sym typeface="+mn-ea"/>
              </a:rPr>
              <a:t>pesawat</a:t>
            </a:r>
            <a:r>
              <a:rPr lang="en-US" dirty="0">
                <a:sym typeface="+mn-ea"/>
              </a:rPr>
              <a:t> </a:t>
            </a:r>
            <a:r>
              <a:rPr lang="en-US" dirty="0" err="1">
                <a:sym typeface="+mn-ea"/>
              </a:rPr>
              <a:t>hingga</a:t>
            </a:r>
            <a:r>
              <a:rPr lang="en-US" dirty="0">
                <a:sym typeface="+mn-ea"/>
              </a:rPr>
              <a:t> </a:t>
            </a:r>
            <a:r>
              <a:rPr lang="en-US" dirty="0" err="1">
                <a:sym typeface="+mn-ea"/>
              </a:rPr>
              <a:t>reservasi</a:t>
            </a:r>
            <a:r>
              <a:rPr lang="en-US" dirty="0">
                <a:sym typeface="+mn-ea"/>
              </a:rPr>
              <a:t> hotel.</a:t>
            </a:r>
            <a:endParaRPr lang="en-SG" altLang="en-US" dirty="0">
              <a:solidFill>
                <a:srgbClr val="0070C0"/>
              </a:solidFill>
            </a:endParaRPr>
          </a:p>
        </p:txBody>
      </p:sp>
      <p:sp>
        <p:nvSpPr>
          <p:cNvPr id="7" name="Text Box 6"/>
          <p:cNvSpPr txBox="1"/>
          <p:nvPr/>
        </p:nvSpPr>
        <p:spPr>
          <a:xfrm>
            <a:off x="838200" y="400050"/>
            <a:ext cx="4442460" cy="398780"/>
          </a:xfrm>
          <a:prstGeom prst="rect">
            <a:avLst/>
          </a:prstGeom>
          <a:noFill/>
        </p:spPr>
        <p:txBody>
          <a:bodyPr wrap="square" rtlCol="0">
            <a:spAutoFit/>
          </a:bodyPr>
          <a:lstStyle/>
          <a:p>
            <a:r>
              <a:rPr lang="en-SG" altLang="en-US" sz="2000" b="1" i="1" dirty="0" err="1">
                <a:sym typeface="+mn-ea"/>
              </a:rPr>
              <a:t>d.</a:t>
            </a:r>
            <a:r>
              <a:rPr lang="en-US" sz="2000" b="1" i="1" dirty="0" err="1">
                <a:sym typeface="+mn-ea"/>
              </a:rPr>
              <a:t>Men</a:t>
            </a:r>
            <a:r>
              <a:rPr lang="en-SG" altLang="en-US" sz="2000" b="1" i="1" dirty="0" err="1">
                <a:sym typeface="+mn-ea"/>
              </a:rPr>
              <a:t>gatur Perjalanan Dinas</a:t>
            </a:r>
            <a:endParaRPr lang="en-SG" altLang="en-US" sz="2000" b="1" i="1" dirty="0" err="1">
              <a:solidFill>
                <a:srgbClr val="0070C0"/>
              </a:solidFill>
              <a:sym typeface="+mn-ea"/>
            </a:endParaRPr>
          </a:p>
        </p:txBody>
      </p:sp>
      <p:sp>
        <p:nvSpPr>
          <p:cNvPr id="8" name="Text Box 7"/>
          <p:cNvSpPr txBox="1"/>
          <p:nvPr/>
        </p:nvSpPr>
        <p:spPr>
          <a:xfrm>
            <a:off x="838200" y="1407160"/>
            <a:ext cx="4364355" cy="433070"/>
          </a:xfrm>
          <a:prstGeom prst="rect">
            <a:avLst/>
          </a:prstGeom>
          <a:noFill/>
        </p:spPr>
        <p:txBody>
          <a:bodyPr wrap="square" rtlCol="0">
            <a:noAutofit/>
          </a:bodyPr>
          <a:lstStyle/>
          <a:p>
            <a:r>
              <a:rPr lang="en-SG" altLang="en-US" sz="2000" b="1" i="1" dirty="0" err="1">
                <a:sym typeface="+mn-ea"/>
              </a:rPr>
              <a:t>e.</a:t>
            </a:r>
            <a:r>
              <a:rPr lang="en-US" sz="2000" b="1" i="1" dirty="0" err="1">
                <a:sym typeface="+mn-ea"/>
              </a:rPr>
              <a:t>Men</a:t>
            </a:r>
            <a:r>
              <a:rPr lang="en-SG" altLang="en-US" sz="2000" b="1" i="1" dirty="0" err="1">
                <a:sym typeface="+mn-ea"/>
              </a:rPr>
              <a:t>jaga Dokumen Perusahaan</a:t>
            </a:r>
            <a:endParaRPr lang="en-SG" altLang="en-US" sz="2000" b="1" i="1" dirty="0" err="1">
              <a:solidFill>
                <a:srgbClr val="0070C0"/>
              </a:solidFill>
              <a:sym typeface="+mn-ea"/>
            </a:endParaRPr>
          </a:p>
        </p:txBody>
      </p:sp>
      <p:sp>
        <p:nvSpPr>
          <p:cNvPr id="9" name="Text Box 8"/>
          <p:cNvSpPr txBox="1"/>
          <p:nvPr/>
        </p:nvSpPr>
        <p:spPr>
          <a:xfrm>
            <a:off x="914400" y="1752600"/>
            <a:ext cx="7529195" cy="706755"/>
          </a:xfrm>
          <a:prstGeom prst="rect">
            <a:avLst/>
          </a:prstGeom>
          <a:noFill/>
        </p:spPr>
        <p:txBody>
          <a:bodyPr wrap="square" rtlCol="0">
            <a:spAutoFit/>
          </a:bodyPr>
          <a:lstStyle/>
          <a:p>
            <a:r>
              <a:rPr lang="en-SG" altLang="en-US" sz="2000" dirty="0" err="1">
                <a:sym typeface="+mn-ea"/>
              </a:rPr>
              <a:t>M</a:t>
            </a:r>
            <a:r>
              <a:rPr lang="en-US" sz="2000" dirty="0" err="1">
                <a:sym typeface="+mn-ea"/>
              </a:rPr>
              <a:t>emastikan</a:t>
            </a:r>
            <a:r>
              <a:rPr lang="en-US" sz="2000" dirty="0">
                <a:sym typeface="+mn-ea"/>
              </a:rPr>
              <a:t> </a:t>
            </a:r>
            <a:r>
              <a:rPr lang="en-US" sz="2000" dirty="0" err="1">
                <a:sym typeface="+mn-ea"/>
              </a:rPr>
              <a:t>bahwa</a:t>
            </a:r>
            <a:r>
              <a:rPr lang="en-US" sz="2000" dirty="0">
                <a:sym typeface="+mn-ea"/>
              </a:rPr>
              <a:t> </a:t>
            </a:r>
            <a:r>
              <a:rPr lang="en-US" sz="2000" dirty="0" err="1">
                <a:sym typeface="+mn-ea"/>
              </a:rPr>
              <a:t>dokumen-dokumen</a:t>
            </a:r>
            <a:r>
              <a:rPr lang="en-US" sz="2000" dirty="0">
                <a:sym typeface="+mn-ea"/>
              </a:rPr>
              <a:t> </a:t>
            </a:r>
            <a:r>
              <a:rPr lang="en-US" sz="2000" dirty="0" err="1">
                <a:sym typeface="+mn-ea"/>
              </a:rPr>
              <a:t>perusahaan</a:t>
            </a:r>
            <a:r>
              <a:rPr lang="en-US" sz="2000" dirty="0">
                <a:sym typeface="+mn-ea"/>
              </a:rPr>
              <a:t> </a:t>
            </a:r>
            <a:r>
              <a:rPr lang="en-US" sz="2000" dirty="0" err="1">
                <a:sym typeface="+mn-ea"/>
              </a:rPr>
              <a:t>seperti</a:t>
            </a:r>
            <a:r>
              <a:rPr lang="en-US" sz="2000" dirty="0">
                <a:sym typeface="+mn-ea"/>
              </a:rPr>
              <a:t> </a:t>
            </a:r>
            <a:r>
              <a:rPr lang="en-US" sz="2000" dirty="0" err="1">
                <a:sym typeface="+mn-ea"/>
              </a:rPr>
              <a:t>surat</a:t>
            </a:r>
            <a:r>
              <a:rPr lang="en-US" sz="2000" dirty="0">
                <a:sym typeface="+mn-ea"/>
              </a:rPr>
              <a:t>, proposal, </a:t>
            </a:r>
            <a:r>
              <a:rPr lang="en-US" sz="2000" dirty="0" err="1">
                <a:sym typeface="+mn-ea"/>
              </a:rPr>
              <a:t>dan</a:t>
            </a:r>
            <a:r>
              <a:rPr lang="en-US" sz="2000" dirty="0">
                <a:sym typeface="+mn-ea"/>
              </a:rPr>
              <a:t> </a:t>
            </a:r>
            <a:r>
              <a:rPr lang="en-US" sz="2000" dirty="0" err="1">
                <a:sym typeface="+mn-ea"/>
              </a:rPr>
              <a:t>laporan</a:t>
            </a:r>
            <a:r>
              <a:rPr lang="en-US" sz="2000" dirty="0">
                <a:sym typeface="+mn-ea"/>
              </a:rPr>
              <a:t> </a:t>
            </a:r>
            <a:r>
              <a:rPr lang="en-US" sz="2000" dirty="0" err="1">
                <a:sym typeface="+mn-ea"/>
              </a:rPr>
              <a:t>disimpan</a:t>
            </a:r>
            <a:r>
              <a:rPr lang="en-US" sz="2000" dirty="0">
                <a:sym typeface="+mn-ea"/>
              </a:rPr>
              <a:t> </a:t>
            </a:r>
            <a:r>
              <a:rPr lang="en-US" sz="2000" dirty="0" err="1">
                <a:sym typeface="+mn-ea"/>
              </a:rPr>
              <a:t>dengan</a:t>
            </a:r>
            <a:r>
              <a:rPr lang="en-US" sz="2000" dirty="0">
                <a:sym typeface="+mn-ea"/>
              </a:rPr>
              <a:t> </a:t>
            </a:r>
            <a:r>
              <a:rPr lang="en-US" sz="2000" dirty="0" err="1">
                <a:sym typeface="+mn-ea"/>
              </a:rPr>
              <a:t>baik</a:t>
            </a:r>
            <a:r>
              <a:rPr lang="en-US" sz="2000" dirty="0">
                <a:sym typeface="+mn-ea"/>
              </a:rPr>
              <a:t> </a:t>
            </a:r>
            <a:r>
              <a:rPr lang="en-US" sz="2000" dirty="0" err="1">
                <a:sym typeface="+mn-ea"/>
              </a:rPr>
              <a:t>dan</a:t>
            </a:r>
            <a:r>
              <a:rPr lang="en-US" sz="2000" dirty="0">
                <a:sym typeface="+mn-ea"/>
              </a:rPr>
              <a:t> </a:t>
            </a:r>
            <a:r>
              <a:rPr lang="en-US" sz="2000" dirty="0" err="1">
                <a:sym typeface="+mn-ea"/>
              </a:rPr>
              <a:t>mudah</a:t>
            </a:r>
            <a:r>
              <a:rPr lang="en-US" sz="2000" dirty="0">
                <a:sym typeface="+mn-ea"/>
              </a:rPr>
              <a:t> </a:t>
            </a:r>
            <a:r>
              <a:rPr lang="en-US" sz="2000" dirty="0" err="1">
                <a:sym typeface="+mn-ea"/>
              </a:rPr>
              <a:t>diakses</a:t>
            </a:r>
            <a:r>
              <a:rPr lang="en-US" sz="2000" dirty="0">
                <a:sym typeface="+mn-ea"/>
              </a:rPr>
              <a:t>.</a:t>
            </a:r>
            <a:endParaRPr lang="en-SG" altLang="en-US" sz="2000" dirty="0">
              <a:solidFill>
                <a:srgbClr val="0070C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914400" y="381000"/>
            <a:ext cx="6985635" cy="398780"/>
          </a:xfrm>
          <a:prstGeom prst="rect">
            <a:avLst/>
          </a:prstGeom>
          <a:noFill/>
        </p:spPr>
        <p:txBody>
          <a:bodyPr wrap="square" rtlCol="0">
            <a:spAutoFit/>
          </a:bodyPr>
          <a:lstStyle/>
          <a:p>
            <a:r>
              <a:rPr lang="fi-FI" sz="2000" dirty="0">
                <a:sym typeface="+mn-ea"/>
              </a:rPr>
              <a:t>3. Melaksanakan evaluasi pelaksanaan program urusan umum</a:t>
            </a:r>
            <a:endParaRPr lang="en-SG" altLang="en-US" sz="2000" dirty="0">
              <a:solidFill>
                <a:srgbClr val="0070C0"/>
              </a:solidFill>
            </a:endParaRPr>
          </a:p>
        </p:txBody>
      </p:sp>
      <p:sp>
        <p:nvSpPr>
          <p:cNvPr id="3" name="Text Box 2"/>
          <p:cNvSpPr txBox="1"/>
          <p:nvPr/>
        </p:nvSpPr>
        <p:spPr>
          <a:xfrm>
            <a:off x="914400" y="838200"/>
            <a:ext cx="7640955" cy="1938020"/>
          </a:xfrm>
          <a:prstGeom prst="rect">
            <a:avLst/>
          </a:prstGeom>
          <a:noFill/>
        </p:spPr>
        <p:txBody>
          <a:bodyPr wrap="square" rtlCol="0">
            <a:spAutoFit/>
          </a:bodyPr>
          <a:lstStyle/>
          <a:p>
            <a:r>
              <a:rPr lang="en-SG" altLang="en-US" sz="2000" dirty="0">
                <a:sym typeface="+mn-ea"/>
              </a:rPr>
              <a:t>3</a:t>
            </a:r>
            <a:r>
              <a:rPr lang="en-US" sz="2000" dirty="0">
                <a:sym typeface="+mn-ea"/>
              </a:rPr>
              <a:t>.1  </a:t>
            </a:r>
            <a:r>
              <a:rPr lang="en-US" sz="2000" dirty="0" err="1">
                <a:sym typeface="+mn-ea"/>
              </a:rPr>
              <a:t>Menginventarisasi</a:t>
            </a:r>
            <a:r>
              <a:rPr lang="en-US" sz="2000" dirty="0">
                <a:sym typeface="+mn-ea"/>
              </a:rPr>
              <a:t> Data </a:t>
            </a:r>
            <a:r>
              <a:rPr lang="en-US" sz="2000" dirty="0" err="1">
                <a:sym typeface="+mn-ea"/>
              </a:rPr>
              <a:t>hasil</a:t>
            </a:r>
            <a:r>
              <a:rPr lang="en-US" sz="2000" dirty="0">
                <a:sym typeface="+mn-ea"/>
              </a:rPr>
              <a:t> </a:t>
            </a:r>
            <a:r>
              <a:rPr lang="en-US" sz="2000" dirty="0" err="1">
                <a:sym typeface="+mn-ea"/>
              </a:rPr>
              <a:t>pengelolaan</a:t>
            </a:r>
            <a:r>
              <a:rPr lang="en-US" sz="2000" dirty="0">
                <a:sym typeface="+mn-ea"/>
              </a:rPr>
              <a:t> program </a:t>
            </a:r>
            <a:r>
              <a:rPr lang="en-US" sz="2000" dirty="0" err="1">
                <a:sym typeface="+mn-ea"/>
              </a:rPr>
              <a:t>urusan</a:t>
            </a:r>
            <a:r>
              <a:rPr lang="en-US" sz="2000" dirty="0">
                <a:sym typeface="+mn-ea"/>
              </a:rPr>
              <a:t> </a:t>
            </a:r>
            <a:r>
              <a:rPr lang="en-US" sz="2000" dirty="0" err="1">
                <a:sym typeface="+mn-ea"/>
              </a:rPr>
              <a:t>umum</a:t>
            </a:r>
            <a:r>
              <a:rPr lang="en-US" sz="2000" dirty="0">
                <a:sym typeface="+mn-ea"/>
              </a:rPr>
              <a:t>.</a:t>
            </a:r>
            <a:endParaRPr lang="en-US" sz="2000" dirty="0"/>
          </a:p>
          <a:p>
            <a:r>
              <a:rPr lang="en-US" sz="2000" dirty="0">
                <a:sym typeface="+mn-ea"/>
              </a:rPr>
              <a:t>3.2  </a:t>
            </a:r>
            <a:r>
              <a:rPr lang="en-US" sz="2000" dirty="0" err="1">
                <a:sym typeface="+mn-ea"/>
              </a:rPr>
              <a:t>Menganalisa</a:t>
            </a:r>
            <a:r>
              <a:rPr lang="en-US" sz="2000" dirty="0">
                <a:sym typeface="+mn-ea"/>
              </a:rPr>
              <a:t>  </a:t>
            </a:r>
            <a:r>
              <a:rPr lang="en-US" sz="2000" dirty="0" err="1">
                <a:sym typeface="+mn-ea"/>
              </a:rPr>
              <a:t>Ketidaksesuaian</a:t>
            </a:r>
            <a:r>
              <a:rPr lang="en-US" sz="2000" dirty="0">
                <a:sym typeface="+mn-ea"/>
              </a:rPr>
              <a:t>/</a:t>
            </a:r>
            <a:r>
              <a:rPr lang="en-US" sz="2000" dirty="0" err="1">
                <a:sym typeface="+mn-ea"/>
              </a:rPr>
              <a:t>penyimpangan</a:t>
            </a:r>
            <a:r>
              <a:rPr lang="en-US" sz="2000" dirty="0">
                <a:sym typeface="+mn-ea"/>
              </a:rPr>
              <a:t> yang </a:t>
            </a:r>
            <a:r>
              <a:rPr lang="en-US" sz="2000" dirty="0" err="1">
                <a:sym typeface="+mn-ea"/>
              </a:rPr>
              <a:t>terjadi</a:t>
            </a:r>
            <a:r>
              <a:rPr lang="en-US" sz="2000" dirty="0">
                <a:sym typeface="+mn-ea"/>
              </a:rPr>
              <a:t> </a:t>
            </a:r>
            <a:r>
              <a:rPr lang="en-US" sz="2000" dirty="0" err="1">
                <a:sym typeface="+mn-ea"/>
              </a:rPr>
              <a:t>pada</a:t>
            </a:r>
            <a:r>
              <a:rPr lang="en-US" sz="2000" dirty="0">
                <a:sym typeface="+mn-ea"/>
              </a:rPr>
              <a:t> </a:t>
            </a:r>
            <a:endParaRPr lang="en-US" sz="2000" dirty="0"/>
          </a:p>
          <a:p>
            <a:r>
              <a:rPr lang="en-US" sz="2000" dirty="0">
                <a:sym typeface="+mn-ea"/>
              </a:rPr>
              <a:t>        </a:t>
            </a:r>
            <a:r>
              <a:rPr lang="en-US" sz="2000" dirty="0" err="1">
                <a:sym typeface="+mn-ea"/>
              </a:rPr>
              <a:t>pelaksanaan</a:t>
            </a:r>
            <a:r>
              <a:rPr lang="en-US" sz="2000" dirty="0">
                <a:sym typeface="+mn-ea"/>
              </a:rPr>
              <a:t>  program </a:t>
            </a:r>
            <a:r>
              <a:rPr lang="en-US" sz="2000" dirty="0" err="1">
                <a:sym typeface="+mn-ea"/>
              </a:rPr>
              <a:t>urusan</a:t>
            </a:r>
            <a:r>
              <a:rPr lang="en-US" sz="2000" dirty="0">
                <a:sym typeface="+mn-ea"/>
              </a:rPr>
              <a:t> </a:t>
            </a:r>
            <a:r>
              <a:rPr lang="en-US" sz="2000" dirty="0" err="1">
                <a:sym typeface="+mn-ea"/>
              </a:rPr>
              <a:t>umum</a:t>
            </a:r>
            <a:r>
              <a:rPr lang="en-US" sz="2000" dirty="0">
                <a:sym typeface="+mn-ea"/>
              </a:rPr>
              <a:t> </a:t>
            </a:r>
            <a:endParaRPr lang="en-US" sz="2000" dirty="0"/>
          </a:p>
          <a:p>
            <a:r>
              <a:rPr lang="en-US" sz="2000" dirty="0">
                <a:sym typeface="+mn-ea"/>
              </a:rPr>
              <a:t>3.3  </a:t>
            </a:r>
            <a:r>
              <a:rPr lang="en-US" sz="2000" dirty="0" err="1">
                <a:sym typeface="+mn-ea"/>
              </a:rPr>
              <a:t>Memperbaiki</a:t>
            </a:r>
            <a:r>
              <a:rPr lang="en-US" sz="2000" dirty="0">
                <a:sym typeface="+mn-ea"/>
              </a:rPr>
              <a:t> </a:t>
            </a:r>
            <a:r>
              <a:rPr lang="en-US" sz="2000" dirty="0" err="1">
                <a:sym typeface="+mn-ea"/>
              </a:rPr>
              <a:t>Penyimpangan</a:t>
            </a:r>
            <a:r>
              <a:rPr lang="en-US" sz="2000" dirty="0">
                <a:sym typeface="+mn-ea"/>
              </a:rPr>
              <a:t> yang </a:t>
            </a:r>
            <a:r>
              <a:rPr lang="en-US" sz="2000" dirty="0" err="1">
                <a:sym typeface="+mn-ea"/>
              </a:rPr>
              <a:t>terjadi</a:t>
            </a:r>
            <a:r>
              <a:rPr lang="en-US" sz="2000" dirty="0">
                <a:sym typeface="+mn-ea"/>
              </a:rPr>
              <a:t> </a:t>
            </a:r>
            <a:r>
              <a:rPr lang="en-US" sz="2000" dirty="0" err="1">
                <a:sym typeface="+mn-ea"/>
              </a:rPr>
              <a:t>pada</a:t>
            </a:r>
            <a:r>
              <a:rPr lang="en-US" sz="2000" dirty="0">
                <a:sym typeface="+mn-ea"/>
              </a:rPr>
              <a:t> </a:t>
            </a:r>
            <a:r>
              <a:rPr lang="en-US" sz="2000" dirty="0" err="1">
                <a:sym typeface="+mn-ea"/>
              </a:rPr>
              <a:t>pelaksanaan</a:t>
            </a:r>
            <a:r>
              <a:rPr lang="en-US" sz="2000" dirty="0">
                <a:sym typeface="+mn-ea"/>
              </a:rPr>
              <a:t> program </a:t>
            </a:r>
            <a:r>
              <a:rPr lang="en-US" sz="2000" dirty="0" err="1">
                <a:sym typeface="+mn-ea"/>
              </a:rPr>
              <a:t>urusan</a:t>
            </a:r>
            <a:r>
              <a:rPr lang="en-US" sz="2000" dirty="0">
                <a:sym typeface="+mn-ea"/>
              </a:rPr>
              <a:t> </a:t>
            </a:r>
            <a:r>
              <a:rPr lang="en-US" sz="2000" dirty="0" err="1">
                <a:sym typeface="+mn-ea"/>
              </a:rPr>
              <a:t>umum</a:t>
            </a:r>
            <a:endParaRPr lang="en-US" sz="2000" dirty="0"/>
          </a:p>
          <a:p>
            <a:r>
              <a:rPr lang="en-US" sz="2000" dirty="0">
                <a:sym typeface="+mn-ea"/>
              </a:rPr>
              <a:t>       </a:t>
            </a:r>
            <a:r>
              <a:rPr lang="en-US" sz="2000" dirty="0" err="1">
                <a:sym typeface="+mn-ea"/>
              </a:rPr>
              <a:t>sesuai</a:t>
            </a:r>
            <a:r>
              <a:rPr lang="en-US" sz="2000" dirty="0">
                <a:sym typeface="+mn-ea"/>
              </a:rPr>
              <a:t> </a:t>
            </a:r>
            <a:r>
              <a:rPr lang="en-US" sz="2000" dirty="0" err="1">
                <a:sym typeface="+mn-ea"/>
              </a:rPr>
              <a:t>prosedur</a:t>
            </a:r>
            <a:r>
              <a:rPr lang="en-US" sz="2000" dirty="0">
                <a:sym typeface="+mn-ea"/>
              </a:rPr>
              <a:t>.</a:t>
            </a:r>
            <a:endParaRPr lang="en-SG" altLang="en-US" sz="2000" dirty="0">
              <a:solidFill>
                <a:srgbClr val="0070C0"/>
              </a:solidFill>
            </a:endParaRPr>
          </a:p>
        </p:txBody>
      </p:sp>
      <p:sp>
        <p:nvSpPr>
          <p:cNvPr id="4" name="Text Box 3"/>
          <p:cNvSpPr txBox="1"/>
          <p:nvPr/>
        </p:nvSpPr>
        <p:spPr>
          <a:xfrm>
            <a:off x="1066800" y="2819400"/>
            <a:ext cx="7112635" cy="3476625"/>
          </a:xfrm>
          <a:prstGeom prst="rect">
            <a:avLst/>
          </a:prstGeom>
          <a:noFill/>
        </p:spPr>
        <p:txBody>
          <a:bodyPr wrap="square" rtlCol="0">
            <a:spAutoFit/>
          </a:bodyPr>
          <a:lstStyle/>
          <a:p>
            <a:pPr algn="just"/>
            <a:r>
              <a:rPr lang="en-US" sz="2000" b="1" i="1" dirty="0" err="1">
                <a:sym typeface="+mn-ea"/>
              </a:rPr>
              <a:t>Peraturan</a:t>
            </a:r>
            <a:r>
              <a:rPr lang="en-US" sz="2000" b="1" i="1" dirty="0">
                <a:sym typeface="+mn-ea"/>
              </a:rPr>
              <a:t> </a:t>
            </a:r>
            <a:r>
              <a:rPr lang="en-US" sz="2000" b="1" i="1" dirty="0" err="1">
                <a:sym typeface="+mn-ea"/>
              </a:rPr>
              <a:t>Pemerintah</a:t>
            </a:r>
            <a:r>
              <a:rPr lang="en-US" sz="2000" b="1" i="1" dirty="0">
                <a:sym typeface="+mn-ea"/>
              </a:rPr>
              <a:t> </a:t>
            </a:r>
            <a:r>
              <a:rPr lang="en-US" sz="2000" b="1" i="1" dirty="0" err="1">
                <a:sym typeface="+mn-ea"/>
              </a:rPr>
              <a:t>Nomor</a:t>
            </a:r>
            <a:r>
              <a:rPr lang="en-US" sz="2000" b="1" i="1" dirty="0">
                <a:sym typeface="+mn-ea"/>
              </a:rPr>
              <a:t> 39 </a:t>
            </a:r>
            <a:r>
              <a:rPr lang="en-US" sz="2000" b="1" i="1" dirty="0" err="1">
                <a:sym typeface="+mn-ea"/>
              </a:rPr>
              <a:t>Tahun</a:t>
            </a:r>
            <a:r>
              <a:rPr lang="en-US" sz="2000" b="1" i="1" dirty="0">
                <a:sym typeface="+mn-ea"/>
              </a:rPr>
              <a:t> 2006,</a:t>
            </a:r>
            <a:r>
              <a:rPr lang="en-US" sz="2000" dirty="0">
                <a:sym typeface="+mn-ea"/>
              </a:rPr>
              <a:t> </a:t>
            </a:r>
            <a:endParaRPr lang="en-US" sz="2000" dirty="0"/>
          </a:p>
          <a:p>
            <a:pPr algn="just"/>
            <a:r>
              <a:rPr lang="en-US" sz="2000" dirty="0">
                <a:sym typeface="+mn-ea"/>
              </a:rPr>
              <a:t>DISEBUTKAN BAHWA MONITORING MERUPAKAN SUATU KEGIATAN MENGAMATI SECARA SEKSAMA SUATU KEADAAN ATAU KONDISI, TERMASUK JUGA PERILAKU ATAU KEGIATAN TERTENTU, DENGAN TUJUAN AGAR SEMUA DATA MASUKAN ATAU INFORMASI YANG DIPEROLEH DARI HASIL PENGAMATAN TERSEBUT DAPAT MENJADI LANDASAN DALAM MENGAMBIL KEPUTUSAN TINDAKAN SELANJUTNYA YANG DIPERLUKAN. TINDAKAN TERSEBUT DIPERLUKAN SEANDAINYA HASIL PENGAMATAN MENUNJUKKAN ADANYA HAL ATAU KONDISI YANG TIDAK SESUAI DENGAN YANG DIRENCANAKAN SEMULA.</a:t>
            </a:r>
            <a:endParaRPr lang="en-SG" altLang="en-US" sz="2000" dirty="0">
              <a:solidFill>
                <a:srgbClr val="0070C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609725" y="520700"/>
            <a:ext cx="5781675" cy="398780"/>
          </a:xfrm>
          <a:prstGeom prst="rect">
            <a:avLst/>
          </a:prstGeom>
          <a:noFill/>
        </p:spPr>
        <p:txBody>
          <a:bodyPr wrap="square" rtlCol="0">
            <a:spAutoFit/>
          </a:bodyPr>
          <a:lstStyle/>
          <a:p>
            <a:r>
              <a:rPr lang="en-SG" altLang="en-US" sz="2000" b="1" u="sng">
                <a:sym typeface="+mn-ea"/>
              </a:rPr>
              <a:t>5</a:t>
            </a:r>
            <a:r>
              <a:rPr lang="en-US" sz="2000" b="1" u="sng">
                <a:sym typeface="+mn-ea"/>
              </a:rPr>
              <a:t>. </a:t>
            </a:r>
            <a:r>
              <a:rPr lang="en-SG" altLang="en-US" sz="2000" b="1" u="sng">
                <a:sym typeface="+mn-ea"/>
              </a:rPr>
              <a:t>    </a:t>
            </a:r>
            <a:r>
              <a:rPr lang="en-US" sz="2000" b="1" u="sng">
                <a:sym typeface="+mn-ea"/>
              </a:rPr>
              <a:t> Melaksanakan Pengelolaan </a:t>
            </a:r>
            <a:r>
              <a:rPr lang="en-SG" altLang="en-US" sz="2000" b="1" u="sng">
                <a:sym typeface="+mn-ea"/>
              </a:rPr>
              <a:t>Keuangan</a:t>
            </a:r>
            <a:r>
              <a:rPr lang="en-US" sz="2000" b="1" u="sng">
                <a:sym typeface="+mn-ea"/>
              </a:rPr>
              <a:t> </a:t>
            </a:r>
            <a:endParaRPr lang="en-SG" altLang="en-US" sz="2000" dirty="0">
              <a:solidFill>
                <a:srgbClr val="0070C0"/>
              </a:solidFill>
            </a:endParaRPr>
          </a:p>
        </p:txBody>
      </p:sp>
      <p:pic>
        <p:nvPicPr>
          <p:cNvPr id="4" name="Picture 3" descr="WhatsApp Image 2023-10-28 at 23.26.57"/>
          <p:cNvPicPr>
            <a:picLocks noChangeAspect="1"/>
          </p:cNvPicPr>
          <p:nvPr/>
        </p:nvPicPr>
        <p:blipFill>
          <a:blip r:embed="rId2"/>
          <a:stretch>
            <a:fillRect/>
          </a:stretch>
        </p:blipFill>
        <p:spPr>
          <a:xfrm>
            <a:off x="1087755" y="1038860"/>
            <a:ext cx="7230745" cy="5542280"/>
          </a:xfrm>
          <a:prstGeom prst="rect">
            <a:avLst/>
          </a:prstGeom>
        </p:spPr>
      </p:pic>
      <p:sp>
        <p:nvSpPr>
          <p:cNvPr id="5" name="Text Box 4"/>
          <p:cNvSpPr txBox="1"/>
          <p:nvPr/>
        </p:nvSpPr>
        <p:spPr>
          <a:xfrm>
            <a:off x="8789035" y="4531360"/>
            <a:ext cx="3048000" cy="398780"/>
          </a:xfrm>
          <a:prstGeom prst="rect">
            <a:avLst/>
          </a:prstGeom>
          <a:noFill/>
        </p:spPr>
        <p:txBody>
          <a:bodyPr wrap="square" rtlCol="0">
            <a:spAutoFit/>
          </a:bodyPr>
          <a:lstStyle/>
          <a:p>
            <a:endParaRPr lang="en-SG" altLang="en-US" sz="2000" dirty="0">
              <a:solidFill>
                <a:srgbClr val="0070C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29360" y="457200"/>
            <a:ext cx="7265670" cy="398780"/>
          </a:xfrm>
          <a:prstGeom prst="rect">
            <a:avLst/>
          </a:prstGeom>
          <a:noFill/>
        </p:spPr>
        <p:txBody>
          <a:bodyPr wrap="square" rtlCol="0">
            <a:spAutoFit/>
          </a:bodyPr>
          <a:lstStyle/>
          <a:p>
            <a:r>
              <a:rPr lang="en-SG" altLang="en-US" sz="2000" b="1">
                <a:sym typeface="+mn-ea"/>
              </a:rPr>
              <a:t>6</a:t>
            </a:r>
            <a:r>
              <a:rPr lang="en-US" sz="2000" b="1">
                <a:sym typeface="+mn-ea"/>
              </a:rPr>
              <a:t>. </a:t>
            </a:r>
            <a:r>
              <a:rPr lang="en-SG" altLang="en-US" sz="2000" b="1">
                <a:sym typeface="+mn-ea"/>
              </a:rPr>
              <a:t>    </a:t>
            </a:r>
            <a:r>
              <a:rPr lang="en-US" sz="2000" b="1">
                <a:sym typeface="+mn-ea"/>
              </a:rPr>
              <a:t> Melaksanakan Pengelolaan </a:t>
            </a:r>
            <a:r>
              <a:rPr lang="en-SG" altLang="en-US" sz="2000" b="1">
                <a:sym typeface="+mn-ea"/>
              </a:rPr>
              <a:t>Pemasaran</a:t>
            </a:r>
            <a:r>
              <a:rPr lang="en-US" sz="2000" b="1">
                <a:sym typeface="+mn-ea"/>
              </a:rPr>
              <a:t> </a:t>
            </a:r>
            <a:endParaRPr lang="en-SG" altLang="en-US" sz="2000" dirty="0">
              <a:solidFill>
                <a:srgbClr val="0070C0"/>
              </a:solidFill>
            </a:endParaRPr>
          </a:p>
        </p:txBody>
      </p:sp>
      <p:pic>
        <p:nvPicPr>
          <p:cNvPr id="4" name="Picture 3" descr="WhatsApp Image 2023-10-29 at 00.05.40 (2)"/>
          <p:cNvPicPr>
            <a:picLocks noChangeAspect="1"/>
          </p:cNvPicPr>
          <p:nvPr/>
        </p:nvPicPr>
        <p:blipFill>
          <a:blip r:embed="rId2"/>
          <a:stretch>
            <a:fillRect/>
          </a:stretch>
        </p:blipFill>
        <p:spPr>
          <a:xfrm>
            <a:off x="1143000" y="1039495"/>
            <a:ext cx="6858000" cy="558990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19200" y="381000"/>
            <a:ext cx="7487920" cy="398780"/>
          </a:xfrm>
          <a:prstGeom prst="rect">
            <a:avLst/>
          </a:prstGeom>
          <a:noFill/>
        </p:spPr>
        <p:txBody>
          <a:bodyPr wrap="square" rtlCol="0">
            <a:spAutoFit/>
          </a:bodyPr>
          <a:lstStyle/>
          <a:p>
            <a:pPr algn="ctr"/>
            <a:r>
              <a:rPr lang="en-SG" altLang="en-US" sz="2000" b="1">
                <a:sym typeface="+mn-ea"/>
              </a:rPr>
              <a:t>7</a:t>
            </a:r>
            <a:r>
              <a:rPr lang="en-US" sz="2000" b="1">
                <a:sym typeface="+mn-ea"/>
              </a:rPr>
              <a:t>. </a:t>
            </a:r>
            <a:r>
              <a:rPr lang="en-SG" altLang="en-US" sz="2000" b="1">
                <a:sym typeface="+mn-ea"/>
              </a:rPr>
              <a:t>    </a:t>
            </a:r>
            <a:r>
              <a:rPr lang="en-US" sz="2000" b="1">
                <a:sym typeface="+mn-ea"/>
              </a:rPr>
              <a:t> Melaksanakan Pengelolaan </a:t>
            </a:r>
            <a:r>
              <a:rPr lang="en-SG" altLang="en-US" sz="2000" b="1">
                <a:sym typeface="+mn-ea"/>
              </a:rPr>
              <a:t>Keamanan</a:t>
            </a:r>
            <a:r>
              <a:rPr lang="en-US" sz="2000" b="1">
                <a:sym typeface="+mn-ea"/>
              </a:rPr>
              <a:t> </a:t>
            </a:r>
            <a:endParaRPr lang="en-SG" altLang="en-US" sz="2000" dirty="0">
              <a:solidFill>
                <a:srgbClr val="0070C0"/>
              </a:solidFill>
            </a:endParaRPr>
          </a:p>
        </p:txBody>
      </p:sp>
      <p:pic>
        <p:nvPicPr>
          <p:cNvPr id="4" name="Picture 3" descr="WhatsApp Image 2023-10-29 at 00.21.57"/>
          <p:cNvPicPr>
            <a:picLocks noChangeAspect="1"/>
          </p:cNvPicPr>
          <p:nvPr/>
        </p:nvPicPr>
        <p:blipFill>
          <a:blip r:embed="rId2"/>
          <a:stretch>
            <a:fillRect/>
          </a:stretch>
        </p:blipFill>
        <p:spPr>
          <a:xfrm>
            <a:off x="1143000" y="888365"/>
            <a:ext cx="7404735" cy="57124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7E23EB-8C9E-4781-AFEA-2DE641A08EAC}"/>
              </a:ext>
            </a:extLst>
          </p:cNvPr>
          <p:cNvSpPr txBox="1"/>
          <p:nvPr/>
        </p:nvSpPr>
        <p:spPr>
          <a:xfrm>
            <a:off x="838200" y="1371600"/>
            <a:ext cx="4572000" cy="646331"/>
          </a:xfrm>
          <a:prstGeom prst="rect">
            <a:avLst/>
          </a:prstGeom>
          <a:noFill/>
        </p:spPr>
        <p:txBody>
          <a:bodyPr wrap="square">
            <a:spAutoFit/>
          </a:bodyPr>
          <a:lstStyle/>
          <a:p>
            <a:r>
              <a:rPr lang="sv-SE" dirty="0"/>
              <a:t>1. KEAMANAN TAPAK TERKAIT HUBUNGAN DENGAN SEKITARNYA </a:t>
            </a:r>
            <a:endParaRPr lang="en-ID" dirty="0"/>
          </a:p>
        </p:txBody>
      </p:sp>
      <p:sp>
        <p:nvSpPr>
          <p:cNvPr id="5" name="TextBox 4">
            <a:extLst>
              <a:ext uri="{FF2B5EF4-FFF2-40B4-BE49-F238E27FC236}">
                <a16:creationId xmlns:a16="http://schemas.microsoft.com/office/drawing/2014/main" id="{5A95311B-417F-4063-B5FB-DFF06D279A4E}"/>
              </a:ext>
            </a:extLst>
          </p:cNvPr>
          <p:cNvSpPr txBox="1"/>
          <p:nvPr/>
        </p:nvSpPr>
        <p:spPr>
          <a:xfrm>
            <a:off x="2286000" y="609600"/>
            <a:ext cx="4572000" cy="646331"/>
          </a:xfrm>
          <a:prstGeom prst="rect">
            <a:avLst/>
          </a:prstGeom>
          <a:noFill/>
        </p:spPr>
        <p:txBody>
          <a:bodyPr wrap="square">
            <a:spAutoFit/>
          </a:bodyPr>
          <a:lstStyle/>
          <a:p>
            <a:pPr algn="ctr"/>
            <a:r>
              <a:rPr lang="nn-NO" b="1" dirty="0"/>
              <a:t>PRINSIP UMUM DESAIN AMAN TINDAK KRIMINAL</a:t>
            </a:r>
            <a:endParaRPr lang="en-ID" b="1" dirty="0"/>
          </a:p>
        </p:txBody>
      </p:sp>
      <p:sp>
        <p:nvSpPr>
          <p:cNvPr id="7" name="TextBox 6">
            <a:extLst>
              <a:ext uri="{FF2B5EF4-FFF2-40B4-BE49-F238E27FC236}">
                <a16:creationId xmlns:a16="http://schemas.microsoft.com/office/drawing/2014/main" id="{814EF967-822C-4316-BA9A-CCE2D13F6B17}"/>
              </a:ext>
            </a:extLst>
          </p:cNvPr>
          <p:cNvSpPr txBox="1"/>
          <p:nvPr/>
        </p:nvSpPr>
        <p:spPr>
          <a:xfrm>
            <a:off x="1295400" y="2017931"/>
            <a:ext cx="4572000" cy="2031325"/>
          </a:xfrm>
          <a:prstGeom prst="rect">
            <a:avLst/>
          </a:prstGeom>
          <a:noFill/>
        </p:spPr>
        <p:txBody>
          <a:bodyPr wrap="square">
            <a:spAutoFit/>
          </a:bodyPr>
          <a:lstStyle/>
          <a:p>
            <a:r>
              <a:rPr lang="en-ID" dirty="0"/>
              <a:t>1.1. Zone 1 </a:t>
            </a:r>
            <a:r>
              <a:rPr lang="en-ID" dirty="0" err="1"/>
              <a:t>Neighborhood</a:t>
            </a:r>
            <a:r>
              <a:rPr lang="en-ID" dirty="0"/>
              <a:t> </a:t>
            </a:r>
          </a:p>
          <a:p>
            <a:r>
              <a:rPr lang="it-IT" dirty="0"/>
              <a:t>1.2. Zone 2 Standoff Perimeter </a:t>
            </a:r>
            <a:endParaRPr lang="en-ID" dirty="0"/>
          </a:p>
          <a:p>
            <a:r>
              <a:rPr lang="en-US" dirty="0"/>
              <a:t>1.3. Zone 3 Site Access and Parking </a:t>
            </a:r>
            <a:endParaRPr lang="en-ID" dirty="0"/>
          </a:p>
          <a:p>
            <a:r>
              <a:rPr lang="en-ID" dirty="0"/>
              <a:t>1.4. Zone 4 Site </a:t>
            </a:r>
          </a:p>
          <a:p>
            <a:r>
              <a:rPr lang="en-US" dirty="0"/>
              <a:t>1.5. Zona 5 Building Envelope </a:t>
            </a:r>
          </a:p>
          <a:p>
            <a:r>
              <a:rPr lang="en-US" dirty="0"/>
              <a:t>1.6. Zona 6 Management and Building Operations </a:t>
            </a:r>
            <a:endParaRPr lang="en-ID" dirty="0"/>
          </a:p>
        </p:txBody>
      </p:sp>
      <p:sp>
        <p:nvSpPr>
          <p:cNvPr id="9" name="TextBox 8">
            <a:extLst>
              <a:ext uri="{FF2B5EF4-FFF2-40B4-BE49-F238E27FC236}">
                <a16:creationId xmlns:a16="http://schemas.microsoft.com/office/drawing/2014/main" id="{515BB722-DB08-40AB-9FFD-30868F5A294C}"/>
              </a:ext>
            </a:extLst>
          </p:cNvPr>
          <p:cNvSpPr txBox="1"/>
          <p:nvPr/>
        </p:nvSpPr>
        <p:spPr>
          <a:xfrm>
            <a:off x="1066800" y="4049256"/>
            <a:ext cx="4572000" cy="369332"/>
          </a:xfrm>
          <a:prstGeom prst="rect">
            <a:avLst/>
          </a:prstGeom>
          <a:noFill/>
        </p:spPr>
        <p:txBody>
          <a:bodyPr wrap="square">
            <a:spAutoFit/>
          </a:bodyPr>
          <a:lstStyle/>
          <a:p>
            <a:r>
              <a:rPr lang="en-ID" dirty="0"/>
              <a:t>2. LANDSCAPE </a:t>
            </a:r>
          </a:p>
        </p:txBody>
      </p:sp>
      <p:sp>
        <p:nvSpPr>
          <p:cNvPr id="11" name="TextBox 10">
            <a:extLst>
              <a:ext uri="{FF2B5EF4-FFF2-40B4-BE49-F238E27FC236}">
                <a16:creationId xmlns:a16="http://schemas.microsoft.com/office/drawing/2014/main" id="{AF781D5A-7073-42FD-8838-29E9FB4085BC}"/>
              </a:ext>
            </a:extLst>
          </p:cNvPr>
          <p:cNvSpPr txBox="1"/>
          <p:nvPr/>
        </p:nvSpPr>
        <p:spPr>
          <a:xfrm>
            <a:off x="1082842" y="4352953"/>
            <a:ext cx="4572000" cy="369332"/>
          </a:xfrm>
          <a:prstGeom prst="rect">
            <a:avLst/>
          </a:prstGeom>
          <a:noFill/>
        </p:spPr>
        <p:txBody>
          <a:bodyPr wrap="square">
            <a:spAutoFit/>
          </a:bodyPr>
          <a:lstStyle/>
          <a:p>
            <a:r>
              <a:rPr lang="en-ID" dirty="0"/>
              <a:t>3. ZONASI FUNGSI DAN FASILITAS </a:t>
            </a:r>
          </a:p>
        </p:txBody>
      </p:sp>
      <p:sp>
        <p:nvSpPr>
          <p:cNvPr id="13" name="TextBox 12">
            <a:extLst>
              <a:ext uri="{FF2B5EF4-FFF2-40B4-BE49-F238E27FC236}">
                <a16:creationId xmlns:a16="http://schemas.microsoft.com/office/drawing/2014/main" id="{45E73686-60ED-45F0-A43E-E0E668AF682D}"/>
              </a:ext>
            </a:extLst>
          </p:cNvPr>
          <p:cNvSpPr txBox="1"/>
          <p:nvPr/>
        </p:nvSpPr>
        <p:spPr>
          <a:xfrm>
            <a:off x="1094873" y="4656650"/>
            <a:ext cx="4572000" cy="369332"/>
          </a:xfrm>
          <a:prstGeom prst="rect">
            <a:avLst/>
          </a:prstGeom>
          <a:noFill/>
        </p:spPr>
        <p:txBody>
          <a:bodyPr wrap="square">
            <a:spAutoFit/>
          </a:bodyPr>
          <a:lstStyle/>
          <a:p>
            <a:r>
              <a:rPr lang="en-ID" dirty="0"/>
              <a:t>4. KONSTRUKSI BANGUNAN </a:t>
            </a:r>
          </a:p>
        </p:txBody>
      </p:sp>
      <p:sp>
        <p:nvSpPr>
          <p:cNvPr id="15" name="TextBox 14">
            <a:extLst>
              <a:ext uri="{FF2B5EF4-FFF2-40B4-BE49-F238E27FC236}">
                <a16:creationId xmlns:a16="http://schemas.microsoft.com/office/drawing/2014/main" id="{4067B945-1669-4D35-8D94-1D82A922FACE}"/>
              </a:ext>
            </a:extLst>
          </p:cNvPr>
          <p:cNvSpPr txBox="1"/>
          <p:nvPr/>
        </p:nvSpPr>
        <p:spPr>
          <a:xfrm>
            <a:off x="1106904" y="4960347"/>
            <a:ext cx="4572000" cy="369332"/>
          </a:xfrm>
          <a:prstGeom prst="rect">
            <a:avLst/>
          </a:prstGeom>
          <a:noFill/>
        </p:spPr>
        <p:txBody>
          <a:bodyPr wrap="square">
            <a:spAutoFit/>
          </a:bodyPr>
          <a:lstStyle/>
          <a:p>
            <a:r>
              <a:rPr lang="en-US" dirty="0"/>
              <a:t>5. LOCKS AND DOOR HARDWARE </a:t>
            </a:r>
            <a:endParaRPr lang="en-ID" dirty="0"/>
          </a:p>
        </p:txBody>
      </p:sp>
      <p:sp>
        <p:nvSpPr>
          <p:cNvPr id="17" name="TextBox 16">
            <a:extLst>
              <a:ext uri="{FF2B5EF4-FFF2-40B4-BE49-F238E27FC236}">
                <a16:creationId xmlns:a16="http://schemas.microsoft.com/office/drawing/2014/main" id="{4FB5AF9C-A229-487C-848A-4CBD08831B81}"/>
              </a:ext>
            </a:extLst>
          </p:cNvPr>
          <p:cNvSpPr txBox="1"/>
          <p:nvPr/>
        </p:nvSpPr>
        <p:spPr>
          <a:xfrm>
            <a:off x="1118935" y="5329679"/>
            <a:ext cx="4572000" cy="369332"/>
          </a:xfrm>
          <a:prstGeom prst="rect">
            <a:avLst/>
          </a:prstGeom>
          <a:noFill/>
        </p:spPr>
        <p:txBody>
          <a:bodyPr wrap="square">
            <a:spAutoFit/>
          </a:bodyPr>
          <a:lstStyle/>
          <a:p>
            <a:r>
              <a:rPr lang="en-ID" dirty="0"/>
              <a:t>6.PENCAHAYAAN KEAMANAN</a:t>
            </a:r>
          </a:p>
        </p:txBody>
      </p:sp>
      <p:sp>
        <p:nvSpPr>
          <p:cNvPr id="19" name="TextBox 18">
            <a:extLst>
              <a:ext uri="{FF2B5EF4-FFF2-40B4-BE49-F238E27FC236}">
                <a16:creationId xmlns:a16="http://schemas.microsoft.com/office/drawing/2014/main" id="{657F9760-801E-40B8-BF1A-A719160CB158}"/>
              </a:ext>
            </a:extLst>
          </p:cNvPr>
          <p:cNvSpPr txBox="1"/>
          <p:nvPr/>
        </p:nvSpPr>
        <p:spPr>
          <a:xfrm>
            <a:off x="1138988" y="5699011"/>
            <a:ext cx="4572000" cy="369332"/>
          </a:xfrm>
          <a:prstGeom prst="rect">
            <a:avLst/>
          </a:prstGeom>
          <a:noFill/>
        </p:spPr>
        <p:txBody>
          <a:bodyPr wrap="square">
            <a:spAutoFit/>
          </a:bodyPr>
          <a:lstStyle/>
          <a:p>
            <a:r>
              <a:rPr lang="en-ID" dirty="0"/>
              <a:t>7.AKSESIBILITAS</a:t>
            </a:r>
          </a:p>
        </p:txBody>
      </p:sp>
      <p:sp>
        <p:nvSpPr>
          <p:cNvPr id="21" name="TextBox 20">
            <a:extLst>
              <a:ext uri="{FF2B5EF4-FFF2-40B4-BE49-F238E27FC236}">
                <a16:creationId xmlns:a16="http://schemas.microsoft.com/office/drawing/2014/main" id="{FCBC391C-40F8-453E-9C13-916067A9A995}"/>
              </a:ext>
            </a:extLst>
          </p:cNvPr>
          <p:cNvSpPr txBox="1"/>
          <p:nvPr/>
        </p:nvSpPr>
        <p:spPr>
          <a:xfrm>
            <a:off x="1134979" y="6068343"/>
            <a:ext cx="4572000" cy="369332"/>
          </a:xfrm>
          <a:prstGeom prst="rect">
            <a:avLst/>
          </a:prstGeom>
          <a:noFill/>
        </p:spPr>
        <p:txBody>
          <a:bodyPr wrap="square">
            <a:spAutoFit/>
          </a:bodyPr>
          <a:lstStyle/>
          <a:p>
            <a:r>
              <a:rPr lang="en-ID" dirty="0"/>
              <a:t>8. TANDA/SIGNED/ISYARAT</a:t>
            </a:r>
          </a:p>
        </p:txBody>
      </p:sp>
    </p:spTree>
    <p:extLst>
      <p:ext uri="{BB962C8B-B14F-4D97-AF65-F5344CB8AC3E}">
        <p14:creationId xmlns:p14="http://schemas.microsoft.com/office/powerpoint/2010/main" val="14907894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33170" y="547370"/>
            <a:ext cx="7301230" cy="398780"/>
          </a:xfrm>
          <a:prstGeom prst="rect">
            <a:avLst/>
          </a:prstGeom>
          <a:noFill/>
        </p:spPr>
        <p:txBody>
          <a:bodyPr wrap="square" rtlCol="0">
            <a:spAutoFit/>
          </a:bodyPr>
          <a:lstStyle/>
          <a:p>
            <a:pPr algn="ctr"/>
            <a:r>
              <a:rPr lang="en-SG" altLang="en-US" sz="2000" b="1">
                <a:sym typeface="+mn-ea"/>
              </a:rPr>
              <a:t>8</a:t>
            </a:r>
            <a:r>
              <a:rPr lang="en-US" sz="2000" b="1">
                <a:sym typeface="+mn-ea"/>
              </a:rPr>
              <a:t>. </a:t>
            </a:r>
            <a:r>
              <a:rPr lang="en-SG" altLang="en-US" sz="2000" b="1">
                <a:sym typeface="+mn-ea"/>
              </a:rPr>
              <a:t>    </a:t>
            </a:r>
            <a:r>
              <a:rPr lang="en-US" sz="2000" b="1">
                <a:sym typeface="+mn-ea"/>
              </a:rPr>
              <a:t> Melaksanakan Pengelolaan </a:t>
            </a:r>
            <a:r>
              <a:rPr lang="en-SG" altLang="en-US" sz="2000" b="1">
                <a:sym typeface="+mn-ea"/>
              </a:rPr>
              <a:t>Pengoperasian</a:t>
            </a:r>
            <a:endParaRPr lang="en-SG" altLang="en-US" sz="2000" b="1" dirty="0">
              <a:solidFill>
                <a:srgbClr val="0070C0"/>
              </a:solidFill>
              <a:sym typeface="+mn-ea"/>
            </a:endParaRPr>
          </a:p>
        </p:txBody>
      </p:sp>
      <p:pic>
        <p:nvPicPr>
          <p:cNvPr id="4" name="Picture 3" descr="WhatsApp Image 2023-10-29 at 00.05.40"/>
          <p:cNvPicPr>
            <a:picLocks noChangeAspect="1"/>
          </p:cNvPicPr>
          <p:nvPr/>
        </p:nvPicPr>
        <p:blipFill>
          <a:blip r:embed="rId2"/>
          <a:stretch>
            <a:fillRect/>
          </a:stretch>
        </p:blipFill>
        <p:spPr>
          <a:xfrm>
            <a:off x="1356995" y="1041400"/>
            <a:ext cx="6871970" cy="526161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31875" y="534035"/>
            <a:ext cx="7475220" cy="398780"/>
          </a:xfrm>
          <a:prstGeom prst="rect">
            <a:avLst/>
          </a:prstGeom>
          <a:noFill/>
        </p:spPr>
        <p:txBody>
          <a:bodyPr wrap="square" rtlCol="0">
            <a:spAutoFit/>
          </a:bodyPr>
          <a:lstStyle/>
          <a:p>
            <a:pPr algn="ctr"/>
            <a:r>
              <a:rPr lang="en-SG" altLang="en-US" sz="2000" b="1">
                <a:sym typeface="+mn-ea"/>
              </a:rPr>
              <a:t>9</a:t>
            </a:r>
            <a:r>
              <a:rPr lang="en-US" sz="2000" b="1">
                <a:sym typeface="+mn-ea"/>
              </a:rPr>
              <a:t>. </a:t>
            </a:r>
            <a:r>
              <a:rPr lang="en-SG" altLang="en-US" sz="2000" b="1">
                <a:sym typeface="+mn-ea"/>
              </a:rPr>
              <a:t>    </a:t>
            </a:r>
            <a:r>
              <a:rPr lang="en-US" sz="2000" b="1">
                <a:sym typeface="+mn-ea"/>
              </a:rPr>
              <a:t> Melaksanakan Pengelolaan </a:t>
            </a:r>
            <a:r>
              <a:rPr lang="en-SG" altLang="en-US" sz="2000" b="1">
                <a:sym typeface="+mn-ea"/>
              </a:rPr>
              <a:t>Pemeliharaan</a:t>
            </a:r>
            <a:r>
              <a:rPr lang="en-US" sz="2000" b="1">
                <a:sym typeface="+mn-ea"/>
              </a:rPr>
              <a:t> </a:t>
            </a:r>
            <a:endParaRPr lang="en-SG" altLang="en-US" sz="2000" dirty="0">
              <a:solidFill>
                <a:srgbClr val="0070C0"/>
              </a:solidFill>
            </a:endParaRPr>
          </a:p>
        </p:txBody>
      </p:sp>
      <p:pic>
        <p:nvPicPr>
          <p:cNvPr id="8" name="Picture 7" descr="WhatsApp Image 2023-10-29 at 00.05.39"/>
          <p:cNvPicPr>
            <a:picLocks noChangeAspect="1"/>
          </p:cNvPicPr>
          <p:nvPr/>
        </p:nvPicPr>
        <p:blipFill>
          <a:blip r:embed="rId2"/>
          <a:stretch>
            <a:fillRect/>
          </a:stretch>
        </p:blipFill>
        <p:spPr>
          <a:xfrm>
            <a:off x="1289050" y="1099185"/>
            <a:ext cx="7218045" cy="54686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37958F4-35B8-4A82-BE48-6BFFC109F185}"/>
              </a:ext>
            </a:extLst>
          </p:cNvPr>
          <p:cNvSpPr txBox="1"/>
          <p:nvPr/>
        </p:nvSpPr>
        <p:spPr>
          <a:xfrm>
            <a:off x="2209800" y="2438400"/>
            <a:ext cx="4495800" cy="1384995"/>
          </a:xfrm>
          <a:prstGeom prst="rect">
            <a:avLst/>
          </a:prstGeom>
          <a:noFill/>
        </p:spPr>
        <p:txBody>
          <a:bodyPr wrap="square">
            <a:spAutoFit/>
          </a:bodyPr>
          <a:lstStyle/>
          <a:p>
            <a:pPr algn="ctr"/>
            <a:r>
              <a:rPr lang="en-ID" sz="2800" b="1" i="1" dirty="0">
                <a:solidFill>
                  <a:srgbClr val="FF0000"/>
                </a:solidFill>
                <a:latin typeface="Montserrat-FF"/>
              </a:rPr>
              <a:t>PEMELIHARAAN TAMAN</a:t>
            </a:r>
            <a:br>
              <a:rPr lang="en-ID" sz="2800" dirty="0"/>
            </a:br>
            <a:endParaRPr lang="en-ID" sz="2800" dirty="0"/>
          </a:p>
        </p:txBody>
      </p:sp>
    </p:spTree>
    <p:extLst>
      <p:ext uri="{BB962C8B-B14F-4D97-AF65-F5344CB8AC3E}">
        <p14:creationId xmlns:p14="http://schemas.microsoft.com/office/powerpoint/2010/main" val="36930942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9AA068-68D9-4EDD-82CB-4BBB8FA4D625}"/>
              </a:ext>
            </a:extLst>
          </p:cNvPr>
          <p:cNvSpPr txBox="1"/>
          <p:nvPr/>
        </p:nvSpPr>
        <p:spPr>
          <a:xfrm>
            <a:off x="914400" y="1767007"/>
            <a:ext cx="7315200" cy="4339650"/>
          </a:xfrm>
          <a:prstGeom prst="rect">
            <a:avLst/>
          </a:prstGeom>
          <a:noFill/>
        </p:spPr>
        <p:txBody>
          <a:bodyPr wrap="square">
            <a:spAutoFit/>
          </a:bodyPr>
          <a:lstStyle/>
          <a:p>
            <a:pPr lvl="3">
              <a:tabLst>
                <a:tab pos="-2628900" algn="l"/>
                <a:tab pos="685800" algn="l"/>
              </a:tabLst>
            </a:pPr>
            <a:r>
              <a:rPr lang="id-ID" sz="1000" dirty="0">
                <a:effectLst/>
                <a:latin typeface="Arial" panose="020B0604020202020204" pitchFamily="34" charset="0"/>
                <a:ea typeface="Times New Roman" panose="02020603050405020304" pitchFamily="18" charset="0"/>
              </a:rPr>
              <a:t>  </a:t>
            </a:r>
            <a:endParaRPr lang="en-ID" sz="12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914400" algn="l"/>
              </a:tabLst>
            </a:pPr>
            <a:r>
              <a:rPr lang="id-ID" sz="1600" i="1" dirty="0">
                <a:effectLst/>
                <a:latin typeface="Arial" panose="020B0604020202020204" pitchFamily="34" charset="0"/>
                <a:ea typeface="Times New Roman" panose="02020603050405020304" pitchFamily="18" charset="0"/>
              </a:rPr>
              <a:t>Pe</a:t>
            </a:r>
            <a:r>
              <a:rPr lang="en-US" sz="1600" i="1" dirty="0" err="1">
                <a:effectLst/>
                <a:latin typeface="Arial" panose="020B0604020202020204" pitchFamily="34" charset="0"/>
                <a:ea typeface="Times New Roman" panose="02020603050405020304" pitchFamily="18" charset="0"/>
              </a:rPr>
              <a:t>meliharaan</a:t>
            </a:r>
            <a:r>
              <a:rPr lang="id-ID" sz="1600" i="1" dirty="0">
                <a:effectLst/>
                <a:latin typeface="Arial" panose="020B0604020202020204" pitchFamily="34" charset="0"/>
                <a:ea typeface="Times New Roman" panose="02020603050405020304" pitchFamily="18" charset="0"/>
              </a:rPr>
              <a:t> tanaman rumput</a:t>
            </a:r>
            <a:r>
              <a:rPr lang="id-ID" sz="1600" dirty="0">
                <a:effectLst/>
                <a:latin typeface="Arial" panose="020B0604020202020204" pitchFamily="34" charset="0"/>
                <a:ea typeface="Times New Roman" panose="02020603050405020304" pitchFamily="18" charset="0"/>
              </a:rPr>
              <a:t> : </a:t>
            </a:r>
            <a:endParaRPr lang="en-ID" sz="1600" dirty="0">
              <a:effectLst/>
              <a:latin typeface="Arial" panose="020B0604020202020204" pitchFamily="34" charset="0"/>
              <a:ea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Penyiraman dilaksanakan setiap hari pagi jam 6.30 wib dan sore jam 15.30 wib atau lebih intensif disaat musim kemarau serta disesuaikan dengan kegiatan acara yang berlangsung</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Pemupukan dilaksanakan setiap 2 ( dua ) bulan sekali dengan menggunakan pupuk yang sesuai dengan jenis rumput</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Pencabutan/pembersihan tanaman/rumput liar dilaksanakan setiap hari</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Penyapuan dilaksanakan setiap waktu dan disesuaikan dengan kegiatan acara yang berlangsung serta lebih intensif terutama di musim kemarau (musim rontok)</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Pengetrikan tepian rumput dilaksanakan apabila rumput sudah  keluar dari batas kanstin, bordes dan batas antara rumput dengan tanaman hias/pohon</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Pemotongan rumput dilaksanakan seminggu sekali atau disesuaikan dengan kondisi rumput terutama di musim penghujan</a:t>
            </a:r>
            <a:endParaRPr lang="en-ID"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1257300" algn="just"/>
            <a:r>
              <a:rPr lang="id-ID" sz="1000" dirty="0">
                <a:effectLst/>
                <a:latin typeface="Arial" panose="020B0604020202020204" pitchFamily="34" charset="0"/>
                <a:ea typeface="Times New Roman" panose="02020603050405020304" pitchFamily="18" charset="0"/>
              </a:rPr>
              <a:t> </a:t>
            </a:r>
            <a:endParaRPr lang="en-ID" sz="1000" dirty="0">
              <a:effectLst/>
              <a:latin typeface="Arial" panose="020B0604020202020204" pitchFamily="34" charset="0"/>
              <a:ea typeface="Times New Roman" panose="02020603050405020304" pitchFamily="18" charset="0"/>
            </a:endParaRPr>
          </a:p>
        </p:txBody>
      </p:sp>
      <p:sp>
        <p:nvSpPr>
          <p:cNvPr id="5" name="TextBox 4">
            <a:extLst>
              <a:ext uri="{FF2B5EF4-FFF2-40B4-BE49-F238E27FC236}">
                <a16:creationId xmlns:a16="http://schemas.microsoft.com/office/drawing/2014/main" id="{707D73EE-C269-4FEF-9F3A-1E7BB29DA1F9}"/>
              </a:ext>
            </a:extLst>
          </p:cNvPr>
          <p:cNvSpPr txBox="1"/>
          <p:nvPr/>
        </p:nvSpPr>
        <p:spPr>
          <a:xfrm>
            <a:off x="1447800" y="990600"/>
            <a:ext cx="6553200" cy="369332"/>
          </a:xfrm>
          <a:prstGeom prst="rect">
            <a:avLst/>
          </a:prstGeom>
          <a:noFill/>
        </p:spPr>
        <p:txBody>
          <a:bodyPr wrap="square">
            <a:spAutoFit/>
          </a:bodyPr>
          <a:lstStyle/>
          <a:p>
            <a:r>
              <a:rPr lang="en-US" b="1" i="1" dirty="0" err="1">
                <a:solidFill>
                  <a:srgbClr val="000000"/>
                </a:solidFill>
                <a:latin typeface="Montserrat-FF"/>
              </a:rPr>
              <a:t>Jenis</a:t>
            </a:r>
            <a:r>
              <a:rPr lang="en-US" b="1" i="1" dirty="0">
                <a:solidFill>
                  <a:srgbClr val="000000"/>
                </a:solidFill>
                <a:latin typeface="Montserrat-FF"/>
              </a:rPr>
              <a:t> </a:t>
            </a:r>
            <a:r>
              <a:rPr lang="en-US" b="1" i="1" dirty="0" err="1">
                <a:solidFill>
                  <a:srgbClr val="000000"/>
                </a:solidFill>
                <a:latin typeface="Montserrat-FF"/>
              </a:rPr>
              <a:t>pekerjaan</a:t>
            </a:r>
            <a:r>
              <a:rPr lang="en-US" b="1" i="1" dirty="0">
                <a:solidFill>
                  <a:srgbClr val="000000"/>
                </a:solidFill>
                <a:latin typeface="Montserrat-FF"/>
              </a:rPr>
              <a:t> </a:t>
            </a:r>
            <a:r>
              <a:rPr lang="en-US" b="1" i="1" dirty="0" err="1">
                <a:solidFill>
                  <a:srgbClr val="000000"/>
                </a:solidFill>
                <a:latin typeface="Montserrat-FF"/>
              </a:rPr>
              <a:t>meliputi</a:t>
            </a:r>
            <a:r>
              <a:rPr lang="en-US" b="1" i="1" dirty="0">
                <a:solidFill>
                  <a:srgbClr val="000000"/>
                </a:solidFill>
                <a:latin typeface="Montserrat-FF"/>
              </a:rPr>
              <a:t> : </a:t>
            </a:r>
            <a:endParaRPr lang="en-ID" dirty="0"/>
          </a:p>
        </p:txBody>
      </p:sp>
    </p:spTree>
    <p:extLst>
      <p:ext uri="{BB962C8B-B14F-4D97-AF65-F5344CB8AC3E}">
        <p14:creationId xmlns:p14="http://schemas.microsoft.com/office/powerpoint/2010/main" val="114734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286EDF-8F78-4781-80E0-8C47E458EDB7}"/>
              </a:ext>
            </a:extLst>
          </p:cNvPr>
          <p:cNvSpPr txBox="1"/>
          <p:nvPr/>
        </p:nvSpPr>
        <p:spPr>
          <a:xfrm>
            <a:off x="1066800" y="990600"/>
            <a:ext cx="7162800" cy="4493538"/>
          </a:xfrm>
          <a:prstGeom prst="rect">
            <a:avLst/>
          </a:prstGeom>
          <a:noFill/>
        </p:spPr>
        <p:txBody>
          <a:bodyPr wrap="square">
            <a:spAutoFit/>
          </a:bodyPr>
          <a:lstStyle/>
          <a:p>
            <a:pPr marL="342900" lvl="0" indent="-342900" algn="just">
              <a:buFont typeface="Symbol" panose="05050102010706020507" pitchFamily="18" charset="2"/>
              <a:buChar char=""/>
              <a:tabLst>
                <a:tab pos="914400" algn="l"/>
              </a:tabLst>
            </a:pPr>
            <a:r>
              <a:rPr lang="id-ID" sz="1600" i="1" dirty="0">
                <a:effectLst/>
                <a:latin typeface="Arial" panose="020B0604020202020204" pitchFamily="34" charset="0"/>
                <a:ea typeface="Times New Roman" panose="02020603050405020304" pitchFamily="18" charset="0"/>
              </a:rPr>
              <a:t>Pe</a:t>
            </a:r>
            <a:r>
              <a:rPr lang="en-US" sz="1600" i="1" dirty="0" err="1">
                <a:effectLst/>
                <a:latin typeface="Arial" panose="020B0604020202020204" pitchFamily="34" charset="0"/>
                <a:ea typeface="Times New Roman" panose="02020603050405020304" pitchFamily="18" charset="0"/>
              </a:rPr>
              <a:t>meliharaan</a:t>
            </a:r>
            <a:r>
              <a:rPr lang="id-ID" sz="1600" i="1" dirty="0">
                <a:effectLst/>
                <a:latin typeface="Arial" panose="020B0604020202020204" pitchFamily="34" charset="0"/>
                <a:ea typeface="Times New Roman" panose="02020603050405020304" pitchFamily="18" charset="0"/>
              </a:rPr>
              <a:t> tanaman hias dan tanaman hias dalam pot</a:t>
            </a:r>
            <a:r>
              <a:rPr lang="id-ID" sz="1600" dirty="0">
                <a:effectLst/>
                <a:latin typeface="Arial" panose="020B0604020202020204" pitchFamily="34" charset="0"/>
                <a:ea typeface="Times New Roman" panose="02020603050405020304" pitchFamily="18" charset="0"/>
              </a:rPr>
              <a:t> </a:t>
            </a:r>
            <a:r>
              <a:rPr lang="id-ID" sz="1600" i="1" dirty="0">
                <a:effectLst/>
                <a:latin typeface="Arial" panose="020B0604020202020204" pitchFamily="34" charset="0"/>
                <a:ea typeface="Times New Roman" panose="02020603050405020304" pitchFamily="18" charset="0"/>
              </a:rPr>
              <a:t>di halaman</a:t>
            </a:r>
            <a:r>
              <a:rPr lang="id-ID" sz="1600" dirty="0">
                <a:effectLst/>
                <a:latin typeface="Arial" panose="020B0604020202020204" pitchFamily="34" charset="0"/>
                <a:ea typeface="Times New Roman" panose="02020603050405020304" pitchFamily="18" charset="0"/>
              </a:rPr>
              <a:t> : </a:t>
            </a:r>
            <a:endParaRPr lang="en-ID" sz="1600" dirty="0">
              <a:effectLst/>
              <a:latin typeface="Times New Roman" panose="02020603050405020304" pitchFamily="18" charset="0"/>
              <a:ea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Penyiraman dilaksanakan setiap hari pagi jam 06.30 wib dan sore jam 15.30 wib atau lebih intensif dimusim kemarau serta disesuaikan dengan kegiatan acara yang berlangsung</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Pemupukan dilaksanakan setiap bulan </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Pembersihan tanaman liar, sampah, daun kering dan bebatuan disekitar tanaman dilaksanakan setiap hari</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Pendangiran dilaksanakan pada tanah yang sudah mengeras agar menjadi gembur kembali</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Pemangkasan/penyetikan tanaman berbentuk dilaksanakan apabila tanaman sudah terlihat berubah bentuk</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Penyemprotan hama dilaksanakan segera pada setiap tanaman yang terserang hama dengan menggunakan jenis insectisida yang sesuai </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0" lvl="2" indent="-228600" algn="just">
              <a:buFont typeface="Arial" panose="020B0604020202020204" pitchFamily="34" charset="0"/>
              <a:buChar char="-"/>
              <a:tabLst>
                <a:tab pos="1485900" algn="l"/>
              </a:tabLst>
            </a:pPr>
            <a:r>
              <a:rPr lang="id-ID" sz="1600" dirty="0">
                <a:effectLst/>
                <a:latin typeface="Arial" panose="020B0604020202020204" pitchFamily="34" charset="0"/>
                <a:ea typeface="Times New Roman" panose="02020603050405020304" pitchFamily="18" charset="0"/>
                <a:cs typeface="Times New Roman" panose="02020603050405020304" pitchFamily="18" charset="0"/>
              </a:rPr>
              <a:t>Penyulaman/penggantian tanaman hias yang rusak atau mati dalam jumlah kecil tanpa merubah jenis tanaman maupun bentuk taman </a:t>
            </a:r>
            <a:endParaRPr lang="en-ID"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485900" algn="just"/>
            <a:r>
              <a:rPr lang="id-ID" sz="1400" dirty="0">
                <a:effectLst/>
                <a:latin typeface="Arial" panose="020B0604020202020204" pitchFamily="34" charset="0"/>
                <a:ea typeface="Times New Roman" panose="02020603050405020304" pitchFamily="18" charset="0"/>
              </a:rPr>
              <a:t> </a:t>
            </a:r>
            <a:endParaRPr lang="en-ID"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51544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9FB607-9BCB-4DAB-85BA-81178726A061}"/>
              </a:ext>
            </a:extLst>
          </p:cNvPr>
          <p:cNvSpPr txBox="1"/>
          <p:nvPr/>
        </p:nvSpPr>
        <p:spPr>
          <a:xfrm>
            <a:off x="838200" y="380999"/>
            <a:ext cx="7848600" cy="4401205"/>
          </a:xfrm>
          <a:prstGeom prst="rect">
            <a:avLst/>
          </a:prstGeom>
          <a:noFill/>
        </p:spPr>
        <p:txBody>
          <a:bodyPr wrap="square">
            <a:spAutoFit/>
          </a:bodyPr>
          <a:lstStyle/>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Pembersihan conblok</a:t>
            </a:r>
            <a:r>
              <a:rPr lang="id-ID" sz="1400" dirty="0">
                <a:effectLst/>
                <a:latin typeface="Arial" panose="020B0604020202020204" pitchFamily="34" charset="0"/>
                <a:ea typeface="Times New Roman" panose="02020603050405020304" pitchFamily="18" charset="0"/>
              </a:rPr>
              <a:t> : </a:t>
            </a:r>
            <a:endParaRPr lang="en-ID" sz="1400" dirty="0">
              <a:effectLst/>
              <a:latin typeface="Times New Roman" panose="02020603050405020304" pitchFamily="18" charset="0"/>
              <a:ea typeface="Times New Roman" panose="02020603050405020304" pitchFamily="18" charset="0"/>
            </a:endParaRPr>
          </a:p>
          <a:p>
            <a:pPr marL="1485900">
              <a:tabLst>
                <a:tab pos="914400" algn="l"/>
                <a:tab pos="1143000" algn="l"/>
              </a:tabLst>
            </a:pPr>
            <a:r>
              <a:rPr lang="id-ID" sz="1400" dirty="0">
                <a:effectLst/>
                <a:latin typeface="Arial" panose="020B0604020202020204" pitchFamily="34" charset="0"/>
                <a:ea typeface="Times New Roman" panose="02020603050405020304" pitchFamily="18" charset="0"/>
              </a:rPr>
              <a:t>berupa penyapuan</a:t>
            </a:r>
            <a:r>
              <a:rPr lang="en-US"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pencabutan</a:t>
            </a:r>
            <a:r>
              <a:rPr lang="en-US"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rumput</a:t>
            </a:r>
            <a:r>
              <a:rPr lang="en-US" sz="1400" dirty="0">
                <a:effectLst/>
                <a:latin typeface="Arial" panose="020B0604020202020204" pitchFamily="34" charset="0"/>
                <a:ea typeface="Times New Roman" panose="02020603050405020304" pitchFamily="18" charset="0"/>
              </a:rPr>
              <a:t> liar dan </a:t>
            </a:r>
            <a:r>
              <a:rPr lang="en-US" sz="1400" dirty="0" err="1">
                <a:effectLst/>
                <a:latin typeface="Arial" panose="020B0604020202020204" pitchFamily="34" charset="0"/>
                <a:ea typeface="Times New Roman" panose="02020603050405020304" pitchFamily="18" charset="0"/>
              </a:rPr>
              <a:t>pembersihan</a:t>
            </a:r>
            <a:r>
              <a:rPr lang="en-US"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lumut</a:t>
            </a:r>
            <a:r>
              <a:rPr lang="id-ID" sz="1400" dirty="0">
                <a:effectLst/>
                <a:latin typeface="Arial" panose="020B0604020202020204" pitchFamily="34" charset="0"/>
                <a:ea typeface="Times New Roman" panose="02020603050405020304" pitchFamily="18" charset="0"/>
              </a:rPr>
              <a:t>       dilaksanakan 2 bulan sekali atau disesuaikan dengan kondisi coblok</a:t>
            </a:r>
            <a:endParaRPr lang="en-ID" sz="1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Pembersihan Saluran air terbuka</a:t>
            </a:r>
            <a:r>
              <a:rPr lang="id-ID" sz="1400" dirty="0">
                <a:effectLst/>
                <a:latin typeface="Arial" panose="020B0604020202020204" pitchFamily="34" charset="0"/>
                <a:ea typeface="Times New Roman" panose="02020603050405020304" pitchFamily="18" charset="0"/>
              </a:rPr>
              <a:t> :</a:t>
            </a:r>
            <a:endParaRPr lang="en-ID" sz="1400" dirty="0">
              <a:effectLst/>
              <a:latin typeface="Times New Roman" panose="02020603050405020304" pitchFamily="18" charset="0"/>
              <a:ea typeface="Times New Roman" panose="02020603050405020304" pitchFamily="18" charset="0"/>
            </a:endParaRPr>
          </a:p>
          <a:p>
            <a:pPr marL="685800" algn="just">
              <a:tabLst>
                <a:tab pos="1143000" algn="l"/>
              </a:tabLst>
            </a:pPr>
            <a:r>
              <a:rPr lang="en-US" sz="1400" dirty="0">
                <a:latin typeface="Arial" panose="020B0604020202020204" pitchFamily="34" charset="0"/>
                <a:ea typeface="Times New Roman" panose="02020603050405020304" pitchFamily="18" charset="0"/>
              </a:rPr>
              <a:t>                </a:t>
            </a:r>
            <a:r>
              <a:rPr lang="id-ID" sz="1400" dirty="0">
                <a:effectLst/>
                <a:latin typeface="Arial" panose="020B0604020202020204" pitchFamily="34" charset="0"/>
                <a:ea typeface="Times New Roman" panose="02020603050405020304" pitchFamily="18" charset="0"/>
              </a:rPr>
              <a:t>Dilaksanakan setiap hari agar saluran air terbuka bebas dari sampah dan 		  </a:t>
            </a:r>
            <a:r>
              <a:rPr lang="en-US" sz="1400" dirty="0">
                <a:effectLst/>
                <a:latin typeface="Arial" panose="020B0604020202020204" pitchFamily="34" charset="0"/>
                <a:ea typeface="Times New Roman" panose="02020603050405020304" pitchFamily="18" charset="0"/>
              </a:rPr>
              <a:t>    </a:t>
            </a:r>
            <a:r>
              <a:rPr lang="id-ID"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tanah</a:t>
            </a:r>
            <a:r>
              <a:rPr lang="id-ID" sz="1400" dirty="0">
                <a:effectLst/>
                <a:latin typeface="Arial" panose="020B0604020202020204" pitchFamily="34" charset="0"/>
                <a:ea typeface="Times New Roman" panose="02020603050405020304" pitchFamily="18" charset="0"/>
              </a:rPr>
              <a:t> serta lebih intensif dilaksanakan menjelang musim hujan </a:t>
            </a:r>
            <a:endParaRPr lang="en-ID" sz="1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Pembersihan canstin</a:t>
            </a:r>
            <a:r>
              <a:rPr lang="id-ID" sz="1400" dirty="0">
                <a:effectLst/>
                <a:latin typeface="Arial" panose="020B0604020202020204" pitchFamily="34" charset="0"/>
                <a:ea typeface="Times New Roman" panose="02020603050405020304" pitchFamily="18" charset="0"/>
              </a:rPr>
              <a:t> : </a:t>
            </a:r>
            <a:endParaRPr lang="en-ID" sz="1400" dirty="0">
              <a:effectLst/>
              <a:latin typeface="Times New Roman" panose="02020603050405020304" pitchFamily="18" charset="0"/>
              <a:ea typeface="Times New Roman" panose="02020603050405020304" pitchFamily="18" charset="0"/>
            </a:endParaRPr>
          </a:p>
          <a:p>
            <a:pPr marL="1371600" algn="just">
              <a:tabLst>
                <a:tab pos="1143000" algn="l"/>
              </a:tabLst>
            </a:pPr>
            <a:r>
              <a:rPr lang="id-ID" sz="1400" dirty="0">
                <a:effectLst/>
                <a:latin typeface="Arial" panose="020B0604020202020204" pitchFamily="34" charset="0"/>
                <a:ea typeface="Times New Roman" panose="02020603050405020304" pitchFamily="18" charset="0"/>
              </a:rPr>
              <a:t>   Dilaksanakan penyikatan lumut canstin setiap 2 bulan sekali atau jika lumut</a:t>
            </a:r>
            <a:endParaRPr lang="en-ID" sz="1400" dirty="0">
              <a:effectLst/>
              <a:latin typeface="Times New Roman" panose="02020603050405020304" pitchFamily="18" charset="0"/>
              <a:ea typeface="Times New Roman" panose="02020603050405020304" pitchFamily="18" charset="0"/>
            </a:endParaRPr>
          </a:p>
          <a:p>
            <a:pPr marL="1371600" algn="just">
              <a:tabLst>
                <a:tab pos="1143000" algn="l"/>
              </a:tabLst>
            </a:pPr>
            <a:r>
              <a:rPr lang="id-ID" sz="1400" dirty="0">
                <a:effectLst/>
                <a:latin typeface="Arial" panose="020B0604020202020204" pitchFamily="34" charset="0"/>
                <a:ea typeface="Times New Roman" panose="02020603050405020304" pitchFamily="18" charset="0"/>
              </a:rPr>
              <a:t>   sudah memenuhi canstin terutaman ditempat yang lembab</a:t>
            </a:r>
            <a:endParaRPr lang="en-ID" sz="1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Penyapuan halaman dan jalan aspal </a:t>
            </a:r>
            <a:r>
              <a:rPr lang="id-ID" sz="1400" dirty="0">
                <a:effectLst/>
                <a:latin typeface="Arial" panose="020B0604020202020204" pitchFamily="34" charset="0"/>
                <a:ea typeface="Times New Roman" panose="02020603050405020304" pitchFamily="18" charset="0"/>
              </a:rPr>
              <a:t>:</a:t>
            </a:r>
            <a:endParaRPr lang="en-ID" sz="1400" dirty="0">
              <a:effectLst/>
              <a:latin typeface="Times New Roman" panose="02020603050405020304" pitchFamily="18" charset="0"/>
              <a:ea typeface="Times New Roman" panose="02020603050405020304" pitchFamily="18" charset="0"/>
            </a:endParaRPr>
          </a:p>
          <a:p>
            <a:pPr marL="1371600" algn="just">
              <a:tabLst>
                <a:tab pos="1143000" algn="l"/>
              </a:tabLst>
            </a:pPr>
            <a:r>
              <a:rPr lang="id-ID" sz="1400" dirty="0">
                <a:effectLst/>
                <a:latin typeface="Arial" panose="020B0604020202020204" pitchFamily="34" charset="0"/>
                <a:ea typeface="Times New Roman" panose="02020603050405020304" pitchFamily="18" charset="0"/>
              </a:rPr>
              <a:t>   Penyapuan dilaksanakan setiap waktu ( termasuk pada jam istirahat ) dan  </a:t>
            </a:r>
            <a:endParaRPr lang="en-ID" sz="1400" dirty="0">
              <a:effectLst/>
              <a:latin typeface="Times New Roman" panose="02020603050405020304" pitchFamily="18" charset="0"/>
              <a:ea typeface="Times New Roman" panose="02020603050405020304" pitchFamily="18" charset="0"/>
            </a:endParaRPr>
          </a:p>
          <a:p>
            <a:pPr marL="1371600" algn="just">
              <a:tabLst>
                <a:tab pos="1143000" algn="l"/>
              </a:tabLst>
            </a:pPr>
            <a:r>
              <a:rPr lang="id-ID" sz="1400" dirty="0">
                <a:effectLst/>
                <a:latin typeface="Arial" panose="020B0604020202020204" pitchFamily="34" charset="0"/>
                <a:ea typeface="Times New Roman" panose="02020603050405020304" pitchFamily="18" charset="0"/>
              </a:rPr>
              <a:t>   disesuaikan dengan kegiatan acara yang berlangsung serta lebih intensif </a:t>
            </a:r>
            <a:endParaRPr lang="en-ID" sz="1400" dirty="0">
              <a:effectLst/>
              <a:latin typeface="Times New Roman" panose="02020603050405020304" pitchFamily="18" charset="0"/>
              <a:ea typeface="Times New Roman" panose="02020603050405020304" pitchFamily="18" charset="0"/>
            </a:endParaRPr>
          </a:p>
          <a:p>
            <a:pPr marL="1371600" algn="just">
              <a:tabLst>
                <a:tab pos="1143000" algn="l"/>
              </a:tabLst>
            </a:pPr>
            <a:r>
              <a:rPr lang="id-ID" sz="1400" dirty="0">
                <a:effectLst/>
                <a:latin typeface="Arial" panose="020B0604020202020204" pitchFamily="34" charset="0"/>
                <a:ea typeface="Times New Roman" panose="02020603050405020304" pitchFamily="18" charset="0"/>
              </a:rPr>
              <a:t>   terutama di musim kemarau (musim rontok) ataupun musim penghujan</a:t>
            </a:r>
            <a:endParaRPr lang="en-US" sz="1400" dirty="0">
              <a:effectLst/>
              <a:latin typeface="Arial" panose="020B0604020202020204" pitchFamily="34" charset="0"/>
              <a:ea typeface="Times New Roman" panose="02020603050405020304" pitchFamily="18" charset="0"/>
            </a:endParaRPr>
          </a:p>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a:t>
            </a:r>
            <a:r>
              <a:rPr lang="en-US" sz="1400" i="1" dirty="0" err="1">
                <a:effectLst/>
                <a:latin typeface="Arial" panose="020B0604020202020204" pitchFamily="34" charset="0"/>
                <a:ea typeface="Times New Roman" panose="02020603050405020304" pitchFamily="18" charset="0"/>
              </a:rPr>
              <a:t>mangkasan</a:t>
            </a:r>
            <a:r>
              <a:rPr lang="en-US" sz="1400" i="1" dirty="0">
                <a:effectLst/>
                <a:latin typeface="Arial" panose="020B0604020202020204" pitchFamily="34" charset="0"/>
                <a:ea typeface="Times New Roman" panose="02020603050405020304" pitchFamily="18" charset="0"/>
              </a:rPr>
              <a:t> ranting </a:t>
            </a:r>
            <a:r>
              <a:rPr lang="en-US" sz="1400" i="1" dirty="0" err="1">
                <a:effectLst/>
                <a:latin typeface="Arial" panose="020B0604020202020204" pitchFamily="34" charset="0"/>
                <a:ea typeface="Times New Roman" panose="02020603050405020304" pitchFamily="18" charset="0"/>
              </a:rPr>
              <a:t>pohon</a:t>
            </a:r>
            <a:r>
              <a:rPr lang="en-US" sz="1400" i="1" dirty="0">
                <a:effectLst/>
                <a:latin typeface="Arial" panose="020B0604020202020204" pitchFamily="34" charset="0"/>
                <a:ea typeface="Times New Roman" panose="02020603050405020304" pitchFamily="18" charset="0"/>
              </a:rPr>
              <a:t> dan </a:t>
            </a:r>
            <a:r>
              <a:rPr lang="en-US" sz="1400" i="1" dirty="0" err="1">
                <a:effectLst/>
                <a:latin typeface="Arial" panose="020B0604020202020204" pitchFamily="34" charset="0"/>
                <a:ea typeface="Times New Roman" panose="02020603050405020304" pitchFamily="18" charset="0"/>
              </a:rPr>
              <a:t>kayu</a:t>
            </a:r>
            <a:r>
              <a:rPr lang="en-US" sz="1400" i="1" dirty="0">
                <a:effectLst/>
                <a:latin typeface="Arial" panose="020B0604020202020204" pitchFamily="34" charset="0"/>
                <a:ea typeface="Times New Roman" panose="02020603050405020304" pitchFamily="18" charset="0"/>
              </a:rPr>
              <a:t> yang </a:t>
            </a:r>
            <a:r>
              <a:rPr lang="en-US" sz="1400" i="1" dirty="0" err="1">
                <a:effectLst/>
                <a:latin typeface="Arial" panose="020B0604020202020204" pitchFamily="34" charset="0"/>
                <a:ea typeface="Times New Roman" panose="02020603050405020304" pitchFamily="18" charset="0"/>
              </a:rPr>
              <a:t>sudah</a:t>
            </a:r>
            <a:r>
              <a:rPr lang="en-US" sz="1400" i="1" dirty="0">
                <a:effectLst/>
                <a:latin typeface="Arial" panose="020B0604020202020204" pitchFamily="34" charset="0"/>
                <a:ea typeface="Times New Roman" panose="02020603050405020304" pitchFamily="18" charset="0"/>
              </a:rPr>
              <a:t> </a:t>
            </a:r>
            <a:r>
              <a:rPr lang="en-US" sz="1400" i="1" dirty="0" err="1">
                <a:effectLst/>
                <a:latin typeface="Arial" panose="020B0604020202020204" pitchFamily="34" charset="0"/>
                <a:ea typeface="Times New Roman" panose="02020603050405020304" pitchFamily="18" charset="0"/>
              </a:rPr>
              <a:t>lapuk</a:t>
            </a:r>
            <a:r>
              <a:rPr lang="id-ID" sz="1400" dirty="0">
                <a:effectLst/>
                <a:latin typeface="Arial" panose="020B0604020202020204" pitchFamily="34" charset="0"/>
                <a:ea typeface="Times New Roman" panose="02020603050405020304" pitchFamily="18" charset="0"/>
              </a:rPr>
              <a:t> :</a:t>
            </a:r>
            <a:endParaRPr lang="en-ID" sz="1400" dirty="0">
              <a:effectLst/>
              <a:latin typeface="Times New Roman" panose="02020603050405020304" pitchFamily="18" charset="0"/>
              <a:ea typeface="Times New Roman" panose="02020603050405020304" pitchFamily="18" charset="0"/>
            </a:endParaRPr>
          </a:p>
          <a:p>
            <a:pPr marL="685800" algn="just">
              <a:tabLst>
                <a:tab pos="1143000" algn="l"/>
              </a:tabLst>
            </a:pPr>
            <a:r>
              <a:rPr lang="id-ID" sz="1400" dirty="0">
                <a:effectLst/>
                <a:latin typeface="Arial" panose="020B0604020202020204" pitchFamily="34" charset="0"/>
                <a:ea typeface="Times New Roman" panose="02020603050405020304" pitchFamily="18" charset="0"/>
              </a:rPr>
              <a:t>	</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Diadakan</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pemotongan</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berkala</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terhadap</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pohon</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peneduh</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atau</a:t>
            </a:r>
            <a:r>
              <a:rPr lang="en-US" sz="1400" dirty="0">
                <a:latin typeface="Arial" panose="020B0604020202020204" pitchFamily="34" charset="0"/>
                <a:ea typeface="Times New Roman" panose="02020603050405020304" pitchFamily="18" charset="0"/>
              </a:rPr>
              <a:t> lain </a:t>
            </a:r>
            <a:r>
              <a:rPr lang="en-US" sz="1400" dirty="0" err="1">
                <a:latin typeface="Arial" panose="020B0604020202020204" pitchFamily="34" charset="0"/>
                <a:ea typeface="Times New Roman" panose="02020603050405020304" pitchFamily="18" charset="0"/>
              </a:rPr>
              <a:t>nya</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secara</a:t>
            </a:r>
            <a:r>
              <a:rPr lang="en-US" sz="1400" dirty="0">
                <a:latin typeface="Arial" panose="020B0604020202020204" pitchFamily="34" charset="0"/>
                <a:ea typeface="Times New Roman" panose="02020603050405020304" pitchFamily="18" charset="0"/>
              </a:rPr>
              <a:t>   	       </a:t>
            </a:r>
            <a:r>
              <a:rPr lang="en-US" sz="1400" dirty="0" err="1">
                <a:latin typeface="Arial" panose="020B0604020202020204" pitchFamily="34" charset="0"/>
                <a:ea typeface="Times New Roman" panose="02020603050405020304" pitchFamily="18" charset="0"/>
              </a:rPr>
              <a:t>berkala</a:t>
            </a:r>
            <a:r>
              <a:rPr lang="en-US" sz="1400" dirty="0">
                <a:latin typeface="Arial" panose="020B0604020202020204" pitchFamily="34" charset="0"/>
                <a:ea typeface="Times New Roman" panose="02020603050405020304" pitchFamily="18" charset="0"/>
              </a:rPr>
              <a:t> 14 – 30 </a:t>
            </a:r>
            <a:r>
              <a:rPr lang="en-US" sz="1400" dirty="0" err="1">
                <a:latin typeface="Arial" panose="020B0604020202020204" pitchFamily="34" charset="0"/>
                <a:ea typeface="Times New Roman" panose="02020603050405020304" pitchFamily="18" charset="0"/>
              </a:rPr>
              <a:t>hari</a:t>
            </a:r>
            <a:r>
              <a:rPr lang="en-US" sz="1400" dirty="0">
                <a:latin typeface="Arial" panose="020B0604020202020204" pitchFamily="34" charset="0"/>
                <a:ea typeface="Times New Roman" panose="02020603050405020304" pitchFamily="18" charset="0"/>
              </a:rPr>
              <a:t>/</a:t>
            </a:r>
            <a:r>
              <a:rPr lang="en-US" sz="1400" dirty="0" err="1">
                <a:latin typeface="Arial" panose="020B0604020202020204" pitchFamily="34" charset="0"/>
                <a:ea typeface="Times New Roman" panose="02020603050405020304" pitchFamily="18" charset="0"/>
              </a:rPr>
              <a:t>sekali</a:t>
            </a:r>
            <a:r>
              <a:rPr lang="en-US" sz="1400" dirty="0">
                <a:latin typeface="Arial" panose="020B0604020202020204" pitchFamily="34" charset="0"/>
                <a:ea typeface="Times New Roman" panose="02020603050405020304" pitchFamily="18" charset="0"/>
              </a:rPr>
              <a:t> </a:t>
            </a:r>
            <a:endParaRPr lang="en-ID" sz="14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tabLst>
                <a:tab pos="914400" algn="l"/>
                <a:tab pos="1143000" algn="l"/>
              </a:tabLst>
            </a:pPr>
            <a:r>
              <a:rPr lang="id-ID" sz="1400" i="1" dirty="0">
                <a:effectLst/>
                <a:latin typeface="Arial" panose="020B0604020202020204" pitchFamily="34" charset="0"/>
                <a:ea typeface="Times New Roman" panose="02020603050405020304" pitchFamily="18" charset="0"/>
              </a:rPr>
              <a:t>Pembuangan sampah</a:t>
            </a:r>
            <a:r>
              <a:rPr lang="id-ID" sz="1400" dirty="0">
                <a:effectLst/>
                <a:latin typeface="Arial" panose="020B0604020202020204" pitchFamily="34" charset="0"/>
                <a:ea typeface="Times New Roman" panose="02020603050405020304" pitchFamily="18" charset="0"/>
              </a:rPr>
              <a:t> :</a:t>
            </a:r>
            <a:endParaRPr lang="en-ID" sz="1400" dirty="0">
              <a:effectLst/>
              <a:latin typeface="Times New Roman" panose="02020603050405020304" pitchFamily="18" charset="0"/>
              <a:ea typeface="Times New Roman" panose="02020603050405020304" pitchFamily="18" charset="0"/>
            </a:endParaRPr>
          </a:p>
          <a:p>
            <a:pPr marL="685800" algn="just">
              <a:tabLst>
                <a:tab pos="1143000" algn="l"/>
              </a:tabLst>
            </a:pPr>
            <a:r>
              <a:rPr lang="id-ID" sz="1400" dirty="0">
                <a:effectLst/>
                <a:latin typeface="Arial" panose="020B0604020202020204" pitchFamily="34" charset="0"/>
                <a:ea typeface="Times New Roman" panose="02020603050405020304" pitchFamily="18" charset="0"/>
              </a:rPr>
              <a:t>	</a:t>
            </a:r>
            <a:r>
              <a:rPr lang="en-US" sz="1400" dirty="0">
                <a:latin typeface="Arial" panose="020B0604020202020204" pitchFamily="34" charset="0"/>
                <a:ea typeface="Times New Roman" panose="02020603050405020304" pitchFamily="18" charset="0"/>
              </a:rPr>
              <a:t>       </a:t>
            </a:r>
            <a:r>
              <a:rPr lang="id-ID" sz="1400" dirty="0">
                <a:effectLst/>
                <a:latin typeface="Arial" panose="020B0604020202020204" pitchFamily="34" charset="0"/>
                <a:ea typeface="Times New Roman" panose="02020603050405020304" pitchFamily="18" charset="0"/>
              </a:rPr>
              <a:t>Khusus pembuangan sampah dari tempat sampah dilaksanakan setiap </a:t>
            </a:r>
            <a:endParaRPr lang="en-ID" sz="1400" dirty="0">
              <a:effectLst/>
              <a:latin typeface="Times New Roman" panose="02020603050405020304" pitchFamily="18" charset="0"/>
              <a:ea typeface="Times New Roman" panose="02020603050405020304" pitchFamily="18" charset="0"/>
            </a:endParaRPr>
          </a:p>
          <a:p>
            <a:r>
              <a:rPr lang="en-US" sz="1400" dirty="0">
                <a:latin typeface="Arial" panose="020B0604020202020204" pitchFamily="34" charset="0"/>
                <a:ea typeface="Times New Roman" panose="02020603050405020304" pitchFamily="18" charset="0"/>
              </a:rPr>
              <a:t>                               </a:t>
            </a:r>
            <a:r>
              <a:rPr lang="id-ID" sz="1400" dirty="0">
                <a:effectLst/>
                <a:latin typeface="Arial" panose="020B0604020202020204" pitchFamily="34" charset="0"/>
                <a:ea typeface="Times New Roman" panose="02020603050405020304" pitchFamily="18" charset="0"/>
              </a:rPr>
              <a:t>hari sedangkan sampah penyapuan dibuang langsung pada saat </a:t>
            </a:r>
            <a:r>
              <a:rPr lang="en-US" sz="1400" dirty="0" err="1">
                <a:effectLst/>
                <a:latin typeface="Arial" panose="020B0604020202020204" pitchFamily="34" charset="0"/>
                <a:ea typeface="Times New Roman" panose="02020603050405020304" pitchFamily="18" charset="0"/>
              </a:rPr>
              <a:t>penyapuan</a:t>
            </a:r>
            <a:r>
              <a:rPr lang="en-US"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tengah</a:t>
            </a:r>
            <a:r>
              <a:rPr lang="en-US" sz="1400" dirty="0">
                <a:effectLst/>
                <a:latin typeface="Arial" panose="020B0604020202020204" pitchFamily="34" charset="0"/>
                <a:ea typeface="Times New Roman" panose="02020603050405020304" pitchFamily="18" charset="0"/>
              </a:rPr>
              <a:t> </a:t>
            </a:r>
            <a:r>
              <a:rPr lang="en-US" sz="1400" dirty="0" err="1">
                <a:effectLst/>
                <a:latin typeface="Arial" panose="020B0604020202020204" pitchFamily="34" charset="0"/>
                <a:ea typeface="Times New Roman" panose="02020603050405020304" pitchFamily="18" charset="0"/>
              </a:rPr>
              <a:t>berlangsung</a:t>
            </a:r>
            <a:r>
              <a:rPr lang="en-US" sz="1400" dirty="0">
                <a:effectLst/>
                <a:latin typeface="Arial" panose="020B0604020202020204" pitchFamily="34" charset="0"/>
                <a:ea typeface="Times New Roman" panose="02020603050405020304" pitchFamily="18" charset="0"/>
              </a:rPr>
              <a:t>.</a:t>
            </a:r>
            <a:endParaRPr lang="en-ID" sz="1400" dirty="0"/>
          </a:p>
        </p:txBody>
      </p:sp>
    </p:spTree>
    <p:extLst>
      <p:ext uri="{BB962C8B-B14F-4D97-AF65-F5344CB8AC3E}">
        <p14:creationId xmlns:p14="http://schemas.microsoft.com/office/powerpoint/2010/main" val="11494326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89F742-7BE9-411B-A9F9-521876685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857250"/>
            <a:ext cx="7924800" cy="5143500"/>
          </a:xfrm>
          <a:prstGeom prst="rect">
            <a:avLst/>
          </a:prstGeom>
        </p:spPr>
      </p:pic>
    </p:spTree>
    <p:extLst>
      <p:ext uri="{BB962C8B-B14F-4D97-AF65-F5344CB8AC3E}">
        <p14:creationId xmlns:p14="http://schemas.microsoft.com/office/powerpoint/2010/main" val="351741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77F624-2E03-4FCB-BDDF-D9A0E3B881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81000"/>
            <a:ext cx="8382000" cy="6019800"/>
          </a:xfrm>
          <a:prstGeom prst="rect">
            <a:avLst/>
          </a:prstGeom>
        </p:spPr>
      </p:pic>
    </p:spTree>
    <p:extLst>
      <p:ext uri="{BB962C8B-B14F-4D97-AF65-F5344CB8AC3E}">
        <p14:creationId xmlns:p14="http://schemas.microsoft.com/office/powerpoint/2010/main" val="22998416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46505" y="640715"/>
            <a:ext cx="7211060" cy="398780"/>
          </a:xfrm>
          <a:prstGeom prst="rect">
            <a:avLst/>
          </a:prstGeom>
          <a:noFill/>
        </p:spPr>
        <p:txBody>
          <a:bodyPr wrap="square" rtlCol="0">
            <a:spAutoFit/>
          </a:bodyPr>
          <a:lstStyle/>
          <a:p>
            <a:pPr algn="ctr"/>
            <a:r>
              <a:rPr lang="en-SG" altLang="en-US" sz="2000" b="1">
                <a:sym typeface="+mn-ea"/>
              </a:rPr>
              <a:t>10</a:t>
            </a:r>
            <a:r>
              <a:rPr lang="en-US" sz="2000" b="1">
                <a:sym typeface="+mn-ea"/>
              </a:rPr>
              <a:t>. </a:t>
            </a:r>
            <a:r>
              <a:rPr lang="en-SG" altLang="en-US" sz="2000" b="1">
                <a:sym typeface="+mn-ea"/>
              </a:rPr>
              <a:t>    </a:t>
            </a:r>
            <a:r>
              <a:rPr lang="en-US" sz="2000" b="1">
                <a:sym typeface="+mn-ea"/>
              </a:rPr>
              <a:t> Melaksanakan Pengelolaan </a:t>
            </a:r>
            <a:r>
              <a:rPr lang="en-SG" altLang="en-US" sz="2000" b="1">
                <a:sym typeface="+mn-ea"/>
              </a:rPr>
              <a:t>Perawatan</a:t>
            </a:r>
            <a:r>
              <a:rPr lang="en-US" sz="2000" b="1">
                <a:sym typeface="+mn-ea"/>
              </a:rPr>
              <a:t> </a:t>
            </a:r>
            <a:endParaRPr lang="en-SG" altLang="en-US" sz="2000" dirty="0">
              <a:solidFill>
                <a:srgbClr val="0070C0"/>
              </a:solidFill>
            </a:endParaRPr>
          </a:p>
        </p:txBody>
      </p:sp>
      <p:pic>
        <p:nvPicPr>
          <p:cNvPr id="5" name="Picture 4" descr="WhatsApp Image 2023-10-29 at 00.05.39 (1)"/>
          <p:cNvPicPr>
            <a:picLocks noChangeAspect="1"/>
          </p:cNvPicPr>
          <p:nvPr/>
        </p:nvPicPr>
        <p:blipFill>
          <a:blip r:embed="rId2"/>
          <a:stretch>
            <a:fillRect/>
          </a:stretch>
        </p:blipFill>
        <p:spPr>
          <a:xfrm>
            <a:off x="1296035" y="1039495"/>
            <a:ext cx="7122795" cy="555434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25865E-5C3C-4E24-9C61-8CB9D639C145}"/>
              </a:ext>
            </a:extLst>
          </p:cNvPr>
          <p:cNvSpPr txBox="1"/>
          <p:nvPr/>
        </p:nvSpPr>
        <p:spPr>
          <a:xfrm>
            <a:off x="2057400" y="244642"/>
            <a:ext cx="6248400" cy="1077218"/>
          </a:xfrm>
          <a:prstGeom prst="rect">
            <a:avLst/>
          </a:prstGeom>
          <a:noFill/>
        </p:spPr>
        <p:txBody>
          <a:bodyPr wrap="square">
            <a:spAutoFit/>
          </a:bodyPr>
          <a:lstStyle/>
          <a:p>
            <a:pPr algn="ctr"/>
            <a:r>
              <a:rPr lang="en-ID" sz="2800" b="1" i="1" u="sng" dirty="0">
                <a:solidFill>
                  <a:srgbClr val="000000"/>
                </a:solidFill>
                <a:effectLst/>
                <a:latin typeface="Montserrat-FF"/>
              </a:rPr>
              <a:t>Housekeeping</a:t>
            </a:r>
            <a:br>
              <a:rPr lang="en-ID" sz="2400" dirty="0"/>
            </a:br>
            <a:br>
              <a:rPr lang="en-ID" dirty="0"/>
            </a:br>
            <a:endParaRPr lang="en-ID" dirty="0"/>
          </a:p>
        </p:txBody>
      </p:sp>
      <p:sp>
        <p:nvSpPr>
          <p:cNvPr id="5" name="TextBox 4">
            <a:extLst>
              <a:ext uri="{FF2B5EF4-FFF2-40B4-BE49-F238E27FC236}">
                <a16:creationId xmlns:a16="http://schemas.microsoft.com/office/drawing/2014/main" id="{497F8C6F-7EDC-4A1D-A5E0-2DA87443B2B5}"/>
              </a:ext>
            </a:extLst>
          </p:cNvPr>
          <p:cNvSpPr txBox="1"/>
          <p:nvPr/>
        </p:nvSpPr>
        <p:spPr>
          <a:xfrm>
            <a:off x="457200" y="914401"/>
            <a:ext cx="8077200" cy="5724644"/>
          </a:xfrm>
          <a:prstGeom prst="rect">
            <a:avLst/>
          </a:prstGeom>
          <a:noFill/>
        </p:spPr>
        <p:txBody>
          <a:bodyPr wrap="square">
            <a:spAutoFit/>
          </a:bodyPr>
          <a:lstStyle/>
          <a:p>
            <a:r>
              <a:rPr lang="en-ID" sz="1600" b="1" i="0" dirty="0">
                <a:solidFill>
                  <a:srgbClr val="000000"/>
                </a:solidFill>
                <a:effectLst/>
                <a:latin typeface="Montserrat-FF"/>
              </a:rPr>
              <a:t>	PEMBAGIAN DEPARTEMEN HOUSEKEEPING</a:t>
            </a:r>
          </a:p>
          <a:p>
            <a:endParaRPr lang="en-ID" sz="1600" b="1" dirty="0">
              <a:solidFill>
                <a:srgbClr val="000000"/>
              </a:solidFill>
              <a:latin typeface="Montserrat-FF"/>
            </a:endParaRPr>
          </a:p>
          <a:p>
            <a:pPr marL="342900" indent="-342900">
              <a:buAutoNum type="arabicPeriod"/>
            </a:pPr>
            <a:r>
              <a:rPr lang="en-ID" sz="1600" b="1" i="0" dirty="0">
                <a:solidFill>
                  <a:srgbClr val="000000"/>
                </a:solidFill>
                <a:effectLst/>
                <a:latin typeface="Montserrat-FF"/>
              </a:rPr>
              <a:t>Public Area Section</a:t>
            </a:r>
            <a:br>
              <a:rPr lang="en-ID" sz="1600" dirty="0"/>
            </a:br>
            <a:r>
              <a:rPr lang="en-ID" sz="1400" dirty="0" err="1">
                <a:solidFill>
                  <a:srgbClr val="000000"/>
                </a:solidFill>
                <a:latin typeface="Montserrat-FF"/>
              </a:rPr>
              <a:t>Bert</a:t>
            </a:r>
            <a:r>
              <a:rPr lang="en-ID" sz="1400" b="0" i="0" dirty="0" err="1">
                <a:solidFill>
                  <a:srgbClr val="000000"/>
                </a:solidFill>
                <a:effectLst/>
                <a:latin typeface="Montserrat-FF"/>
              </a:rPr>
              <a:t>anggung</a:t>
            </a:r>
            <a:r>
              <a:rPr lang="en-ID" sz="1400" b="0" i="0" dirty="0">
                <a:solidFill>
                  <a:srgbClr val="000000"/>
                </a:solidFill>
                <a:effectLst/>
                <a:latin typeface="Montserrat-FF"/>
              </a:rPr>
              <a:t> </a:t>
            </a:r>
            <a:r>
              <a:rPr lang="en-ID" sz="1400" b="0" i="0" dirty="0" err="1">
                <a:solidFill>
                  <a:srgbClr val="000000"/>
                </a:solidFill>
                <a:effectLst/>
                <a:latin typeface="Montserrat-FF"/>
              </a:rPr>
              <a:t>jawab</a:t>
            </a:r>
            <a:r>
              <a:rPr lang="en-ID" sz="1400" b="0" i="0" dirty="0">
                <a:solidFill>
                  <a:srgbClr val="000000"/>
                </a:solidFill>
                <a:effectLst/>
                <a:latin typeface="Montserrat-FF"/>
              </a:rPr>
              <a:t> </a:t>
            </a:r>
            <a:r>
              <a:rPr lang="en-ID" sz="1400" b="0" i="0" dirty="0" err="1">
                <a:solidFill>
                  <a:srgbClr val="000000"/>
                </a:solidFill>
                <a:effectLst/>
                <a:latin typeface="Montserrat-FF"/>
              </a:rPr>
              <a:t>untuk</a:t>
            </a:r>
            <a:r>
              <a:rPr lang="en-ID" sz="1400" b="0" i="0" dirty="0">
                <a:solidFill>
                  <a:srgbClr val="000000"/>
                </a:solidFill>
                <a:effectLst/>
                <a:latin typeface="Montserrat-FF"/>
              </a:rPr>
              <a:t> </a:t>
            </a:r>
            <a:r>
              <a:rPr lang="en-ID" sz="1400" b="0" i="0" dirty="0" err="1">
                <a:solidFill>
                  <a:srgbClr val="000000"/>
                </a:solidFill>
                <a:effectLst/>
                <a:latin typeface="Montserrat-FF"/>
              </a:rPr>
              <a:t>memastikan</a:t>
            </a:r>
            <a:r>
              <a:rPr lang="en-ID" sz="1400" b="0" i="0" dirty="0">
                <a:solidFill>
                  <a:srgbClr val="000000"/>
                </a:solidFill>
                <a:effectLst/>
                <a:latin typeface="Montserrat-FF"/>
              </a:rPr>
              <a:t> </a:t>
            </a:r>
            <a:r>
              <a:rPr lang="en-ID" sz="1400" b="0" i="0" dirty="0" err="1">
                <a:solidFill>
                  <a:srgbClr val="000000"/>
                </a:solidFill>
                <a:effectLst/>
                <a:latin typeface="Montserrat-FF"/>
              </a:rPr>
              <a:t>seluruh</a:t>
            </a:r>
            <a:r>
              <a:rPr lang="en-ID" sz="1400" b="0" i="0" dirty="0">
                <a:solidFill>
                  <a:srgbClr val="000000"/>
                </a:solidFill>
                <a:effectLst/>
                <a:latin typeface="Montserrat-FF"/>
              </a:rPr>
              <a:t> </a:t>
            </a:r>
            <a:r>
              <a:rPr lang="en-ID" sz="1400" b="0" i="0" dirty="0" err="1">
                <a:solidFill>
                  <a:srgbClr val="000000"/>
                </a:solidFill>
                <a:effectLst/>
                <a:latin typeface="Montserrat-FF"/>
              </a:rPr>
              <a:t>kebersihan</a:t>
            </a:r>
            <a:r>
              <a:rPr lang="en-ID" sz="1400" b="0" i="0" dirty="0">
                <a:solidFill>
                  <a:srgbClr val="000000"/>
                </a:solidFill>
                <a:effectLst/>
                <a:latin typeface="Montserrat-FF"/>
              </a:rPr>
              <a:t> di area </a:t>
            </a:r>
            <a:r>
              <a:rPr lang="en-ID" sz="1400" b="0" i="0" dirty="0" err="1">
                <a:solidFill>
                  <a:srgbClr val="000000"/>
                </a:solidFill>
                <a:effectLst/>
                <a:latin typeface="Montserrat-FF"/>
              </a:rPr>
              <a:t>publik</a:t>
            </a:r>
            <a:r>
              <a:rPr lang="en-ID" sz="1400" b="0" i="0" dirty="0">
                <a:solidFill>
                  <a:srgbClr val="000000"/>
                </a:solidFill>
                <a:effectLst/>
                <a:latin typeface="Montserrat-FF"/>
              </a:rPr>
              <a:t> </a:t>
            </a:r>
            <a:r>
              <a:rPr lang="en-ID" sz="1400" b="0" i="0" dirty="0" err="1">
                <a:solidFill>
                  <a:srgbClr val="000000"/>
                </a:solidFill>
                <a:effectLst/>
                <a:latin typeface="Montserrat-FF"/>
              </a:rPr>
              <a:t>meliputi</a:t>
            </a:r>
            <a:r>
              <a:rPr lang="en-ID" sz="1400" b="0" i="0" dirty="0">
                <a:solidFill>
                  <a:srgbClr val="000000"/>
                </a:solidFill>
                <a:effectLst/>
                <a:latin typeface="Montserrat-FF"/>
              </a:rPr>
              <a:t> lobby hotel, </a:t>
            </a:r>
            <a:r>
              <a:rPr lang="en-ID" sz="1400" b="0" i="0" dirty="0" err="1">
                <a:solidFill>
                  <a:srgbClr val="000000"/>
                </a:solidFill>
                <a:effectLst/>
                <a:latin typeface="Montserrat-FF"/>
              </a:rPr>
              <a:t>restoran</a:t>
            </a:r>
            <a:r>
              <a:rPr lang="en-ID" sz="1400" b="0" i="0" dirty="0">
                <a:solidFill>
                  <a:srgbClr val="000000"/>
                </a:solidFill>
                <a:effectLst/>
                <a:latin typeface="Montserrat-FF"/>
              </a:rPr>
              <a:t>, </a:t>
            </a:r>
            <a:r>
              <a:rPr lang="en-ID" sz="1400" b="0" i="0" dirty="0" err="1">
                <a:solidFill>
                  <a:srgbClr val="000000"/>
                </a:solidFill>
                <a:effectLst/>
                <a:latin typeface="Montserrat-FF"/>
              </a:rPr>
              <a:t>kolam</a:t>
            </a:r>
            <a:r>
              <a:rPr lang="en-ID" sz="1400" b="0" i="0" dirty="0">
                <a:solidFill>
                  <a:srgbClr val="000000"/>
                </a:solidFill>
                <a:effectLst/>
                <a:latin typeface="Montserrat-FF"/>
              </a:rPr>
              <a:t> </a:t>
            </a:r>
            <a:r>
              <a:rPr lang="en-ID" sz="1400" b="0" i="0" dirty="0" err="1">
                <a:solidFill>
                  <a:srgbClr val="000000"/>
                </a:solidFill>
                <a:effectLst/>
                <a:latin typeface="Montserrat-FF"/>
              </a:rPr>
              <a:t>renang</a:t>
            </a:r>
            <a:r>
              <a:rPr lang="en-ID" sz="1400" b="0" i="0" dirty="0">
                <a:solidFill>
                  <a:srgbClr val="000000"/>
                </a:solidFill>
                <a:effectLst/>
                <a:latin typeface="Montserrat-FF"/>
              </a:rPr>
              <a:t>, gym, dan </a:t>
            </a:r>
            <a:r>
              <a:rPr lang="en-ID" sz="1400" b="0" i="0" dirty="0" err="1">
                <a:solidFill>
                  <a:srgbClr val="000000"/>
                </a:solidFill>
                <a:effectLst/>
                <a:latin typeface="Montserrat-FF"/>
              </a:rPr>
              <a:t>beberapa</a:t>
            </a:r>
            <a:r>
              <a:rPr lang="en-ID" sz="1400" b="0" i="0" dirty="0">
                <a:solidFill>
                  <a:srgbClr val="000000"/>
                </a:solidFill>
                <a:effectLst/>
                <a:latin typeface="Montserrat-FF"/>
              </a:rPr>
              <a:t> </a:t>
            </a:r>
            <a:r>
              <a:rPr lang="en-ID" sz="1400" b="0" i="0" dirty="0" err="1">
                <a:solidFill>
                  <a:srgbClr val="000000"/>
                </a:solidFill>
                <a:effectLst/>
                <a:latin typeface="Montserrat-FF"/>
              </a:rPr>
              <a:t>fasilitas</a:t>
            </a:r>
            <a:r>
              <a:rPr lang="en-ID" sz="1400" b="0" i="0" dirty="0">
                <a:solidFill>
                  <a:srgbClr val="000000"/>
                </a:solidFill>
                <a:effectLst/>
                <a:latin typeface="Montserrat-FF"/>
              </a:rPr>
              <a:t> </a:t>
            </a:r>
            <a:r>
              <a:rPr lang="en-ID" sz="1400" b="0" i="0" dirty="0" err="1">
                <a:solidFill>
                  <a:srgbClr val="000000"/>
                </a:solidFill>
                <a:effectLst/>
                <a:latin typeface="Montserrat-FF"/>
              </a:rPr>
              <a:t>umum</a:t>
            </a:r>
            <a:r>
              <a:rPr lang="en-ID" sz="1400" b="0" i="0" dirty="0">
                <a:solidFill>
                  <a:srgbClr val="000000"/>
                </a:solidFill>
                <a:effectLst/>
                <a:latin typeface="Montserrat-FF"/>
              </a:rPr>
              <a:t> yang </a:t>
            </a:r>
            <a:r>
              <a:rPr lang="en-ID" sz="1400" b="0" i="0" dirty="0" err="1">
                <a:solidFill>
                  <a:srgbClr val="000000"/>
                </a:solidFill>
                <a:effectLst/>
                <a:latin typeface="Montserrat-FF"/>
              </a:rPr>
              <a:t>ada</a:t>
            </a:r>
            <a:r>
              <a:rPr lang="en-ID" sz="1400" b="0" i="0" dirty="0">
                <a:solidFill>
                  <a:srgbClr val="000000"/>
                </a:solidFill>
                <a:effectLst/>
                <a:latin typeface="Montserrat-FF"/>
              </a:rPr>
              <a:t> di </a:t>
            </a:r>
            <a:r>
              <a:rPr lang="en-ID" sz="1400" b="0" i="0" dirty="0" err="1">
                <a:solidFill>
                  <a:srgbClr val="000000"/>
                </a:solidFill>
                <a:effectLst/>
                <a:latin typeface="Montserrat-FF"/>
              </a:rPr>
              <a:t>dalam</a:t>
            </a:r>
            <a:r>
              <a:rPr lang="en-ID" sz="1400" b="0" i="0" dirty="0">
                <a:solidFill>
                  <a:srgbClr val="000000"/>
                </a:solidFill>
                <a:effectLst/>
                <a:latin typeface="Montserrat-FF"/>
              </a:rPr>
              <a:t> hotel. </a:t>
            </a:r>
            <a:r>
              <a:rPr lang="en-ID" sz="1400" b="0" i="0" dirty="0" err="1">
                <a:solidFill>
                  <a:srgbClr val="000000"/>
                </a:solidFill>
                <a:effectLst/>
                <a:latin typeface="Montserrat-FF"/>
              </a:rPr>
              <a:t>Sehingga</a:t>
            </a:r>
            <a:r>
              <a:rPr lang="en-ID" sz="1400" b="0" i="0" dirty="0">
                <a:solidFill>
                  <a:srgbClr val="000000"/>
                </a:solidFill>
                <a:effectLst/>
                <a:latin typeface="Montserrat-FF"/>
              </a:rPr>
              <a:t>, para </a:t>
            </a:r>
            <a:r>
              <a:rPr lang="en-ID" sz="1400" b="0" i="0" dirty="0" err="1">
                <a:solidFill>
                  <a:srgbClr val="000000"/>
                </a:solidFill>
                <a:effectLst/>
                <a:latin typeface="Montserrat-FF"/>
              </a:rPr>
              <a:t>tamu</a:t>
            </a:r>
            <a:r>
              <a:rPr lang="en-ID" sz="1400" b="0" i="0" dirty="0">
                <a:solidFill>
                  <a:srgbClr val="000000"/>
                </a:solidFill>
                <a:effectLst/>
                <a:latin typeface="Montserrat-FF"/>
              </a:rPr>
              <a:t> yang </a:t>
            </a:r>
            <a:r>
              <a:rPr lang="en-ID" sz="1400" b="0" i="0" dirty="0" err="1">
                <a:solidFill>
                  <a:srgbClr val="000000"/>
                </a:solidFill>
                <a:effectLst/>
                <a:latin typeface="Montserrat-FF"/>
              </a:rPr>
              <a:t>datang</a:t>
            </a:r>
            <a:r>
              <a:rPr lang="en-ID" sz="1400" b="0" i="0" dirty="0">
                <a:solidFill>
                  <a:srgbClr val="000000"/>
                </a:solidFill>
                <a:effectLst/>
                <a:latin typeface="Montserrat-FF"/>
              </a:rPr>
              <a:t> </a:t>
            </a:r>
            <a:r>
              <a:rPr lang="en-ID" sz="1400" b="0" i="0" dirty="0" err="1">
                <a:solidFill>
                  <a:srgbClr val="000000"/>
                </a:solidFill>
                <a:effectLst/>
                <a:latin typeface="Montserrat-FF"/>
              </a:rPr>
              <a:t>untuk</a:t>
            </a:r>
            <a:r>
              <a:rPr lang="en-ID" sz="1400" b="0" i="0" dirty="0">
                <a:solidFill>
                  <a:srgbClr val="000000"/>
                </a:solidFill>
                <a:effectLst/>
                <a:latin typeface="Montserrat-FF"/>
              </a:rPr>
              <a:t> </a:t>
            </a:r>
            <a:r>
              <a:rPr lang="en-ID" sz="1400" b="0" i="0" dirty="0" err="1">
                <a:solidFill>
                  <a:srgbClr val="000000"/>
                </a:solidFill>
                <a:effectLst/>
                <a:latin typeface="Montserrat-FF"/>
              </a:rPr>
              <a:t>menikmati</a:t>
            </a:r>
            <a:r>
              <a:rPr lang="en-ID" sz="1400" b="0" i="0" dirty="0">
                <a:solidFill>
                  <a:srgbClr val="000000"/>
                </a:solidFill>
                <a:effectLst/>
                <a:latin typeface="Montserrat-FF"/>
              </a:rPr>
              <a:t> </a:t>
            </a:r>
            <a:r>
              <a:rPr lang="en-ID" sz="1400" b="0" i="0" dirty="0" err="1">
                <a:solidFill>
                  <a:srgbClr val="000000"/>
                </a:solidFill>
                <a:effectLst/>
                <a:latin typeface="Montserrat-FF"/>
              </a:rPr>
              <a:t>fasilitas</a:t>
            </a:r>
            <a:r>
              <a:rPr lang="en-ID" sz="1400" b="0" i="0" dirty="0">
                <a:solidFill>
                  <a:srgbClr val="000000"/>
                </a:solidFill>
                <a:effectLst/>
                <a:latin typeface="Montserrat-FF"/>
              </a:rPr>
              <a:t> hotel </a:t>
            </a:r>
            <a:r>
              <a:rPr lang="en-ID" sz="1400" b="0" i="0" dirty="0" err="1">
                <a:solidFill>
                  <a:srgbClr val="000000"/>
                </a:solidFill>
                <a:effectLst/>
                <a:latin typeface="Montserrat-FF"/>
              </a:rPr>
              <a:t>merasa</a:t>
            </a:r>
            <a:r>
              <a:rPr lang="en-ID" sz="1400" b="0" i="0" dirty="0">
                <a:solidFill>
                  <a:srgbClr val="000000"/>
                </a:solidFill>
                <a:effectLst/>
                <a:latin typeface="Montserrat-FF"/>
              </a:rPr>
              <a:t> </a:t>
            </a:r>
            <a:r>
              <a:rPr lang="en-ID" sz="1400" b="0" i="0" dirty="0" err="1">
                <a:solidFill>
                  <a:srgbClr val="000000"/>
                </a:solidFill>
                <a:effectLst/>
                <a:latin typeface="Montserrat-FF"/>
              </a:rPr>
              <a:t>nyaman</a:t>
            </a:r>
            <a:r>
              <a:rPr lang="en-ID" sz="1400" b="0" i="0" dirty="0">
                <a:solidFill>
                  <a:srgbClr val="000000"/>
                </a:solidFill>
                <a:effectLst/>
                <a:latin typeface="Montserrat-FF"/>
              </a:rPr>
              <a:t> </a:t>
            </a:r>
            <a:r>
              <a:rPr lang="en-ID" sz="1400" b="0" i="0" dirty="0" err="1">
                <a:solidFill>
                  <a:srgbClr val="000000"/>
                </a:solidFill>
                <a:effectLst/>
                <a:latin typeface="Montserrat-FF"/>
              </a:rPr>
              <a:t>karena</a:t>
            </a:r>
            <a:r>
              <a:rPr lang="en-ID" sz="1400" b="0" i="0" dirty="0">
                <a:solidFill>
                  <a:srgbClr val="000000"/>
                </a:solidFill>
                <a:effectLst/>
                <a:latin typeface="Montserrat-FF"/>
              </a:rPr>
              <a:t> </a:t>
            </a:r>
            <a:r>
              <a:rPr lang="en-ID" sz="1400" b="0" i="0" dirty="0" err="1">
                <a:solidFill>
                  <a:srgbClr val="000000"/>
                </a:solidFill>
                <a:effectLst/>
                <a:latin typeface="Montserrat-FF"/>
              </a:rPr>
              <a:t>kebersihannya</a:t>
            </a:r>
            <a:r>
              <a:rPr lang="en-ID" sz="1400" b="0" i="0" dirty="0">
                <a:solidFill>
                  <a:srgbClr val="000000"/>
                </a:solidFill>
                <a:effectLst/>
                <a:latin typeface="Montserrat-FF"/>
              </a:rPr>
              <a:t> </a:t>
            </a:r>
            <a:r>
              <a:rPr lang="en-ID" sz="1400" b="0" i="0" dirty="0" err="1">
                <a:solidFill>
                  <a:srgbClr val="000000"/>
                </a:solidFill>
                <a:effectLst/>
                <a:latin typeface="Montserrat-FF"/>
              </a:rPr>
              <a:t>terjaga</a:t>
            </a:r>
            <a:r>
              <a:rPr lang="en-ID" sz="1400" b="0" i="0" dirty="0">
                <a:solidFill>
                  <a:srgbClr val="000000"/>
                </a:solidFill>
                <a:effectLst/>
                <a:latin typeface="Montserrat-FF"/>
              </a:rPr>
              <a:t> </a:t>
            </a:r>
            <a:r>
              <a:rPr lang="en-ID" sz="1400" b="0" i="0" dirty="0" err="1">
                <a:solidFill>
                  <a:srgbClr val="000000"/>
                </a:solidFill>
                <a:effectLst/>
                <a:latin typeface="Montserrat-FF"/>
              </a:rPr>
              <a:t>baik</a:t>
            </a:r>
            <a:r>
              <a:rPr lang="en-ID" sz="1400" b="0" i="0" dirty="0">
                <a:solidFill>
                  <a:srgbClr val="000000"/>
                </a:solidFill>
                <a:effectLst/>
                <a:latin typeface="Montserrat-FF"/>
              </a:rPr>
              <a:t>.</a:t>
            </a:r>
          </a:p>
          <a:p>
            <a:pPr marL="342900" indent="-342900">
              <a:buAutoNum type="arabicPeriod"/>
            </a:pPr>
            <a:endParaRPr lang="en-ID" sz="1400" b="0" i="0" dirty="0">
              <a:solidFill>
                <a:srgbClr val="000000"/>
              </a:solidFill>
              <a:effectLst/>
              <a:latin typeface="Montserrat-FF"/>
            </a:endParaRPr>
          </a:p>
          <a:p>
            <a:pPr marL="342900" indent="-342900">
              <a:buAutoNum type="arabicPeriod"/>
            </a:pPr>
            <a:r>
              <a:rPr lang="en-ID" sz="1600" b="1" i="0" dirty="0">
                <a:solidFill>
                  <a:srgbClr val="000000"/>
                </a:solidFill>
                <a:effectLst/>
                <a:latin typeface="Montserrat-FF"/>
              </a:rPr>
              <a:t>Room Section</a:t>
            </a:r>
            <a:br>
              <a:rPr lang="en-ID" sz="1600" dirty="0"/>
            </a:br>
            <a:r>
              <a:rPr lang="en-ID" sz="1400" dirty="0" err="1">
                <a:solidFill>
                  <a:srgbClr val="000000"/>
                </a:solidFill>
                <a:latin typeface="Montserrat-FF"/>
              </a:rPr>
              <a:t>Berperan</a:t>
            </a:r>
            <a:r>
              <a:rPr lang="en-ID" sz="1400" b="0" i="0" dirty="0">
                <a:solidFill>
                  <a:srgbClr val="000000"/>
                </a:solidFill>
                <a:effectLst/>
                <a:latin typeface="Montserrat-FF"/>
              </a:rPr>
              <a:t> </a:t>
            </a:r>
            <a:r>
              <a:rPr lang="en-ID" sz="1400" b="0" i="0" dirty="0" err="1">
                <a:solidFill>
                  <a:srgbClr val="000000"/>
                </a:solidFill>
                <a:effectLst/>
                <a:latin typeface="Montserrat-FF"/>
              </a:rPr>
              <a:t>memberikan</a:t>
            </a:r>
            <a:r>
              <a:rPr lang="en-ID" sz="1400" b="0" i="0" dirty="0">
                <a:solidFill>
                  <a:srgbClr val="000000"/>
                </a:solidFill>
                <a:effectLst/>
                <a:latin typeface="Montserrat-FF"/>
              </a:rPr>
              <a:t> </a:t>
            </a:r>
            <a:r>
              <a:rPr lang="en-ID" sz="1400" b="0" i="0" dirty="0" err="1">
                <a:solidFill>
                  <a:srgbClr val="000000"/>
                </a:solidFill>
                <a:effectLst/>
                <a:latin typeface="Montserrat-FF"/>
              </a:rPr>
              <a:t>kebutuhan</a:t>
            </a:r>
            <a:r>
              <a:rPr lang="en-ID" sz="1400" b="0" i="0" dirty="0">
                <a:solidFill>
                  <a:srgbClr val="000000"/>
                </a:solidFill>
                <a:effectLst/>
                <a:latin typeface="Montserrat-FF"/>
              </a:rPr>
              <a:t> para </a:t>
            </a:r>
            <a:r>
              <a:rPr lang="en-ID" sz="1400" b="0" i="0" dirty="0" err="1">
                <a:solidFill>
                  <a:srgbClr val="000000"/>
                </a:solidFill>
                <a:effectLst/>
                <a:latin typeface="Montserrat-FF"/>
              </a:rPr>
              <a:t>tamu</a:t>
            </a:r>
            <a:r>
              <a:rPr lang="en-ID" sz="1400" b="0" i="0" dirty="0">
                <a:solidFill>
                  <a:srgbClr val="000000"/>
                </a:solidFill>
                <a:effectLst/>
                <a:latin typeface="Montserrat-FF"/>
              </a:rPr>
              <a:t> </a:t>
            </a:r>
            <a:r>
              <a:rPr lang="en-ID" sz="1400" b="0" i="0" dirty="0" err="1">
                <a:solidFill>
                  <a:srgbClr val="000000"/>
                </a:solidFill>
                <a:effectLst/>
                <a:latin typeface="Montserrat-FF"/>
              </a:rPr>
              <a:t>selama</a:t>
            </a:r>
            <a:r>
              <a:rPr lang="en-ID" sz="1400" b="0" i="0" dirty="0">
                <a:solidFill>
                  <a:srgbClr val="000000"/>
                </a:solidFill>
                <a:effectLst/>
                <a:latin typeface="Montserrat-FF"/>
              </a:rPr>
              <a:t> </a:t>
            </a:r>
            <a:r>
              <a:rPr lang="en-ID" sz="1400" b="0" i="0" dirty="0" err="1">
                <a:solidFill>
                  <a:srgbClr val="000000"/>
                </a:solidFill>
                <a:effectLst/>
                <a:latin typeface="Montserrat-FF"/>
              </a:rPr>
              <a:t>menginap</a:t>
            </a:r>
            <a:r>
              <a:rPr lang="en-ID" sz="1400" b="0" i="0" dirty="0">
                <a:solidFill>
                  <a:srgbClr val="000000"/>
                </a:solidFill>
                <a:effectLst/>
                <a:latin typeface="Montserrat-FF"/>
              </a:rPr>
              <a:t> di hotel. </a:t>
            </a:r>
            <a:r>
              <a:rPr lang="en-ID" sz="1400" b="0" i="0" dirty="0" err="1">
                <a:solidFill>
                  <a:srgbClr val="000000"/>
                </a:solidFill>
                <a:effectLst/>
                <a:latin typeface="Montserrat-FF"/>
              </a:rPr>
              <a:t>Misalnya</a:t>
            </a:r>
            <a:r>
              <a:rPr lang="en-ID" sz="1400" b="0" i="0" dirty="0">
                <a:solidFill>
                  <a:srgbClr val="000000"/>
                </a:solidFill>
                <a:effectLst/>
                <a:latin typeface="Montserrat-FF"/>
              </a:rPr>
              <a:t>, </a:t>
            </a:r>
            <a:r>
              <a:rPr lang="en-ID" sz="1400" b="0" i="0" dirty="0" err="1">
                <a:solidFill>
                  <a:srgbClr val="000000"/>
                </a:solidFill>
                <a:effectLst/>
                <a:latin typeface="Montserrat-FF"/>
              </a:rPr>
              <a:t>membersihkan</a:t>
            </a:r>
            <a:r>
              <a:rPr lang="en-ID" sz="1400" b="0" i="0" dirty="0">
                <a:solidFill>
                  <a:srgbClr val="000000"/>
                </a:solidFill>
                <a:effectLst/>
                <a:latin typeface="Montserrat-FF"/>
              </a:rPr>
              <a:t> </a:t>
            </a:r>
            <a:r>
              <a:rPr lang="en-ID" sz="1400" b="0" i="0" dirty="0" err="1">
                <a:solidFill>
                  <a:srgbClr val="000000"/>
                </a:solidFill>
                <a:effectLst/>
                <a:latin typeface="Montserrat-FF"/>
              </a:rPr>
              <a:t>kamar</a:t>
            </a:r>
            <a:r>
              <a:rPr lang="en-ID" sz="1400" b="0" i="0" dirty="0">
                <a:solidFill>
                  <a:srgbClr val="000000"/>
                </a:solidFill>
                <a:effectLst/>
                <a:latin typeface="Montserrat-FF"/>
              </a:rPr>
              <a:t> </a:t>
            </a:r>
            <a:r>
              <a:rPr lang="en-ID" sz="1400" b="0" i="0" dirty="0" err="1">
                <a:solidFill>
                  <a:srgbClr val="000000"/>
                </a:solidFill>
                <a:effectLst/>
                <a:latin typeface="Montserrat-FF"/>
              </a:rPr>
              <a:t>sebelum</a:t>
            </a:r>
            <a:r>
              <a:rPr lang="en-ID" sz="1400" b="0" i="0" dirty="0">
                <a:solidFill>
                  <a:srgbClr val="000000"/>
                </a:solidFill>
                <a:effectLst/>
                <a:latin typeface="Montserrat-FF"/>
              </a:rPr>
              <a:t> dan </a:t>
            </a:r>
            <a:r>
              <a:rPr lang="en-ID" sz="1400" b="0" i="0" dirty="0" err="1">
                <a:solidFill>
                  <a:srgbClr val="000000"/>
                </a:solidFill>
                <a:effectLst/>
                <a:latin typeface="Montserrat-FF"/>
              </a:rPr>
              <a:t>setelah</a:t>
            </a:r>
            <a:r>
              <a:rPr lang="en-ID" sz="1400" b="0" i="0" dirty="0">
                <a:solidFill>
                  <a:srgbClr val="000000"/>
                </a:solidFill>
                <a:effectLst/>
                <a:latin typeface="Montserrat-FF"/>
              </a:rPr>
              <a:t> </a:t>
            </a:r>
            <a:r>
              <a:rPr lang="en-ID" sz="1400" b="0" i="0" dirty="0" err="1">
                <a:solidFill>
                  <a:srgbClr val="000000"/>
                </a:solidFill>
                <a:effectLst/>
                <a:latin typeface="Montserrat-FF"/>
              </a:rPr>
              <a:t>tamu</a:t>
            </a:r>
            <a:r>
              <a:rPr lang="en-ID" sz="1400" b="0" i="0" dirty="0">
                <a:solidFill>
                  <a:srgbClr val="000000"/>
                </a:solidFill>
                <a:effectLst/>
                <a:latin typeface="Montserrat-FF"/>
              </a:rPr>
              <a:t> </a:t>
            </a:r>
            <a:r>
              <a:rPr lang="en-ID" sz="1400" b="0" i="0" dirty="0" err="1">
                <a:solidFill>
                  <a:srgbClr val="000000"/>
                </a:solidFill>
                <a:effectLst/>
                <a:latin typeface="Montserrat-FF"/>
              </a:rPr>
              <a:t>menginap</a:t>
            </a:r>
            <a:r>
              <a:rPr lang="en-ID" sz="1400" b="0" i="0" dirty="0">
                <a:solidFill>
                  <a:srgbClr val="000000"/>
                </a:solidFill>
                <a:effectLst/>
                <a:latin typeface="Montserrat-FF"/>
              </a:rPr>
              <a:t>, </a:t>
            </a:r>
            <a:r>
              <a:rPr lang="en-ID" sz="1400" b="0" i="0" dirty="0" err="1">
                <a:solidFill>
                  <a:srgbClr val="000000"/>
                </a:solidFill>
                <a:effectLst/>
                <a:latin typeface="Montserrat-FF"/>
              </a:rPr>
              <a:t>mengecek</a:t>
            </a:r>
            <a:r>
              <a:rPr lang="en-ID" sz="1400" b="0" i="0" dirty="0">
                <a:solidFill>
                  <a:srgbClr val="000000"/>
                </a:solidFill>
                <a:effectLst/>
                <a:latin typeface="Montserrat-FF"/>
              </a:rPr>
              <a:t> </a:t>
            </a:r>
            <a:r>
              <a:rPr lang="en-ID" sz="1400" b="0" i="0" dirty="0" err="1">
                <a:solidFill>
                  <a:srgbClr val="000000"/>
                </a:solidFill>
                <a:effectLst/>
                <a:latin typeface="Montserrat-FF"/>
              </a:rPr>
              <a:t>peralatan</a:t>
            </a:r>
            <a:r>
              <a:rPr lang="en-ID" sz="1400" b="0" i="0" dirty="0">
                <a:solidFill>
                  <a:srgbClr val="000000"/>
                </a:solidFill>
                <a:effectLst/>
                <a:latin typeface="Montserrat-FF"/>
              </a:rPr>
              <a:t> di </a:t>
            </a:r>
            <a:r>
              <a:rPr lang="en-ID" sz="1400" b="0" i="0" dirty="0" err="1">
                <a:solidFill>
                  <a:srgbClr val="000000"/>
                </a:solidFill>
                <a:effectLst/>
                <a:latin typeface="Montserrat-FF"/>
              </a:rPr>
              <a:t>dalam</a:t>
            </a:r>
            <a:r>
              <a:rPr lang="en-ID" sz="1400" b="0" i="0" dirty="0">
                <a:solidFill>
                  <a:srgbClr val="000000"/>
                </a:solidFill>
                <a:effectLst/>
                <a:latin typeface="Montserrat-FF"/>
              </a:rPr>
              <a:t> </a:t>
            </a:r>
            <a:r>
              <a:rPr lang="en-ID" sz="1400" b="0" i="0" dirty="0" err="1">
                <a:solidFill>
                  <a:srgbClr val="000000"/>
                </a:solidFill>
                <a:effectLst/>
                <a:latin typeface="Montserrat-FF"/>
              </a:rPr>
              <a:t>kamar</a:t>
            </a:r>
            <a:r>
              <a:rPr lang="en-ID" sz="1400" b="0" i="0" dirty="0">
                <a:solidFill>
                  <a:srgbClr val="000000"/>
                </a:solidFill>
                <a:effectLst/>
                <a:latin typeface="Montserrat-FF"/>
              </a:rPr>
              <a:t> </a:t>
            </a:r>
            <a:r>
              <a:rPr lang="en-ID" sz="1400" b="0" i="0" dirty="0" err="1">
                <a:solidFill>
                  <a:srgbClr val="000000"/>
                </a:solidFill>
                <a:effectLst/>
                <a:latin typeface="Montserrat-FF"/>
              </a:rPr>
              <a:t>apakah</a:t>
            </a:r>
            <a:r>
              <a:rPr lang="en-ID" sz="1400" b="0" i="0" dirty="0">
                <a:solidFill>
                  <a:srgbClr val="000000"/>
                </a:solidFill>
                <a:effectLst/>
                <a:latin typeface="Montserrat-FF"/>
              </a:rPr>
              <a:t> </a:t>
            </a:r>
            <a:r>
              <a:rPr lang="en-ID" sz="1400" b="0" i="0" dirty="0" err="1">
                <a:solidFill>
                  <a:srgbClr val="000000"/>
                </a:solidFill>
                <a:effectLst/>
                <a:latin typeface="Montserrat-FF"/>
              </a:rPr>
              <a:t>masih</a:t>
            </a:r>
            <a:r>
              <a:rPr lang="en-ID" sz="1400" b="0" i="0" dirty="0">
                <a:solidFill>
                  <a:srgbClr val="000000"/>
                </a:solidFill>
                <a:effectLst/>
                <a:latin typeface="Montserrat-FF"/>
              </a:rPr>
              <a:t> </a:t>
            </a:r>
            <a:r>
              <a:rPr lang="en-ID" sz="1400" b="0" i="0" dirty="0" err="1">
                <a:solidFill>
                  <a:srgbClr val="000000"/>
                </a:solidFill>
                <a:effectLst/>
                <a:latin typeface="Montserrat-FF"/>
              </a:rPr>
              <a:t>baik</a:t>
            </a:r>
            <a:r>
              <a:rPr lang="en-ID" sz="1400" b="0" i="0" dirty="0">
                <a:solidFill>
                  <a:srgbClr val="000000"/>
                </a:solidFill>
                <a:effectLst/>
                <a:latin typeface="Montserrat-FF"/>
              </a:rPr>
              <a:t> </a:t>
            </a:r>
            <a:r>
              <a:rPr lang="en-ID" sz="1400" b="0" i="0" dirty="0" err="1">
                <a:solidFill>
                  <a:srgbClr val="000000"/>
                </a:solidFill>
                <a:effectLst/>
                <a:latin typeface="Montserrat-FF"/>
              </a:rPr>
              <a:t>atau</a:t>
            </a:r>
            <a:r>
              <a:rPr lang="en-ID" sz="1400" b="0" i="0" dirty="0">
                <a:solidFill>
                  <a:srgbClr val="000000"/>
                </a:solidFill>
                <a:effectLst/>
                <a:latin typeface="Montserrat-FF"/>
              </a:rPr>
              <a:t> </a:t>
            </a:r>
            <a:r>
              <a:rPr lang="en-ID" sz="1400" b="0" i="0" dirty="0" err="1">
                <a:solidFill>
                  <a:srgbClr val="000000"/>
                </a:solidFill>
                <a:effectLst/>
                <a:latin typeface="Montserrat-FF"/>
              </a:rPr>
              <a:t>sudah</a:t>
            </a:r>
            <a:r>
              <a:rPr lang="en-ID" sz="1400" b="0" i="0" dirty="0">
                <a:solidFill>
                  <a:srgbClr val="000000"/>
                </a:solidFill>
                <a:effectLst/>
                <a:latin typeface="Montserrat-FF"/>
              </a:rPr>
              <a:t> </a:t>
            </a:r>
            <a:r>
              <a:rPr lang="en-ID" sz="1400" b="0" i="0" dirty="0" err="1">
                <a:solidFill>
                  <a:srgbClr val="000000"/>
                </a:solidFill>
                <a:effectLst/>
                <a:latin typeface="Montserrat-FF"/>
              </a:rPr>
              <a:t>rusak</a:t>
            </a:r>
            <a:r>
              <a:rPr lang="en-ID" sz="1400" b="0" i="0" dirty="0">
                <a:solidFill>
                  <a:srgbClr val="000000"/>
                </a:solidFill>
                <a:effectLst/>
                <a:latin typeface="Montserrat-FF"/>
              </a:rPr>
              <a:t>, </a:t>
            </a:r>
            <a:r>
              <a:rPr lang="en-ID" sz="1400" b="0" i="0" dirty="0" err="1">
                <a:solidFill>
                  <a:srgbClr val="000000"/>
                </a:solidFill>
                <a:effectLst/>
                <a:latin typeface="Montserrat-FF"/>
              </a:rPr>
              <a:t>hingga</a:t>
            </a:r>
            <a:r>
              <a:rPr lang="en-ID" sz="1400" b="0" i="0" dirty="0">
                <a:solidFill>
                  <a:srgbClr val="000000"/>
                </a:solidFill>
                <a:effectLst/>
                <a:latin typeface="Montserrat-FF"/>
              </a:rPr>
              <a:t> </a:t>
            </a:r>
            <a:r>
              <a:rPr lang="en-ID" sz="1400" b="0" i="0" dirty="0" err="1">
                <a:solidFill>
                  <a:srgbClr val="000000"/>
                </a:solidFill>
                <a:effectLst/>
                <a:latin typeface="Montserrat-FF"/>
              </a:rPr>
              <a:t>mengecek</a:t>
            </a:r>
            <a:r>
              <a:rPr lang="en-ID" sz="1400" b="0" i="0" dirty="0">
                <a:solidFill>
                  <a:srgbClr val="000000"/>
                </a:solidFill>
                <a:effectLst/>
                <a:latin typeface="Montserrat-FF"/>
              </a:rPr>
              <a:t> </a:t>
            </a:r>
            <a:r>
              <a:rPr lang="en-ID" sz="1400" b="0" i="0" dirty="0" err="1">
                <a:solidFill>
                  <a:srgbClr val="000000"/>
                </a:solidFill>
                <a:effectLst/>
                <a:latin typeface="Montserrat-FF"/>
              </a:rPr>
              <a:t>berbagai</a:t>
            </a:r>
            <a:r>
              <a:rPr lang="en-ID" sz="1400" b="0" i="0" dirty="0">
                <a:solidFill>
                  <a:srgbClr val="000000"/>
                </a:solidFill>
                <a:effectLst/>
                <a:latin typeface="Montserrat-FF"/>
              </a:rPr>
              <a:t> </a:t>
            </a:r>
            <a:r>
              <a:rPr lang="en-ID" sz="1400" b="0" i="0" dirty="0" err="1">
                <a:solidFill>
                  <a:srgbClr val="000000"/>
                </a:solidFill>
                <a:effectLst/>
                <a:latin typeface="Montserrat-FF"/>
              </a:rPr>
              <a:t>peralatan</a:t>
            </a:r>
            <a:r>
              <a:rPr lang="en-ID" sz="1400" b="0" i="0" dirty="0">
                <a:solidFill>
                  <a:srgbClr val="000000"/>
                </a:solidFill>
                <a:effectLst/>
                <a:latin typeface="Montserrat-FF"/>
              </a:rPr>
              <a:t> </a:t>
            </a:r>
            <a:r>
              <a:rPr lang="en-ID" sz="1400" b="0" i="0" dirty="0" err="1">
                <a:solidFill>
                  <a:srgbClr val="000000"/>
                </a:solidFill>
                <a:effectLst/>
                <a:latin typeface="Montserrat-FF"/>
              </a:rPr>
              <a:t>seperti</a:t>
            </a:r>
            <a:r>
              <a:rPr lang="en-ID" sz="1400" b="0" i="0" dirty="0">
                <a:solidFill>
                  <a:srgbClr val="000000"/>
                </a:solidFill>
                <a:effectLst/>
                <a:latin typeface="Montserrat-FF"/>
              </a:rPr>
              <a:t> </a:t>
            </a:r>
            <a:r>
              <a:rPr lang="en-ID" sz="1400" b="0" i="0" dirty="0" err="1">
                <a:solidFill>
                  <a:srgbClr val="000000"/>
                </a:solidFill>
                <a:effectLst/>
                <a:latin typeface="Montserrat-FF"/>
              </a:rPr>
              <a:t>alat</a:t>
            </a:r>
            <a:r>
              <a:rPr lang="en-ID" sz="1400" b="0" i="0" dirty="0">
                <a:solidFill>
                  <a:srgbClr val="000000"/>
                </a:solidFill>
                <a:effectLst/>
                <a:latin typeface="Montserrat-FF"/>
              </a:rPr>
              <a:t> mandi dan </a:t>
            </a:r>
            <a:r>
              <a:rPr lang="en-ID" sz="1400" b="0" i="0" dirty="0" err="1">
                <a:solidFill>
                  <a:srgbClr val="000000"/>
                </a:solidFill>
                <a:effectLst/>
                <a:latin typeface="Montserrat-FF"/>
              </a:rPr>
              <a:t>handuk</a:t>
            </a:r>
            <a:r>
              <a:rPr lang="en-ID" sz="1400" b="0" i="0" dirty="0">
                <a:solidFill>
                  <a:srgbClr val="000000"/>
                </a:solidFill>
                <a:effectLst/>
                <a:latin typeface="Montserrat-FF"/>
              </a:rPr>
              <a:t>.</a:t>
            </a:r>
          </a:p>
          <a:p>
            <a:pPr marL="342900" indent="-342900">
              <a:buAutoNum type="arabicPeriod"/>
            </a:pPr>
            <a:endParaRPr lang="en-ID" sz="1400" b="0" i="0" dirty="0">
              <a:solidFill>
                <a:srgbClr val="000000"/>
              </a:solidFill>
              <a:effectLst/>
              <a:latin typeface="Montserrat-FF"/>
            </a:endParaRPr>
          </a:p>
          <a:p>
            <a:pPr marL="342900" indent="-342900">
              <a:buAutoNum type="arabicPeriod"/>
            </a:pPr>
            <a:r>
              <a:rPr lang="en-ID" sz="1600" b="1" i="0" dirty="0">
                <a:solidFill>
                  <a:srgbClr val="000000"/>
                </a:solidFill>
                <a:effectLst/>
                <a:latin typeface="Montserrat-FF"/>
              </a:rPr>
              <a:t>Laundry Section</a:t>
            </a:r>
            <a:br>
              <a:rPr lang="en-ID" sz="1600" dirty="0"/>
            </a:br>
            <a:r>
              <a:rPr lang="en-ID" sz="1400" dirty="0" err="1">
                <a:solidFill>
                  <a:srgbClr val="000000"/>
                </a:solidFill>
                <a:latin typeface="Montserrat-FF"/>
              </a:rPr>
              <a:t>B</a:t>
            </a:r>
            <a:r>
              <a:rPr lang="en-ID" sz="1400" b="0" i="0" dirty="0" err="1">
                <a:solidFill>
                  <a:srgbClr val="000000"/>
                </a:solidFill>
                <a:effectLst/>
                <a:latin typeface="Montserrat-FF"/>
              </a:rPr>
              <a:t>ertugas</a:t>
            </a:r>
            <a:r>
              <a:rPr lang="en-ID" sz="1400" b="0" i="0" dirty="0">
                <a:solidFill>
                  <a:srgbClr val="000000"/>
                </a:solidFill>
                <a:effectLst/>
                <a:latin typeface="Montserrat-FF"/>
              </a:rPr>
              <a:t>  </a:t>
            </a:r>
            <a:r>
              <a:rPr lang="en-ID" sz="1400" b="0" i="0" dirty="0" err="1">
                <a:solidFill>
                  <a:srgbClr val="000000"/>
                </a:solidFill>
                <a:effectLst/>
                <a:latin typeface="Montserrat-FF"/>
              </a:rPr>
              <a:t>mencuci</a:t>
            </a:r>
            <a:r>
              <a:rPr lang="en-ID" sz="1400" b="0" i="0" dirty="0">
                <a:solidFill>
                  <a:srgbClr val="000000"/>
                </a:solidFill>
                <a:effectLst/>
                <a:latin typeface="Montserrat-FF"/>
              </a:rPr>
              <a:t> </a:t>
            </a:r>
            <a:r>
              <a:rPr lang="en-ID" sz="1400" b="0" i="0" dirty="0" err="1">
                <a:solidFill>
                  <a:srgbClr val="000000"/>
                </a:solidFill>
                <a:effectLst/>
                <a:latin typeface="Montserrat-FF"/>
              </a:rPr>
              <a:t>seluruh</a:t>
            </a:r>
            <a:r>
              <a:rPr lang="en-ID" sz="1400" b="0" i="0" dirty="0">
                <a:solidFill>
                  <a:srgbClr val="000000"/>
                </a:solidFill>
                <a:effectLst/>
                <a:latin typeface="Montserrat-FF"/>
              </a:rPr>
              <a:t> </a:t>
            </a:r>
            <a:r>
              <a:rPr lang="en-ID" sz="1400" b="0" i="0" dirty="0" err="1">
                <a:solidFill>
                  <a:srgbClr val="000000"/>
                </a:solidFill>
                <a:effectLst/>
                <a:latin typeface="Montserrat-FF"/>
              </a:rPr>
              <a:t>kain</a:t>
            </a:r>
            <a:r>
              <a:rPr lang="en-ID" sz="1400" b="0" i="0" dirty="0">
                <a:solidFill>
                  <a:srgbClr val="000000"/>
                </a:solidFill>
                <a:effectLst/>
                <a:latin typeface="Montserrat-FF"/>
              </a:rPr>
              <a:t> yang </a:t>
            </a:r>
            <a:r>
              <a:rPr lang="en-ID" sz="1400" b="0" i="0" dirty="0" err="1">
                <a:solidFill>
                  <a:srgbClr val="000000"/>
                </a:solidFill>
                <a:effectLst/>
                <a:latin typeface="Montserrat-FF"/>
              </a:rPr>
              <a:t>ada</a:t>
            </a:r>
            <a:r>
              <a:rPr lang="en-ID" sz="1400" b="0" i="0" dirty="0">
                <a:solidFill>
                  <a:srgbClr val="000000"/>
                </a:solidFill>
                <a:effectLst/>
                <a:latin typeface="Montserrat-FF"/>
              </a:rPr>
              <a:t> di </a:t>
            </a:r>
            <a:r>
              <a:rPr lang="en-ID" sz="1400" b="0" i="0" dirty="0" err="1">
                <a:solidFill>
                  <a:srgbClr val="000000"/>
                </a:solidFill>
                <a:effectLst/>
                <a:latin typeface="Montserrat-FF"/>
              </a:rPr>
              <a:t>setiap</a:t>
            </a:r>
            <a:r>
              <a:rPr lang="en-ID" sz="1400" b="0" i="0" dirty="0">
                <a:solidFill>
                  <a:srgbClr val="000000"/>
                </a:solidFill>
                <a:effectLst/>
                <a:latin typeface="Montserrat-FF"/>
              </a:rPr>
              <a:t> </a:t>
            </a:r>
            <a:r>
              <a:rPr lang="en-ID" sz="1400" b="0" i="0" dirty="0" err="1">
                <a:solidFill>
                  <a:srgbClr val="000000"/>
                </a:solidFill>
                <a:effectLst/>
                <a:latin typeface="Montserrat-FF"/>
              </a:rPr>
              <a:t>kamar</a:t>
            </a:r>
            <a:r>
              <a:rPr lang="en-ID" sz="1400" b="0" i="0" dirty="0">
                <a:solidFill>
                  <a:srgbClr val="000000"/>
                </a:solidFill>
                <a:effectLst/>
                <a:latin typeface="Montserrat-FF"/>
              </a:rPr>
              <a:t>. </a:t>
            </a:r>
            <a:r>
              <a:rPr lang="en-ID" sz="1400" b="0" i="0" dirty="0" err="1">
                <a:solidFill>
                  <a:srgbClr val="000000"/>
                </a:solidFill>
                <a:effectLst/>
                <a:latin typeface="Montserrat-FF"/>
              </a:rPr>
              <a:t>Misalnya</a:t>
            </a:r>
            <a:r>
              <a:rPr lang="en-ID" sz="1400" b="0" i="0" dirty="0">
                <a:solidFill>
                  <a:srgbClr val="000000"/>
                </a:solidFill>
                <a:effectLst/>
                <a:latin typeface="Montserrat-FF"/>
              </a:rPr>
              <a:t>, </a:t>
            </a:r>
            <a:r>
              <a:rPr lang="en-ID" sz="1400" b="0" i="0" dirty="0" err="1">
                <a:solidFill>
                  <a:srgbClr val="000000"/>
                </a:solidFill>
                <a:effectLst/>
                <a:latin typeface="Montserrat-FF"/>
              </a:rPr>
              <a:t>mencuci</a:t>
            </a:r>
            <a:r>
              <a:rPr lang="en-ID" sz="1400" b="0" i="0" dirty="0">
                <a:solidFill>
                  <a:srgbClr val="000000"/>
                </a:solidFill>
                <a:effectLst/>
                <a:latin typeface="Montserrat-FF"/>
              </a:rPr>
              <a:t> </a:t>
            </a:r>
            <a:r>
              <a:rPr lang="en-ID" sz="1400" b="0" i="0" dirty="0" err="1">
                <a:solidFill>
                  <a:srgbClr val="000000"/>
                </a:solidFill>
                <a:effectLst/>
                <a:latin typeface="Montserrat-FF"/>
              </a:rPr>
              <a:t>handuk</a:t>
            </a:r>
            <a:r>
              <a:rPr lang="en-ID" sz="1400" b="0" i="0" dirty="0">
                <a:solidFill>
                  <a:srgbClr val="000000"/>
                </a:solidFill>
                <a:effectLst/>
                <a:latin typeface="Montserrat-FF"/>
              </a:rPr>
              <a:t>, </a:t>
            </a:r>
            <a:r>
              <a:rPr lang="en-ID" sz="1400" b="0" i="0" dirty="0" err="1">
                <a:solidFill>
                  <a:srgbClr val="000000"/>
                </a:solidFill>
                <a:effectLst/>
                <a:latin typeface="Montserrat-FF"/>
              </a:rPr>
              <a:t>sarung</a:t>
            </a:r>
            <a:r>
              <a:rPr lang="en-ID" sz="1400" b="0" i="0" dirty="0">
                <a:solidFill>
                  <a:srgbClr val="000000"/>
                </a:solidFill>
                <a:effectLst/>
                <a:latin typeface="Montserrat-FF"/>
              </a:rPr>
              <a:t> </a:t>
            </a:r>
            <a:r>
              <a:rPr lang="en-ID" sz="1400" b="0" i="0" dirty="0" err="1">
                <a:solidFill>
                  <a:srgbClr val="000000"/>
                </a:solidFill>
                <a:effectLst/>
                <a:latin typeface="Montserrat-FF"/>
              </a:rPr>
              <a:t>bantal</a:t>
            </a:r>
            <a:r>
              <a:rPr lang="en-ID" sz="1400" b="0" i="0" dirty="0">
                <a:solidFill>
                  <a:srgbClr val="000000"/>
                </a:solidFill>
                <a:effectLst/>
                <a:latin typeface="Montserrat-FF"/>
              </a:rPr>
              <a:t>, </a:t>
            </a:r>
            <a:r>
              <a:rPr lang="en-ID" sz="1400" b="0" i="0" dirty="0" err="1">
                <a:solidFill>
                  <a:srgbClr val="000000"/>
                </a:solidFill>
                <a:effectLst/>
                <a:latin typeface="Montserrat-FF"/>
              </a:rPr>
              <a:t>hingga</a:t>
            </a:r>
            <a:r>
              <a:rPr lang="en-ID" sz="1400" b="0" i="0" dirty="0">
                <a:solidFill>
                  <a:srgbClr val="000000"/>
                </a:solidFill>
                <a:effectLst/>
                <a:latin typeface="Montserrat-FF"/>
              </a:rPr>
              <a:t> </a:t>
            </a:r>
            <a:r>
              <a:rPr lang="en-ID" sz="1400" b="0" i="0" dirty="0" err="1">
                <a:solidFill>
                  <a:srgbClr val="000000"/>
                </a:solidFill>
                <a:effectLst/>
                <a:latin typeface="Montserrat-FF"/>
              </a:rPr>
              <a:t>sprei</a:t>
            </a:r>
            <a:r>
              <a:rPr lang="en-ID" sz="1400" b="0" i="0" dirty="0">
                <a:solidFill>
                  <a:srgbClr val="000000"/>
                </a:solidFill>
                <a:effectLst/>
                <a:latin typeface="Montserrat-FF"/>
              </a:rPr>
              <a:t> </a:t>
            </a:r>
            <a:r>
              <a:rPr lang="en-ID" sz="1400" b="0" i="0" dirty="0" err="1">
                <a:solidFill>
                  <a:srgbClr val="000000"/>
                </a:solidFill>
                <a:effectLst/>
                <a:latin typeface="Montserrat-FF"/>
              </a:rPr>
              <a:t>wajib</a:t>
            </a:r>
            <a:r>
              <a:rPr lang="en-ID" sz="1400" b="0" i="0" dirty="0">
                <a:solidFill>
                  <a:srgbClr val="000000"/>
                </a:solidFill>
                <a:effectLst/>
                <a:latin typeface="Montserrat-FF"/>
              </a:rPr>
              <a:t> </a:t>
            </a:r>
            <a:r>
              <a:rPr lang="en-ID" sz="1400" b="0" i="0" dirty="0" err="1">
                <a:solidFill>
                  <a:srgbClr val="000000"/>
                </a:solidFill>
                <a:effectLst/>
                <a:latin typeface="Montserrat-FF"/>
              </a:rPr>
              <a:t>dicuci</a:t>
            </a:r>
            <a:r>
              <a:rPr lang="en-ID" sz="1400" b="0" i="0" dirty="0">
                <a:solidFill>
                  <a:srgbClr val="000000"/>
                </a:solidFill>
                <a:effectLst/>
                <a:latin typeface="Montserrat-FF"/>
              </a:rPr>
              <a:t> </a:t>
            </a:r>
            <a:r>
              <a:rPr lang="en-ID" sz="1400" b="0" i="0" dirty="0" err="1">
                <a:solidFill>
                  <a:srgbClr val="000000"/>
                </a:solidFill>
                <a:effectLst/>
                <a:latin typeface="Montserrat-FF"/>
              </a:rPr>
              <a:t>sampai</a:t>
            </a:r>
            <a:r>
              <a:rPr lang="en-ID" sz="1400" b="0" i="0" dirty="0">
                <a:solidFill>
                  <a:srgbClr val="000000"/>
                </a:solidFill>
                <a:effectLst/>
                <a:latin typeface="Montserrat-FF"/>
              </a:rPr>
              <a:t> </a:t>
            </a:r>
            <a:r>
              <a:rPr lang="en-ID" sz="1400" b="0" i="0" dirty="0" err="1">
                <a:solidFill>
                  <a:srgbClr val="000000"/>
                </a:solidFill>
                <a:effectLst/>
                <a:latin typeface="Montserrat-FF"/>
              </a:rPr>
              <a:t>bersih</a:t>
            </a:r>
            <a:r>
              <a:rPr lang="en-ID" sz="1400" b="0" i="0" dirty="0">
                <a:solidFill>
                  <a:srgbClr val="000000"/>
                </a:solidFill>
                <a:effectLst/>
                <a:latin typeface="Montserrat-FF"/>
              </a:rPr>
              <a:t> dan </a:t>
            </a:r>
            <a:r>
              <a:rPr lang="en-ID" sz="1400" b="0" i="0" dirty="0" err="1">
                <a:solidFill>
                  <a:srgbClr val="000000"/>
                </a:solidFill>
                <a:effectLst/>
                <a:latin typeface="Montserrat-FF"/>
              </a:rPr>
              <a:t>wangi</a:t>
            </a:r>
            <a:r>
              <a:rPr lang="en-ID" sz="1400" b="0" i="0" dirty="0">
                <a:solidFill>
                  <a:srgbClr val="000000"/>
                </a:solidFill>
                <a:effectLst/>
                <a:latin typeface="Montserrat-FF"/>
              </a:rPr>
              <a:t>.</a:t>
            </a:r>
          </a:p>
          <a:p>
            <a:pPr marL="342900" indent="-342900">
              <a:buAutoNum type="arabicPeriod"/>
            </a:pPr>
            <a:endParaRPr lang="en-ID" sz="1400" b="0" i="0" dirty="0">
              <a:solidFill>
                <a:srgbClr val="000000"/>
              </a:solidFill>
              <a:effectLst/>
              <a:latin typeface="Montserrat-FF"/>
            </a:endParaRPr>
          </a:p>
          <a:p>
            <a:pPr marL="342900" indent="-342900">
              <a:buAutoNum type="arabicPeriod"/>
            </a:pPr>
            <a:r>
              <a:rPr lang="en-ID" sz="1600" b="1" i="0" dirty="0">
                <a:solidFill>
                  <a:srgbClr val="000000"/>
                </a:solidFill>
                <a:effectLst/>
                <a:latin typeface="Montserrat-FF"/>
              </a:rPr>
              <a:t>Linen Section</a:t>
            </a:r>
            <a:br>
              <a:rPr lang="en-ID" sz="1600" dirty="0"/>
            </a:br>
            <a:r>
              <a:rPr lang="en-ID" sz="1400" dirty="0" err="1">
                <a:solidFill>
                  <a:srgbClr val="000000"/>
                </a:solidFill>
                <a:latin typeface="Montserrat-FF"/>
              </a:rPr>
              <a:t>B</a:t>
            </a:r>
            <a:r>
              <a:rPr lang="en-ID" sz="1400" b="0" i="0" dirty="0" err="1">
                <a:solidFill>
                  <a:srgbClr val="000000"/>
                </a:solidFill>
                <a:effectLst/>
                <a:latin typeface="Montserrat-FF"/>
              </a:rPr>
              <a:t>ertugas</a:t>
            </a:r>
            <a:r>
              <a:rPr lang="en-ID" sz="1400" b="0" i="0" dirty="0">
                <a:solidFill>
                  <a:srgbClr val="000000"/>
                </a:solidFill>
                <a:effectLst/>
                <a:latin typeface="Montserrat-FF"/>
              </a:rPr>
              <a:t> </a:t>
            </a:r>
            <a:r>
              <a:rPr lang="en-ID" sz="1400" b="0" i="0" dirty="0" err="1">
                <a:solidFill>
                  <a:srgbClr val="000000"/>
                </a:solidFill>
                <a:effectLst/>
                <a:latin typeface="Montserrat-FF"/>
              </a:rPr>
              <a:t>membawa</a:t>
            </a:r>
            <a:r>
              <a:rPr lang="en-ID" sz="1400" b="0" i="0" dirty="0">
                <a:solidFill>
                  <a:srgbClr val="000000"/>
                </a:solidFill>
                <a:effectLst/>
                <a:latin typeface="Montserrat-FF"/>
              </a:rPr>
              <a:t> </a:t>
            </a:r>
            <a:r>
              <a:rPr lang="en-ID" sz="1400" b="0" i="0" dirty="0" err="1">
                <a:solidFill>
                  <a:srgbClr val="000000"/>
                </a:solidFill>
                <a:effectLst/>
                <a:latin typeface="Montserrat-FF"/>
              </a:rPr>
              <a:t>seluruh</a:t>
            </a:r>
            <a:r>
              <a:rPr lang="en-ID" sz="1400" b="0" i="0" dirty="0">
                <a:solidFill>
                  <a:srgbClr val="000000"/>
                </a:solidFill>
                <a:effectLst/>
                <a:latin typeface="Montserrat-FF"/>
              </a:rPr>
              <a:t> </a:t>
            </a:r>
            <a:r>
              <a:rPr lang="en-ID" sz="1400" b="0" i="0" dirty="0" err="1">
                <a:solidFill>
                  <a:srgbClr val="000000"/>
                </a:solidFill>
                <a:effectLst/>
                <a:latin typeface="Montserrat-FF"/>
              </a:rPr>
              <a:t>kain</a:t>
            </a:r>
            <a:r>
              <a:rPr lang="en-ID" sz="1400" b="0" i="0" dirty="0">
                <a:solidFill>
                  <a:srgbClr val="000000"/>
                </a:solidFill>
                <a:effectLst/>
                <a:latin typeface="Montserrat-FF"/>
              </a:rPr>
              <a:t> yang </a:t>
            </a:r>
            <a:r>
              <a:rPr lang="en-ID" sz="1400" b="0" i="0" dirty="0" err="1">
                <a:solidFill>
                  <a:srgbClr val="000000"/>
                </a:solidFill>
                <a:effectLst/>
                <a:latin typeface="Montserrat-FF"/>
              </a:rPr>
              <a:t>telah</a:t>
            </a:r>
            <a:r>
              <a:rPr lang="en-ID" sz="1400" b="0" i="0" dirty="0">
                <a:solidFill>
                  <a:srgbClr val="000000"/>
                </a:solidFill>
                <a:effectLst/>
                <a:latin typeface="Montserrat-FF"/>
              </a:rPr>
              <a:t> </a:t>
            </a:r>
            <a:r>
              <a:rPr lang="en-ID" sz="1400" b="0" i="0" dirty="0" err="1">
                <a:solidFill>
                  <a:srgbClr val="000000"/>
                </a:solidFill>
                <a:effectLst/>
                <a:latin typeface="Montserrat-FF"/>
              </a:rPr>
              <a:t>dicuci</a:t>
            </a:r>
            <a:r>
              <a:rPr lang="en-ID" sz="1400" b="0" i="0" dirty="0">
                <a:solidFill>
                  <a:srgbClr val="000000"/>
                </a:solidFill>
                <a:effectLst/>
                <a:latin typeface="Montserrat-FF"/>
              </a:rPr>
              <a:t> oleh </a:t>
            </a:r>
            <a:r>
              <a:rPr lang="en-ID" sz="1400" b="0" i="0" dirty="0" err="1">
                <a:solidFill>
                  <a:srgbClr val="000000"/>
                </a:solidFill>
                <a:effectLst/>
                <a:latin typeface="Montserrat-FF"/>
              </a:rPr>
              <a:t>petugas</a:t>
            </a:r>
            <a:r>
              <a:rPr lang="en-ID" sz="1400" b="0" i="0" dirty="0">
                <a:solidFill>
                  <a:srgbClr val="000000"/>
                </a:solidFill>
                <a:effectLst/>
                <a:latin typeface="Montserrat-FF"/>
              </a:rPr>
              <a:t> di </a:t>
            </a:r>
            <a:r>
              <a:rPr lang="en-ID" sz="1400" b="0" i="0" dirty="0" err="1">
                <a:solidFill>
                  <a:srgbClr val="000000"/>
                </a:solidFill>
                <a:effectLst/>
                <a:latin typeface="Montserrat-FF"/>
              </a:rPr>
              <a:t>bagian</a:t>
            </a:r>
            <a:r>
              <a:rPr lang="en-ID" sz="1400" b="0" i="0" dirty="0">
                <a:solidFill>
                  <a:srgbClr val="000000"/>
                </a:solidFill>
                <a:effectLst/>
                <a:latin typeface="Montserrat-FF"/>
              </a:rPr>
              <a:t> laundry section, </a:t>
            </a:r>
            <a:r>
              <a:rPr lang="en-ID" sz="1400" b="0" i="0" dirty="0" err="1">
                <a:solidFill>
                  <a:srgbClr val="000000"/>
                </a:solidFill>
                <a:effectLst/>
                <a:latin typeface="Montserrat-FF"/>
              </a:rPr>
              <a:t>lalu</a:t>
            </a:r>
            <a:r>
              <a:rPr lang="en-ID" sz="1400" b="0" i="0" dirty="0">
                <a:solidFill>
                  <a:srgbClr val="000000"/>
                </a:solidFill>
                <a:effectLst/>
                <a:latin typeface="Montserrat-FF"/>
              </a:rPr>
              <a:t> </a:t>
            </a:r>
            <a:r>
              <a:rPr lang="en-ID" sz="1400" b="0" i="0" dirty="0" err="1">
                <a:solidFill>
                  <a:srgbClr val="000000"/>
                </a:solidFill>
                <a:effectLst/>
                <a:latin typeface="Montserrat-FF"/>
              </a:rPr>
              <a:t>kain-kain</a:t>
            </a:r>
            <a:r>
              <a:rPr lang="en-ID" sz="1400" b="0" i="0" dirty="0">
                <a:solidFill>
                  <a:srgbClr val="000000"/>
                </a:solidFill>
                <a:effectLst/>
                <a:latin typeface="Montserrat-FF"/>
              </a:rPr>
              <a:t> </a:t>
            </a:r>
            <a:r>
              <a:rPr lang="en-ID" sz="1400" b="0" i="0" dirty="0" err="1">
                <a:solidFill>
                  <a:srgbClr val="000000"/>
                </a:solidFill>
                <a:effectLst/>
                <a:latin typeface="Montserrat-FF"/>
              </a:rPr>
              <a:t>tersebut</a:t>
            </a:r>
            <a:r>
              <a:rPr lang="en-ID" sz="1400" b="0" i="0" dirty="0">
                <a:solidFill>
                  <a:srgbClr val="000000"/>
                </a:solidFill>
                <a:effectLst/>
                <a:latin typeface="Montserrat-FF"/>
              </a:rPr>
              <a:t> </a:t>
            </a:r>
            <a:r>
              <a:rPr lang="en-ID" sz="1400" b="0" i="0" dirty="0" err="1">
                <a:solidFill>
                  <a:srgbClr val="000000"/>
                </a:solidFill>
                <a:effectLst/>
                <a:latin typeface="Montserrat-FF"/>
              </a:rPr>
              <a:t>diantar</a:t>
            </a:r>
            <a:r>
              <a:rPr lang="en-ID" sz="1400" b="0" i="0" dirty="0">
                <a:solidFill>
                  <a:srgbClr val="000000"/>
                </a:solidFill>
                <a:effectLst/>
                <a:latin typeface="Montserrat-FF"/>
              </a:rPr>
              <a:t> </a:t>
            </a:r>
            <a:r>
              <a:rPr lang="en-ID" sz="1400" b="0" i="0" dirty="0" err="1">
                <a:solidFill>
                  <a:srgbClr val="000000"/>
                </a:solidFill>
                <a:effectLst/>
                <a:latin typeface="Montserrat-FF"/>
              </a:rPr>
              <a:t>kembali</a:t>
            </a:r>
            <a:r>
              <a:rPr lang="en-ID" sz="1400" b="0" i="0" dirty="0">
                <a:solidFill>
                  <a:srgbClr val="000000"/>
                </a:solidFill>
                <a:effectLst/>
                <a:latin typeface="Montserrat-FF"/>
              </a:rPr>
              <a:t> </a:t>
            </a:r>
            <a:r>
              <a:rPr lang="en-ID" sz="1400" b="0" i="0" dirty="0" err="1">
                <a:solidFill>
                  <a:srgbClr val="000000"/>
                </a:solidFill>
                <a:effectLst/>
                <a:latin typeface="Montserrat-FF"/>
              </a:rPr>
              <a:t>ke</a:t>
            </a:r>
            <a:r>
              <a:rPr lang="en-ID" sz="1400" b="0" i="0" dirty="0">
                <a:solidFill>
                  <a:srgbClr val="000000"/>
                </a:solidFill>
                <a:effectLst/>
                <a:latin typeface="Montserrat-FF"/>
              </a:rPr>
              <a:t> </a:t>
            </a:r>
            <a:r>
              <a:rPr lang="en-ID" sz="1400" b="0" i="0" dirty="0" err="1">
                <a:solidFill>
                  <a:srgbClr val="000000"/>
                </a:solidFill>
                <a:effectLst/>
                <a:latin typeface="Montserrat-FF"/>
              </a:rPr>
              <a:t>setiap</a:t>
            </a:r>
            <a:r>
              <a:rPr lang="en-ID" sz="1400" b="0" i="0" dirty="0">
                <a:solidFill>
                  <a:srgbClr val="000000"/>
                </a:solidFill>
                <a:effectLst/>
                <a:latin typeface="Montserrat-FF"/>
              </a:rPr>
              <a:t> </a:t>
            </a:r>
            <a:r>
              <a:rPr lang="en-ID" sz="1400" b="0" i="0" dirty="0" err="1">
                <a:solidFill>
                  <a:srgbClr val="000000"/>
                </a:solidFill>
                <a:effectLst/>
                <a:latin typeface="Montserrat-FF"/>
              </a:rPr>
              <a:t>kamar</a:t>
            </a:r>
            <a:r>
              <a:rPr lang="en-ID" sz="1400" dirty="0">
                <a:solidFill>
                  <a:srgbClr val="000000"/>
                </a:solidFill>
                <a:latin typeface="Montserrat-FF"/>
              </a:rPr>
              <a:t> dan</a:t>
            </a:r>
            <a:r>
              <a:rPr lang="en-ID" sz="1400" b="0" i="0" dirty="0">
                <a:solidFill>
                  <a:srgbClr val="000000"/>
                </a:solidFill>
                <a:effectLst/>
                <a:latin typeface="Montserrat-FF"/>
              </a:rPr>
              <a:t> </a:t>
            </a:r>
            <a:r>
              <a:rPr lang="en-ID" sz="1400" b="0" i="0" dirty="0" err="1">
                <a:solidFill>
                  <a:srgbClr val="000000"/>
                </a:solidFill>
                <a:effectLst/>
                <a:latin typeface="Montserrat-FF"/>
              </a:rPr>
              <a:t>memastikan</a:t>
            </a:r>
            <a:r>
              <a:rPr lang="en-ID" sz="1400" b="0" i="0" dirty="0">
                <a:solidFill>
                  <a:srgbClr val="000000"/>
                </a:solidFill>
                <a:effectLst/>
                <a:latin typeface="Montserrat-FF"/>
              </a:rPr>
              <a:t> </a:t>
            </a:r>
            <a:r>
              <a:rPr lang="en-ID" sz="1400" b="0" i="0" dirty="0" err="1">
                <a:solidFill>
                  <a:srgbClr val="000000"/>
                </a:solidFill>
                <a:effectLst/>
                <a:latin typeface="Montserrat-FF"/>
              </a:rPr>
              <a:t>jika</a:t>
            </a:r>
            <a:r>
              <a:rPr lang="en-ID" sz="1400" b="0" i="0" dirty="0">
                <a:solidFill>
                  <a:srgbClr val="000000"/>
                </a:solidFill>
                <a:effectLst/>
                <a:latin typeface="Montserrat-FF"/>
              </a:rPr>
              <a:t> </a:t>
            </a:r>
            <a:r>
              <a:rPr lang="en-ID" sz="1400" b="0" i="0" dirty="0" err="1">
                <a:solidFill>
                  <a:srgbClr val="000000"/>
                </a:solidFill>
                <a:effectLst/>
                <a:latin typeface="Montserrat-FF"/>
              </a:rPr>
              <a:t>seluruh</a:t>
            </a:r>
            <a:r>
              <a:rPr lang="en-ID" sz="1400" b="0" i="0" dirty="0">
                <a:solidFill>
                  <a:srgbClr val="000000"/>
                </a:solidFill>
                <a:effectLst/>
                <a:latin typeface="Montserrat-FF"/>
              </a:rPr>
              <a:t> </a:t>
            </a:r>
            <a:r>
              <a:rPr lang="en-ID" sz="1400" b="0" i="0" dirty="0" err="1">
                <a:solidFill>
                  <a:srgbClr val="000000"/>
                </a:solidFill>
                <a:effectLst/>
                <a:latin typeface="Montserrat-FF"/>
              </a:rPr>
              <a:t>kamar</a:t>
            </a:r>
            <a:r>
              <a:rPr lang="en-ID" sz="1400" b="0" i="0" dirty="0">
                <a:solidFill>
                  <a:srgbClr val="000000"/>
                </a:solidFill>
                <a:effectLst/>
                <a:latin typeface="Montserrat-FF"/>
              </a:rPr>
              <a:t> di hotel </a:t>
            </a:r>
            <a:r>
              <a:rPr lang="en-ID" sz="1400" b="0" i="0" dirty="0" err="1">
                <a:solidFill>
                  <a:srgbClr val="000000"/>
                </a:solidFill>
                <a:effectLst/>
                <a:latin typeface="Montserrat-FF"/>
              </a:rPr>
              <a:t>telah</a:t>
            </a:r>
            <a:r>
              <a:rPr lang="en-ID" sz="1400" b="0" i="0" dirty="0">
                <a:solidFill>
                  <a:srgbClr val="000000"/>
                </a:solidFill>
                <a:effectLst/>
                <a:latin typeface="Montserrat-FF"/>
              </a:rPr>
              <a:t> </a:t>
            </a:r>
            <a:r>
              <a:rPr lang="en-ID" sz="1400" b="0" i="0" dirty="0" err="1">
                <a:solidFill>
                  <a:srgbClr val="000000"/>
                </a:solidFill>
                <a:effectLst/>
                <a:latin typeface="Montserrat-FF"/>
              </a:rPr>
              <a:t>dilengkapi</a:t>
            </a:r>
            <a:r>
              <a:rPr lang="en-ID" sz="1400" b="0" i="0" dirty="0">
                <a:solidFill>
                  <a:srgbClr val="000000"/>
                </a:solidFill>
                <a:effectLst/>
                <a:latin typeface="Montserrat-FF"/>
              </a:rPr>
              <a:t> </a:t>
            </a:r>
            <a:r>
              <a:rPr lang="en-ID" sz="1400" b="0" i="0" dirty="0" err="1">
                <a:solidFill>
                  <a:srgbClr val="000000"/>
                </a:solidFill>
                <a:effectLst/>
                <a:latin typeface="Montserrat-FF"/>
              </a:rPr>
              <a:t>dengan</a:t>
            </a:r>
            <a:r>
              <a:rPr lang="en-ID" sz="1400" b="0" i="0" dirty="0">
                <a:solidFill>
                  <a:srgbClr val="000000"/>
                </a:solidFill>
                <a:effectLst/>
                <a:latin typeface="Montserrat-FF"/>
              </a:rPr>
              <a:t> </a:t>
            </a:r>
            <a:r>
              <a:rPr lang="en-ID" sz="1400" b="0" i="0" dirty="0" err="1">
                <a:solidFill>
                  <a:srgbClr val="000000"/>
                </a:solidFill>
                <a:effectLst/>
                <a:latin typeface="Montserrat-FF"/>
              </a:rPr>
              <a:t>handuk</a:t>
            </a:r>
            <a:r>
              <a:rPr lang="en-ID" sz="1400" b="0" i="0" dirty="0">
                <a:solidFill>
                  <a:srgbClr val="000000"/>
                </a:solidFill>
                <a:effectLst/>
                <a:latin typeface="Montserrat-FF"/>
              </a:rPr>
              <a:t>, </a:t>
            </a:r>
            <a:r>
              <a:rPr lang="en-ID" sz="1400" b="0" i="0" dirty="0" err="1">
                <a:solidFill>
                  <a:srgbClr val="000000"/>
                </a:solidFill>
                <a:effectLst/>
                <a:latin typeface="Montserrat-FF"/>
              </a:rPr>
              <a:t>sarung</a:t>
            </a:r>
            <a:r>
              <a:rPr lang="en-ID" sz="1400" b="0" i="0" dirty="0">
                <a:solidFill>
                  <a:srgbClr val="000000"/>
                </a:solidFill>
                <a:effectLst/>
                <a:latin typeface="Montserrat-FF"/>
              </a:rPr>
              <a:t> </a:t>
            </a:r>
            <a:r>
              <a:rPr lang="en-ID" sz="1400" b="0" i="0" dirty="0" err="1">
                <a:solidFill>
                  <a:srgbClr val="000000"/>
                </a:solidFill>
                <a:effectLst/>
                <a:latin typeface="Montserrat-FF"/>
              </a:rPr>
              <a:t>bantal</a:t>
            </a:r>
            <a:r>
              <a:rPr lang="en-ID" sz="1400" b="0" i="0" dirty="0">
                <a:solidFill>
                  <a:srgbClr val="000000"/>
                </a:solidFill>
                <a:effectLst/>
                <a:latin typeface="Montserrat-FF"/>
              </a:rPr>
              <a:t>, </a:t>
            </a:r>
            <a:r>
              <a:rPr lang="en-ID" sz="1400" b="0" i="0" dirty="0" err="1">
                <a:solidFill>
                  <a:srgbClr val="000000"/>
                </a:solidFill>
                <a:effectLst/>
                <a:latin typeface="Montserrat-FF"/>
              </a:rPr>
              <a:t>serta</a:t>
            </a:r>
            <a:r>
              <a:rPr lang="en-ID" sz="1400" b="0" i="0" dirty="0">
                <a:solidFill>
                  <a:srgbClr val="000000"/>
                </a:solidFill>
                <a:effectLst/>
                <a:latin typeface="Montserrat-FF"/>
              </a:rPr>
              <a:t> </a:t>
            </a:r>
            <a:r>
              <a:rPr lang="en-ID" sz="1400" b="0" i="0" dirty="0" err="1">
                <a:solidFill>
                  <a:srgbClr val="000000"/>
                </a:solidFill>
                <a:effectLst/>
                <a:latin typeface="Montserrat-FF"/>
              </a:rPr>
              <a:t>sprei</a:t>
            </a:r>
            <a:r>
              <a:rPr lang="en-ID" sz="1400" b="0" i="0" dirty="0">
                <a:solidFill>
                  <a:srgbClr val="000000"/>
                </a:solidFill>
                <a:effectLst/>
                <a:latin typeface="Montserrat-FF"/>
              </a:rPr>
              <a:t> </a:t>
            </a:r>
            <a:r>
              <a:rPr lang="en-ID" sz="1400" b="0" i="0" dirty="0" err="1">
                <a:solidFill>
                  <a:srgbClr val="000000"/>
                </a:solidFill>
                <a:effectLst/>
                <a:latin typeface="Montserrat-FF"/>
              </a:rPr>
              <a:t>dalam</a:t>
            </a:r>
            <a:r>
              <a:rPr lang="en-ID" sz="1400" b="0" i="0" dirty="0">
                <a:solidFill>
                  <a:srgbClr val="000000"/>
                </a:solidFill>
                <a:effectLst/>
                <a:latin typeface="Montserrat-FF"/>
              </a:rPr>
              <a:t> </a:t>
            </a:r>
            <a:r>
              <a:rPr lang="en-ID" sz="1400" b="0" i="0" dirty="0" err="1">
                <a:solidFill>
                  <a:srgbClr val="000000"/>
                </a:solidFill>
                <a:effectLst/>
                <a:latin typeface="Montserrat-FF"/>
              </a:rPr>
              <a:t>keadaan</a:t>
            </a:r>
            <a:r>
              <a:rPr lang="en-ID" sz="1400" b="0" i="0" dirty="0">
                <a:solidFill>
                  <a:srgbClr val="000000"/>
                </a:solidFill>
                <a:effectLst/>
                <a:latin typeface="Montserrat-FF"/>
              </a:rPr>
              <a:t> </a:t>
            </a:r>
            <a:r>
              <a:rPr lang="en-ID" sz="1400" b="0" i="0" dirty="0" err="1">
                <a:solidFill>
                  <a:srgbClr val="000000"/>
                </a:solidFill>
                <a:effectLst/>
                <a:latin typeface="Montserrat-FF"/>
              </a:rPr>
              <a:t>bersih</a:t>
            </a:r>
            <a:r>
              <a:rPr lang="en-ID" sz="1400" b="0" i="0" dirty="0">
                <a:solidFill>
                  <a:srgbClr val="000000"/>
                </a:solidFill>
                <a:effectLst/>
                <a:latin typeface="Montserrat-FF"/>
              </a:rPr>
              <a:t> dan </a:t>
            </a:r>
            <a:r>
              <a:rPr lang="en-ID" sz="1400" b="0" i="0" dirty="0" err="1">
                <a:solidFill>
                  <a:srgbClr val="000000"/>
                </a:solidFill>
                <a:effectLst/>
                <a:latin typeface="Montserrat-FF"/>
              </a:rPr>
              <a:t>wangi</a:t>
            </a:r>
            <a:br>
              <a:rPr lang="en-ID" sz="1400" dirty="0"/>
            </a:br>
            <a:br>
              <a:rPr lang="en-ID" sz="1600" dirty="0"/>
            </a:br>
            <a:endParaRPr lang="en-ID" sz="1600" dirty="0"/>
          </a:p>
        </p:txBody>
      </p:sp>
    </p:spTree>
    <p:extLst>
      <p:ext uri="{BB962C8B-B14F-4D97-AF65-F5344CB8AC3E}">
        <p14:creationId xmlns:p14="http://schemas.microsoft.com/office/powerpoint/2010/main" val="22021543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D7FE23-CEA3-4884-8BE0-2862498E31F6}"/>
              </a:ext>
            </a:extLst>
          </p:cNvPr>
          <p:cNvSpPr txBox="1"/>
          <p:nvPr/>
        </p:nvSpPr>
        <p:spPr>
          <a:xfrm>
            <a:off x="914400" y="304801"/>
            <a:ext cx="7315200" cy="3416320"/>
          </a:xfrm>
          <a:prstGeom prst="rect">
            <a:avLst/>
          </a:prstGeom>
          <a:noFill/>
        </p:spPr>
        <p:txBody>
          <a:bodyPr wrap="square">
            <a:spAutoFit/>
          </a:bodyPr>
          <a:lstStyle/>
          <a:p>
            <a:r>
              <a:rPr lang="en-ID" b="1" i="0" dirty="0">
                <a:solidFill>
                  <a:srgbClr val="000000"/>
                </a:solidFill>
                <a:effectLst/>
                <a:latin typeface="Montserrat-FF"/>
              </a:rPr>
              <a:t>5. Florist dan Gardener</a:t>
            </a:r>
            <a:br>
              <a:rPr lang="en-ID" dirty="0"/>
            </a:br>
            <a:r>
              <a:rPr lang="en-ID" dirty="0" err="1">
                <a:solidFill>
                  <a:srgbClr val="000000"/>
                </a:solidFill>
                <a:latin typeface="Montserrat-FF"/>
              </a:rPr>
              <a:t>M</a:t>
            </a:r>
            <a:r>
              <a:rPr lang="en-ID" b="0" i="0" dirty="0" err="1">
                <a:solidFill>
                  <a:srgbClr val="000000"/>
                </a:solidFill>
                <a:effectLst/>
                <a:latin typeface="Montserrat-FF"/>
              </a:rPr>
              <a:t>enjaga</a:t>
            </a:r>
            <a:r>
              <a:rPr lang="en-ID" b="0" i="0" dirty="0">
                <a:solidFill>
                  <a:srgbClr val="000000"/>
                </a:solidFill>
                <a:effectLst/>
                <a:latin typeface="Montserrat-FF"/>
              </a:rPr>
              <a:t> dan </a:t>
            </a:r>
            <a:r>
              <a:rPr lang="en-ID" b="0" i="0" dirty="0" err="1">
                <a:solidFill>
                  <a:srgbClr val="000000"/>
                </a:solidFill>
                <a:effectLst/>
                <a:latin typeface="Montserrat-FF"/>
              </a:rPr>
              <a:t>merawat</a:t>
            </a:r>
            <a:r>
              <a:rPr lang="en-ID" b="0" i="0" dirty="0">
                <a:solidFill>
                  <a:srgbClr val="000000"/>
                </a:solidFill>
                <a:effectLst/>
                <a:latin typeface="Montserrat-FF"/>
              </a:rPr>
              <a:t> </a:t>
            </a:r>
            <a:r>
              <a:rPr lang="en-ID" b="0" i="0" dirty="0" err="1">
                <a:solidFill>
                  <a:srgbClr val="000000"/>
                </a:solidFill>
                <a:effectLst/>
                <a:latin typeface="Montserrat-FF"/>
              </a:rPr>
              <a:t>taman-taman</a:t>
            </a:r>
            <a:r>
              <a:rPr lang="en-ID" b="0" i="0" dirty="0">
                <a:solidFill>
                  <a:srgbClr val="000000"/>
                </a:solidFill>
                <a:effectLst/>
                <a:latin typeface="Montserrat-FF"/>
              </a:rPr>
              <a:t> yang </a:t>
            </a:r>
            <a:r>
              <a:rPr lang="en-ID" b="0" i="0" dirty="0" err="1">
                <a:solidFill>
                  <a:srgbClr val="000000"/>
                </a:solidFill>
                <a:effectLst/>
                <a:latin typeface="Montserrat-FF"/>
              </a:rPr>
              <a:t>ada</a:t>
            </a:r>
            <a:r>
              <a:rPr lang="en-ID" b="0" i="0" dirty="0">
                <a:solidFill>
                  <a:srgbClr val="000000"/>
                </a:solidFill>
                <a:effectLst/>
                <a:latin typeface="Montserrat-FF"/>
              </a:rPr>
              <a:t> di hotel. Di </a:t>
            </a:r>
            <a:r>
              <a:rPr lang="en-ID" b="0" i="0" dirty="0" err="1">
                <a:solidFill>
                  <a:srgbClr val="000000"/>
                </a:solidFill>
                <a:effectLst/>
                <a:latin typeface="Montserrat-FF"/>
              </a:rPr>
              <a:t>sini</a:t>
            </a:r>
            <a:r>
              <a:rPr lang="en-ID" b="0" i="0" dirty="0">
                <a:solidFill>
                  <a:srgbClr val="000000"/>
                </a:solidFill>
                <a:effectLst/>
                <a:latin typeface="Montserrat-FF"/>
              </a:rPr>
              <a:t> </a:t>
            </a:r>
            <a:r>
              <a:rPr lang="en-ID" b="0" i="0" dirty="0" err="1">
                <a:solidFill>
                  <a:srgbClr val="000000"/>
                </a:solidFill>
                <a:effectLst/>
                <a:latin typeface="Montserrat-FF"/>
              </a:rPr>
              <a:t>peran</a:t>
            </a:r>
            <a:r>
              <a:rPr lang="en-ID" b="0" i="0" dirty="0">
                <a:solidFill>
                  <a:srgbClr val="000000"/>
                </a:solidFill>
                <a:effectLst/>
                <a:latin typeface="Montserrat-FF"/>
              </a:rPr>
              <a:t> florist dan gardener </a:t>
            </a:r>
            <a:r>
              <a:rPr lang="en-ID" b="0" i="0" dirty="0" err="1">
                <a:solidFill>
                  <a:srgbClr val="000000"/>
                </a:solidFill>
                <a:effectLst/>
                <a:latin typeface="Montserrat-FF"/>
              </a:rPr>
              <a:t>terbagi</a:t>
            </a:r>
            <a:r>
              <a:rPr lang="en-ID" b="0" i="0" dirty="0">
                <a:solidFill>
                  <a:srgbClr val="000000"/>
                </a:solidFill>
                <a:effectLst/>
                <a:latin typeface="Montserrat-FF"/>
              </a:rPr>
              <a:t> </a:t>
            </a:r>
            <a:r>
              <a:rPr lang="en-ID" b="0" i="0" dirty="0" err="1">
                <a:solidFill>
                  <a:srgbClr val="000000"/>
                </a:solidFill>
                <a:effectLst/>
                <a:latin typeface="Montserrat-FF"/>
              </a:rPr>
              <a:t>menjadi</a:t>
            </a:r>
            <a:r>
              <a:rPr lang="en-ID" b="0" i="0" dirty="0">
                <a:solidFill>
                  <a:srgbClr val="000000"/>
                </a:solidFill>
                <a:effectLst/>
                <a:latin typeface="Montserrat-FF"/>
              </a:rPr>
              <a:t> </a:t>
            </a:r>
            <a:r>
              <a:rPr lang="en-ID" b="0" i="0" dirty="0" err="1">
                <a:solidFill>
                  <a:srgbClr val="000000"/>
                </a:solidFill>
                <a:effectLst/>
                <a:latin typeface="Montserrat-FF"/>
              </a:rPr>
              <a:t>dua</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florist </a:t>
            </a:r>
            <a:r>
              <a:rPr lang="en-ID" b="0" i="0" dirty="0" err="1">
                <a:solidFill>
                  <a:srgbClr val="000000"/>
                </a:solidFill>
                <a:effectLst/>
                <a:latin typeface="Montserrat-FF"/>
              </a:rPr>
              <a:t>bertugas</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merawat</a:t>
            </a:r>
            <a:r>
              <a:rPr lang="en-ID" b="0" i="0" dirty="0">
                <a:solidFill>
                  <a:srgbClr val="000000"/>
                </a:solidFill>
                <a:effectLst/>
                <a:latin typeface="Montserrat-FF"/>
              </a:rPr>
              <a:t> </a:t>
            </a:r>
            <a:r>
              <a:rPr lang="en-ID" b="0" i="0" dirty="0" err="1">
                <a:solidFill>
                  <a:srgbClr val="000000"/>
                </a:solidFill>
                <a:effectLst/>
                <a:latin typeface="Montserrat-FF"/>
              </a:rPr>
              <a:t>bunga-bunga</a:t>
            </a:r>
            <a:r>
              <a:rPr lang="en-ID" b="0" i="0" dirty="0">
                <a:solidFill>
                  <a:srgbClr val="000000"/>
                </a:solidFill>
                <a:effectLst/>
                <a:latin typeface="Montserrat-FF"/>
              </a:rPr>
              <a:t> yang </a:t>
            </a:r>
            <a:r>
              <a:rPr lang="en-ID" b="0" i="0" dirty="0" err="1">
                <a:solidFill>
                  <a:srgbClr val="000000"/>
                </a:solidFill>
                <a:effectLst/>
                <a:latin typeface="Montserrat-FF"/>
              </a:rPr>
              <a:t>ada</a:t>
            </a:r>
            <a:r>
              <a:rPr lang="en-ID" b="0" i="0" dirty="0">
                <a:solidFill>
                  <a:srgbClr val="000000"/>
                </a:solidFill>
                <a:effectLst/>
                <a:latin typeface="Montserrat-FF"/>
              </a:rPr>
              <a:t> di lobby dan </a:t>
            </a:r>
            <a:r>
              <a:rPr lang="en-ID" b="0" i="0" dirty="0" err="1">
                <a:solidFill>
                  <a:srgbClr val="000000"/>
                </a:solidFill>
                <a:effectLst/>
                <a:latin typeface="Montserrat-FF"/>
              </a:rPr>
              <a:t>lorong</a:t>
            </a:r>
            <a:r>
              <a:rPr lang="en-ID" b="0" i="0" dirty="0">
                <a:solidFill>
                  <a:srgbClr val="000000"/>
                </a:solidFill>
                <a:effectLst/>
                <a:latin typeface="Montserrat-FF"/>
              </a:rPr>
              <a:t> hotel. </a:t>
            </a:r>
            <a:r>
              <a:rPr lang="en-ID" b="0" i="0" dirty="0" err="1">
                <a:solidFill>
                  <a:srgbClr val="000000"/>
                </a:solidFill>
                <a:effectLst/>
                <a:latin typeface="Montserrat-FF"/>
              </a:rPr>
              <a:t>Sementara</a:t>
            </a:r>
            <a:r>
              <a:rPr lang="en-ID" b="0" i="0" dirty="0">
                <a:solidFill>
                  <a:srgbClr val="000000"/>
                </a:solidFill>
                <a:effectLst/>
                <a:latin typeface="Montserrat-FF"/>
              </a:rPr>
              <a:t> gardener, </a:t>
            </a:r>
            <a:r>
              <a:rPr lang="en-ID" b="0" i="0" dirty="0" err="1">
                <a:solidFill>
                  <a:srgbClr val="000000"/>
                </a:solidFill>
                <a:effectLst/>
                <a:latin typeface="Montserrat-FF"/>
              </a:rPr>
              <a:t>bertugas</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menjaga</a:t>
            </a:r>
            <a:r>
              <a:rPr lang="en-ID" b="0" i="0" dirty="0">
                <a:solidFill>
                  <a:srgbClr val="000000"/>
                </a:solidFill>
                <a:effectLst/>
                <a:latin typeface="Montserrat-FF"/>
              </a:rPr>
              <a:t> area </a:t>
            </a:r>
            <a:r>
              <a:rPr lang="en-ID" b="0" i="0" dirty="0" err="1">
                <a:solidFill>
                  <a:srgbClr val="000000"/>
                </a:solidFill>
                <a:effectLst/>
                <a:latin typeface="Montserrat-FF"/>
              </a:rPr>
              <a:t>taman</a:t>
            </a:r>
            <a:r>
              <a:rPr lang="en-ID" b="0" i="0" dirty="0">
                <a:solidFill>
                  <a:srgbClr val="000000"/>
                </a:solidFill>
                <a:effectLst/>
                <a:latin typeface="Montserrat-FF"/>
              </a:rPr>
              <a:t> di outdoor agar </a:t>
            </a:r>
            <a:r>
              <a:rPr lang="en-ID" b="0" i="0" dirty="0" err="1">
                <a:solidFill>
                  <a:srgbClr val="000000"/>
                </a:solidFill>
                <a:effectLst/>
                <a:latin typeface="Montserrat-FF"/>
              </a:rPr>
              <a:t>tetap</a:t>
            </a:r>
            <a:r>
              <a:rPr lang="en-ID" b="0" i="0" dirty="0">
                <a:solidFill>
                  <a:srgbClr val="000000"/>
                </a:solidFill>
                <a:effectLst/>
                <a:latin typeface="Montserrat-FF"/>
              </a:rPr>
              <a:t> </a:t>
            </a:r>
            <a:r>
              <a:rPr lang="en-ID" b="0" i="0" dirty="0" err="1">
                <a:solidFill>
                  <a:srgbClr val="000000"/>
                </a:solidFill>
                <a:effectLst/>
                <a:latin typeface="Montserrat-FF"/>
              </a:rPr>
              <a:t>indah</a:t>
            </a:r>
            <a:r>
              <a:rPr lang="en-ID" b="0" i="0" dirty="0">
                <a:solidFill>
                  <a:srgbClr val="000000"/>
                </a:solidFill>
                <a:effectLst/>
                <a:latin typeface="Montserrat-FF"/>
              </a:rPr>
              <a:t>.</a:t>
            </a:r>
            <a:br>
              <a:rPr lang="en-ID" dirty="0"/>
            </a:br>
            <a:br>
              <a:rPr lang="en-ID" dirty="0"/>
            </a:br>
            <a:r>
              <a:rPr lang="en-ID" b="1" i="0" dirty="0">
                <a:solidFill>
                  <a:srgbClr val="000000"/>
                </a:solidFill>
                <a:effectLst/>
                <a:latin typeface="Montserrat-FF"/>
              </a:rPr>
              <a:t>6. Houseman dan Housemaid</a:t>
            </a:r>
            <a:br>
              <a:rPr lang="en-ID" dirty="0"/>
            </a:br>
            <a:r>
              <a:rPr lang="en-ID" dirty="0" err="1">
                <a:solidFill>
                  <a:srgbClr val="000000"/>
                </a:solidFill>
                <a:latin typeface="Montserrat-FF"/>
              </a:rPr>
              <a:t>B</a:t>
            </a:r>
            <a:r>
              <a:rPr lang="en-ID" b="0" i="0" dirty="0" err="1">
                <a:solidFill>
                  <a:srgbClr val="000000"/>
                </a:solidFill>
                <a:effectLst/>
                <a:latin typeface="Montserrat-FF"/>
              </a:rPr>
              <a:t>erperan</a:t>
            </a:r>
            <a:r>
              <a:rPr lang="en-ID" b="0" i="0" dirty="0">
                <a:solidFill>
                  <a:srgbClr val="000000"/>
                </a:solidFill>
                <a:effectLst/>
                <a:latin typeface="Montserrat-FF"/>
              </a:rPr>
              <a:t> </a:t>
            </a:r>
            <a:r>
              <a:rPr lang="en-ID" b="0" i="0" dirty="0" err="1">
                <a:solidFill>
                  <a:srgbClr val="000000"/>
                </a:solidFill>
                <a:effectLst/>
                <a:latin typeface="Montserrat-FF"/>
              </a:rPr>
              <a:t>dalam</a:t>
            </a:r>
            <a:r>
              <a:rPr lang="en-ID" b="0" i="0" dirty="0">
                <a:solidFill>
                  <a:srgbClr val="000000"/>
                </a:solidFill>
                <a:effectLst/>
                <a:latin typeface="Montserrat-FF"/>
              </a:rPr>
              <a:t> </a:t>
            </a:r>
            <a:r>
              <a:rPr lang="en-ID" b="0" i="0" dirty="0" err="1">
                <a:solidFill>
                  <a:srgbClr val="000000"/>
                </a:solidFill>
                <a:effectLst/>
                <a:latin typeface="Montserrat-FF"/>
              </a:rPr>
              <a:t>menjaga</a:t>
            </a:r>
            <a:r>
              <a:rPr lang="en-ID" b="0" i="0" dirty="0">
                <a:solidFill>
                  <a:srgbClr val="000000"/>
                </a:solidFill>
                <a:effectLst/>
                <a:latin typeface="Montserrat-FF"/>
              </a:rPr>
              <a:t> </a:t>
            </a:r>
            <a:r>
              <a:rPr lang="en-ID" b="0" i="0" dirty="0" err="1">
                <a:solidFill>
                  <a:srgbClr val="000000"/>
                </a:solidFill>
                <a:effectLst/>
                <a:latin typeface="Montserrat-FF"/>
              </a:rPr>
              <a:t>kebersihan</a:t>
            </a:r>
            <a:r>
              <a:rPr lang="en-ID" b="0" i="0" dirty="0">
                <a:solidFill>
                  <a:srgbClr val="000000"/>
                </a:solidFill>
                <a:effectLst/>
                <a:latin typeface="Montserrat-FF"/>
              </a:rPr>
              <a:t> </a:t>
            </a:r>
            <a:r>
              <a:rPr lang="en-ID" b="0" i="0" dirty="0" err="1">
                <a:solidFill>
                  <a:srgbClr val="000000"/>
                </a:solidFill>
                <a:effectLst/>
                <a:latin typeface="Montserrat-FF"/>
              </a:rPr>
              <a:t>sekaligus</a:t>
            </a:r>
            <a:r>
              <a:rPr lang="en-ID" b="0" i="0" dirty="0">
                <a:solidFill>
                  <a:srgbClr val="000000"/>
                </a:solidFill>
                <a:effectLst/>
                <a:latin typeface="Montserrat-FF"/>
              </a:rPr>
              <a:t> </a:t>
            </a:r>
            <a:r>
              <a:rPr lang="en-ID" b="0" i="0" dirty="0" err="1">
                <a:solidFill>
                  <a:srgbClr val="000000"/>
                </a:solidFill>
                <a:effectLst/>
                <a:latin typeface="Montserrat-FF"/>
              </a:rPr>
              <a:t>mengecek</a:t>
            </a:r>
            <a:r>
              <a:rPr lang="en-ID" b="0" i="0" dirty="0">
                <a:solidFill>
                  <a:srgbClr val="000000"/>
                </a:solidFill>
                <a:effectLst/>
                <a:latin typeface="Montserrat-FF"/>
              </a:rPr>
              <a:t> </a:t>
            </a:r>
            <a:r>
              <a:rPr lang="en-ID" b="0" i="0" dirty="0" err="1">
                <a:solidFill>
                  <a:srgbClr val="000000"/>
                </a:solidFill>
                <a:effectLst/>
                <a:latin typeface="Montserrat-FF"/>
              </a:rPr>
              <a:t>persediaan</a:t>
            </a:r>
            <a:r>
              <a:rPr lang="en-ID" b="0" i="0" dirty="0">
                <a:solidFill>
                  <a:srgbClr val="000000"/>
                </a:solidFill>
                <a:effectLst/>
                <a:latin typeface="Montserrat-FF"/>
              </a:rPr>
              <a:t> </a:t>
            </a:r>
            <a:r>
              <a:rPr lang="en-ID" b="0" i="0" dirty="0" err="1">
                <a:solidFill>
                  <a:srgbClr val="000000"/>
                </a:solidFill>
                <a:effectLst/>
                <a:latin typeface="Montserrat-FF"/>
              </a:rPr>
              <a:t>alat-alat</a:t>
            </a:r>
            <a:r>
              <a:rPr lang="en-ID" b="0" i="0" dirty="0">
                <a:solidFill>
                  <a:srgbClr val="000000"/>
                </a:solidFill>
                <a:effectLst/>
                <a:latin typeface="Montserrat-FF"/>
              </a:rPr>
              <a:t> di hotel. Jadi, </a:t>
            </a:r>
            <a:r>
              <a:rPr lang="en-ID" b="0" i="0" dirty="0" err="1">
                <a:solidFill>
                  <a:srgbClr val="000000"/>
                </a:solidFill>
                <a:effectLst/>
                <a:latin typeface="Montserrat-FF"/>
              </a:rPr>
              <a:t>seluruh</a:t>
            </a:r>
            <a:r>
              <a:rPr lang="en-ID" b="0" i="0" dirty="0">
                <a:solidFill>
                  <a:srgbClr val="000000"/>
                </a:solidFill>
                <a:effectLst/>
                <a:latin typeface="Montserrat-FF"/>
              </a:rPr>
              <a:t> </a:t>
            </a:r>
            <a:r>
              <a:rPr lang="en-ID" b="0" i="0" dirty="0" err="1">
                <a:solidFill>
                  <a:srgbClr val="000000"/>
                </a:solidFill>
                <a:effectLst/>
                <a:latin typeface="Montserrat-FF"/>
              </a:rPr>
              <a:t>inventaris</a:t>
            </a:r>
            <a:r>
              <a:rPr lang="en-ID" b="0" i="0" dirty="0">
                <a:solidFill>
                  <a:srgbClr val="000000"/>
                </a:solidFill>
                <a:effectLst/>
                <a:latin typeface="Montserrat-FF"/>
              </a:rPr>
              <a:t> </a:t>
            </a:r>
            <a:r>
              <a:rPr lang="en-ID" b="0" i="0" dirty="0" err="1">
                <a:solidFill>
                  <a:srgbClr val="000000"/>
                </a:solidFill>
                <a:effectLst/>
                <a:latin typeface="Montserrat-FF"/>
              </a:rPr>
              <a:t>terjamin</a:t>
            </a:r>
            <a:r>
              <a:rPr lang="en-ID" b="0" i="0" dirty="0">
                <a:solidFill>
                  <a:srgbClr val="000000"/>
                </a:solidFill>
                <a:effectLst/>
                <a:latin typeface="Montserrat-FF"/>
              </a:rPr>
              <a:t> </a:t>
            </a:r>
            <a:r>
              <a:rPr lang="en-ID" b="0" i="0" dirty="0" err="1">
                <a:solidFill>
                  <a:srgbClr val="000000"/>
                </a:solidFill>
                <a:effectLst/>
                <a:latin typeface="Montserrat-FF"/>
              </a:rPr>
              <a:t>dengan</a:t>
            </a:r>
            <a:r>
              <a:rPr lang="en-ID" b="0" i="0" dirty="0">
                <a:solidFill>
                  <a:srgbClr val="000000"/>
                </a:solidFill>
                <a:effectLst/>
                <a:latin typeface="Montserrat-FF"/>
              </a:rPr>
              <a:t> </a:t>
            </a:r>
            <a:r>
              <a:rPr lang="en-ID" b="0" i="0" dirty="0" err="1">
                <a:solidFill>
                  <a:srgbClr val="000000"/>
                </a:solidFill>
                <a:effectLst/>
                <a:latin typeface="Montserrat-FF"/>
              </a:rPr>
              <a:t>baik</a:t>
            </a:r>
            <a:r>
              <a:rPr lang="en-ID" b="0" i="0" dirty="0">
                <a:solidFill>
                  <a:srgbClr val="000000"/>
                </a:solidFill>
                <a:effectLst/>
                <a:latin typeface="Montserrat-FF"/>
              </a:rPr>
              <a:t> dan </a:t>
            </a:r>
            <a:r>
              <a:rPr lang="en-ID" b="0" i="0" dirty="0" err="1">
                <a:solidFill>
                  <a:srgbClr val="000000"/>
                </a:solidFill>
                <a:effectLst/>
                <a:latin typeface="Montserrat-FF"/>
              </a:rPr>
              <a:t>aman</a:t>
            </a:r>
            <a:r>
              <a:rPr lang="en-ID" b="0" i="0" dirty="0">
                <a:solidFill>
                  <a:srgbClr val="000000"/>
                </a:solidFill>
                <a:effectLst/>
                <a:latin typeface="Montserrat-FF"/>
              </a:rPr>
              <a:t> </a:t>
            </a:r>
            <a:r>
              <a:rPr lang="en-ID" b="0" i="0" dirty="0" err="1">
                <a:solidFill>
                  <a:srgbClr val="000000"/>
                </a:solidFill>
                <a:effectLst/>
                <a:latin typeface="Montserrat-FF"/>
              </a:rPr>
              <a:t>saat</a:t>
            </a:r>
            <a:r>
              <a:rPr lang="en-ID" b="0" i="0" dirty="0">
                <a:solidFill>
                  <a:srgbClr val="000000"/>
                </a:solidFill>
                <a:effectLst/>
                <a:latin typeface="Montserrat-FF"/>
              </a:rPr>
              <a:t> </a:t>
            </a:r>
            <a:r>
              <a:rPr lang="en-ID" b="0" i="0" dirty="0" err="1">
                <a:solidFill>
                  <a:srgbClr val="000000"/>
                </a:solidFill>
                <a:effectLst/>
                <a:latin typeface="Montserrat-FF"/>
              </a:rPr>
              <a:t>digunakan</a:t>
            </a:r>
            <a:r>
              <a:rPr lang="en-ID" b="0" i="0" dirty="0">
                <a:solidFill>
                  <a:srgbClr val="000000"/>
                </a:solidFill>
                <a:effectLst/>
                <a:latin typeface="Montserrat-FF"/>
              </a:rPr>
              <a:t> oleh para </a:t>
            </a:r>
            <a:r>
              <a:rPr lang="en-ID" b="0" i="0" dirty="0" err="1">
                <a:solidFill>
                  <a:srgbClr val="000000"/>
                </a:solidFill>
                <a:effectLst/>
                <a:latin typeface="Montserrat-FF"/>
              </a:rPr>
              <a:t>tamu</a:t>
            </a:r>
            <a:r>
              <a:rPr lang="en-ID" b="0" i="0" dirty="0">
                <a:solidFill>
                  <a:srgbClr val="000000"/>
                </a:solidFill>
                <a:effectLst/>
                <a:latin typeface="Montserrat-FF"/>
              </a:rPr>
              <a:t>.</a:t>
            </a:r>
            <a:br>
              <a:rPr lang="en-ID" dirty="0"/>
            </a:br>
            <a:endParaRPr lang="en-ID" dirty="0"/>
          </a:p>
        </p:txBody>
      </p:sp>
    </p:spTree>
    <p:extLst>
      <p:ext uri="{BB962C8B-B14F-4D97-AF65-F5344CB8AC3E}">
        <p14:creationId xmlns:p14="http://schemas.microsoft.com/office/powerpoint/2010/main" val="2347334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453B2D-2101-43E6-A350-68A356CBF392}"/>
              </a:ext>
            </a:extLst>
          </p:cNvPr>
          <p:cNvSpPr txBox="1"/>
          <p:nvPr/>
        </p:nvSpPr>
        <p:spPr>
          <a:xfrm>
            <a:off x="1676400" y="168442"/>
            <a:ext cx="5791200" cy="738664"/>
          </a:xfrm>
          <a:prstGeom prst="rect">
            <a:avLst/>
          </a:prstGeom>
          <a:noFill/>
        </p:spPr>
        <p:txBody>
          <a:bodyPr wrap="square">
            <a:spAutoFit/>
          </a:bodyPr>
          <a:lstStyle/>
          <a:p>
            <a:r>
              <a:rPr lang="en-ID" sz="2400" b="1" i="1" dirty="0" err="1">
                <a:solidFill>
                  <a:srgbClr val="000000"/>
                </a:solidFill>
                <a:latin typeface="Montserrat-FF"/>
              </a:rPr>
              <a:t>Struktur</a:t>
            </a:r>
            <a:r>
              <a:rPr lang="en-ID" sz="2400" b="1" i="1" dirty="0">
                <a:solidFill>
                  <a:srgbClr val="000000"/>
                </a:solidFill>
                <a:latin typeface="Montserrat-FF"/>
              </a:rPr>
              <a:t> </a:t>
            </a:r>
            <a:r>
              <a:rPr lang="en-ID" sz="2400" b="1" i="1" dirty="0" err="1">
                <a:solidFill>
                  <a:srgbClr val="000000"/>
                </a:solidFill>
                <a:effectLst/>
                <a:latin typeface="Montserrat-FF"/>
              </a:rPr>
              <a:t>Organisasi</a:t>
            </a:r>
            <a:r>
              <a:rPr lang="en-ID" sz="2400" b="1" i="1" dirty="0">
                <a:solidFill>
                  <a:srgbClr val="000000"/>
                </a:solidFill>
                <a:effectLst/>
                <a:latin typeface="Montserrat-FF"/>
              </a:rPr>
              <a:t> Housekeeping</a:t>
            </a:r>
            <a:br>
              <a:rPr lang="en-ID" dirty="0"/>
            </a:br>
            <a:endParaRPr lang="en-ID" dirty="0"/>
          </a:p>
        </p:txBody>
      </p:sp>
      <p:sp>
        <p:nvSpPr>
          <p:cNvPr id="5" name="TextBox 4">
            <a:extLst>
              <a:ext uri="{FF2B5EF4-FFF2-40B4-BE49-F238E27FC236}">
                <a16:creationId xmlns:a16="http://schemas.microsoft.com/office/drawing/2014/main" id="{9B0D0AFF-414F-4133-BCAF-D8C594515EEC}"/>
              </a:ext>
            </a:extLst>
          </p:cNvPr>
          <p:cNvSpPr txBox="1"/>
          <p:nvPr/>
        </p:nvSpPr>
        <p:spPr>
          <a:xfrm>
            <a:off x="914400" y="762000"/>
            <a:ext cx="7696200" cy="5632311"/>
          </a:xfrm>
          <a:prstGeom prst="rect">
            <a:avLst/>
          </a:prstGeom>
          <a:noFill/>
        </p:spPr>
        <p:txBody>
          <a:bodyPr wrap="square">
            <a:spAutoFit/>
          </a:bodyPr>
          <a:lstStyle/>
          <a:p>
            <a:pPr marL="342900" indent="-342900">
              <a:buAutoNum type="arabicPeriod"/>
            </a:pPr>
            <a:r>
              <a:rPr lang="en-ID" b="1" i="0" dirty="0">
                <a:solidFill>
                  <a:srgbClr val="000000"/>
                </a:solidFill>
                <a:effectLst/>
                <a:latin typeface="Montserrat-FF"/>
              </a:rPr>
              <a:t>Executive Housekeeper</a:t>
            </a:r>
            <a:br>
              <a:rPr lang="en-ID" dirty="0"/>
            </a:br>
            <a:r>
              <a:rPr lang="en-ID" b="0" i="0" dirty="0">
                <a:solidFill>
                  <a:srgbClr val="000000"/>
                </a:solidFill>
                <a:effectLst/>
                <a:latin typeface="Montserrat-FF"/>
              </a:rPr>
              <a:t>Executive housekeeper </a:t>
            </a:r>
            <a:r>
              <a:rPr lang="en-ID" b="0" i="0" dirty="0" err="1">
                <a:solidFill>
                  <a:srgbClr val="000000"/>
                </a:solidFill>
                <a:effectLst/>
                <a:latin typeface="Montserrat-FF"/>
              </a:rPr>
              <a:t>atau</a:t>
            </a:r>
            <a:r>
              <a:rPr lang="en-ID" b="0" i="0" dirty="0">
                <a:solidFill>
                  <a:srgbClr val="000000"/>
                </a:solidFill>
                <a:effectLst/>
                <a:latin typeface="Montserrat-FF"/>
              </a:rPr>
              <a:t> juga </a:t>
            </a:r>
            <a:r>
              <a:rPr lang="en-ID" b="0" i="0" dirty="0" err="1">
                <a:solidFill>
                  <a:srgbClr val="000000"/>
                </a:solidFill>
                <a:effectLst/>
                <a:latin typeface="Montserrat-FF"/>
              </a:rPr>
              <a:t>disebut</a:t>
            </a:r>
            <a:r>
              <a:rPr lang="en-ID" b="0" i="0" dirty="0">
                <a:solidFill>
                  <a:srgbClr val="000000"/>
                </a:solidFill>
                <a:effectLst/>
                <a:latin typeface="Montserrat-FF"/>
              </a:rPr>
              <a:t> </a:t>
            </a:r>
            <a:r>
              <a:rPr lang="en-ID" b="0" i="0" dirty="0" err="1">
                <a:solidFill>
                  <a:srgbClr val="000000"/>
                </a:solidFill>
                <a:effectLst/>
                <a:latin typeface="Montserrat-FF"/>
              </a:rPr>
              <a:t>manajer</a:t>
            </a:r>
            <a:r>
              <a:rPr lang="en-ID" b="0" i="0" dirty="0">
                <a:solidFill>
                  <a:srgbClr val="000000"/>
                </a:solidFill>
                <a:effectLst/>
                <a:latin typeface="Montserrat-FF"/>
              </a:rPr>
              <a:t> </a:t>
            </a:r>
            <a:r>
              <a:rPr lang="en-ID" b="0" i="0" dirty="0" err="1">
                <a:solidFill>
                  <a:srgbClr val="000000"/>
                </a:solidFill>
                <a:effectLst/>
                <a:latin typeface="Montserrat-FF"/>
              </a:rPr>
              <a:t>merupakan</a:t>
            </a:r>
            <a:r>
              <a:rPr lang="en-ID" b="0" i="0" dirty="0">
                <a:solidFill>
                  <a:srgbClr val="000000"/>
                </a:solidFill>
                <a:effectLst/>
                <a:latin typeface="Montserrat-FF"/>
              </a:rPr>
              <a:t> </a:t>
            </a:r>
            <a:r>
              <a:rPr lang="en-ID" b="0" i="0" dirty="0" err="1">
                <a:solidFill>
                  <a:srgbClr val="000000"/>
                </a:solidFill>
                <a:effectLst/>
                <a:latin typeface="Montserrat-FF"/>
              </a:rPr>
              <a:t>seorang</a:t>
            </a:r>
            <a:r>
              <a:rPr lang="en-ID" b="0" i="0" dirty="0">
                <a:solidFill>
                  <a:srgbClr val="000000"/>
                </a:solidFill>
                <a:effectLst/>
                <a:latin typeface="Montserrat-FF"/>
              </a:rPr>
              <a:t> </a:t>
            </a:r>
            <a:r>
              <a:rPr lang="en-ID" b="0" i="0" dirty="0" err="1">
                <a:solidFill>
                  <a:srgbClr val="000000"/>
                </a:solidFill>
                <a:effectLst/>
                <a:latin typeface="Montserrat-FF"/>
              </a:rPr>
              <a:t>pemimpin</a:t>
            </a:r>
            <a:r>
              <a:rPr lang="en-ID" b="0" i="0" dirty="0">
                <a:solidFill>
                  <a:srgbClr val="000000"/>
                </a:solidFill>
                <a:effectLst/>
                <a:latin typeface="Montserrat-FF"/>
              </a:rPr>
              <a:t> paling </a:t>
            </a:r>
            <a:r>
              <a:rPr lang="en-ID" b="0" i="0" dirty="0" err="1">
                <a:solidFill>
                  <a:srgbClr val="000000"/>
                </a:solidFill>
                <a:effectLst/>
                <a:latin typeface="Montserrat-FF"/>
              </a:rPr>
              <a:t>atas</a:t>
            </a:r>
            <a:r>
              <a:rPr lang="en-ID" b="0" i="0" dirty="0">
                <a:solidFill>
                  <a:srgbClr val="000000"/>
                </a:solidFill>
                <a:effectLst/>
                <a:latin typeface="Montserrat-FF"/>
              </a:rPr>
              <a:t> </a:t>
            </a:r>
            <a:r>
              <a:rPr lang="en-ID" b="0" i="0" dirty="0" err="1">
                <a:solidFill>
                  <a:srgbClr val="000000"/>
                </a:solidFill>
                <a:effectLst/>
                <a:latin typeface="Montserrat-FF"/>
              </a:rPr>
              <a:t>dalam</a:t>
            </a:r>
            <a:r>
              <a:rPr lang="en-ID" b="0" i="0" dirty="0">
                <a:solidFill>
                  <a:srgbClr val="000000"/>
                </a:solidFill>
                <a:effectLst/>
                <a:latin typeface="Montserrat-FF"/>
              </a:rPr>
              <a:t> </a:t>
            </a:r>
            <a:r>
              <a:rPr lang="en-ID" b="0" i="0" dirty="0" err="1">
                <a:solidFill>
                  <a:srgbClr val="000000"/>
                </a:solidFill>
                <a:effectLst/>
                <a:latin typeface="Montserrat-FF"/>
              </a:rPr>
              <a:t>struktur</a:t>
            </a:r>
            <a:r>
              <a:rPr lang="en-ID" b="0" i="0" dirty="0">
                <a:solidFill>
                  <a:srgbClr val="000000"/>
                </a:solidFill>
                <a:effectLst/>
                <a:latin typeface="Montserrat-FF"/>
              </a:rPr>
              <a:t> </a:t>
            </a:r>
            <a:r>
              <a:rPr lang="en-ID" b="0" i="0" dirty="0" err="1">
                <a:solidFill>
                  <a:srgbClr val="000000"/>
                </a:solidFill>
                <a:effectLst/>
                <a:latin typeface="Montserrat-FF"/>
              </a:rPr>
              <a:t>organisasi</a:t>
            </a:r>
            <a:r>
              <a:rPr lang="en-ID" b="0" i="0" dirty="0">
                <a:solidFill>
                  <a:srgbClr val="000000"/>
                </a:solidFill>
                <a:effectLst/>
                <a:latin typeface="Montserrat-FF"/>
              </a:rPr>
              <a:t> housekeeping</a:t>
            </a:r>
            <a:r>
              <a:rPr lang="en-ID" dirty="0">
                <a:solidFill>
                  <a:srgbClr val="000000"/>
                </a:solidFill>
                <a:latin typeface="Montserrat-FF"/>
              </a:rPr>
              <a:t> dan </a:t>
            </a:r>
            <a:r>
              <a:rPr lang="en-ID" dirty="0" err="1">
                <a:solidFill>
                  <a:srgbClr val="000000"/>
                </a:solidFill>
                <a:latin typeface="Montserrat-FF"/>
              </a:rPr>
              <a:t>ber</a:t>
            </a:r>
            <a:r>
              <a:rPr lang="en-ID" b="0" i="0" dirty="0" err="1">
                <a:solidFill>
                  <a:srgbClr val="000000"/>
                </a:solidFill>
                <a:effectLst/>
                <a:latin typeface="Montserrat-FF"/>
              </a:rPr>
              <a:t>tugas</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mengkoordinasi</a:t>
            </a:r>
            <a:r>
              <a:rPr lang="en-ID" b="0" i="0" dirty="0">
                <a:solidFill>
                  <a:srgbClr val="000000"/>
                </a:solidFill>
                <a:effectLst/>
                <a:latin typeface="Montserrat-FF"/>
              </a:rPr>
              <a:t> </a:t>
            </a:r>
            <a:r>
              <a:rPr lang="en-ID" b="0" i="0" dirty="0" err="1">
                <a:solidFill>
                  <a:srgbClr val="000000"/>
                </a:solidFill>
                <a:effectLst/>
                <a:latin typeface="Montserrat-FF"/>
              </a:rPr>
              <a:t>seluruh</a:t>
            </a:r>
            <a:r>
              <a:rPr lang="en-ID" b="0" i="0" dirty="0">
                <a:solidFill>
                  <a:srgbClr val="000000"/>
                </a:solidFill>
                <a:effectLst/>
                <a:latin typeface="Montserrat-FF"/>
              </a:rPr>
              <a:t> </a:t>
            </a:r>
            <a:r>
              <a:rPr lang="en-ID" b="0" i="0" dirty="0" err="1">
                <a:solidFill>
                  <a:srgbClr val="000000"/>
                </a:solidFill>
                <a:effectLst/>
                <a:latin typeface="Montserrat-FF"/>
              </a:rPr>
              <a:t>petugas</a:t>
            </a:r>
            <a:r>
              <a:rPr lang="en-ID" b="0" i="0" dirty="0">
                <a:solidFill>
                  <a:srgbClr val="000000"/>
                </a:solidFill>
                <a:effectLst/>
                <a:latin typeface="Montserrat-FF"/>
              </a:rPr>
              <a:t> housekeeping agar </a:t>
            </a:r>
            <a:r>
              <a:rPr lang="en-ID" b="0" i="0" dirty="0" err="1">
                <a:solidFill>
                  <a:srgbClr val="000000"/>
                </a:solidFill>
                <a:effectLst/>
                <a:latin typeface="Montserrat-FF"/>
              </a:rPr>
              <a:t>sistem</a:t>
            </a:r>
            <a:r>
              <a:rPr lang="en-ID" b="0" i="0" dirty="0">
                <a:solidFill>
                  <a:srgbClr val="000000"/>
                </a:solidFill>
                <a:effectLst/>
                <a:latin typeface="Montserrat-FF"/>
              </a:rPr>
              <a:t> </a:t>
            </a:r>
            <a:r>
              <a:rPr lang="en-ID" b="0" i="0" dirty="0" err="1">
                <a:solidFill>
                  <a:srgbClr val="000000"/>
                </a:solidFill>
                <a:effectLst/>
                <a:latin typeface="Montserrat-FF"/>
              </a:rPr>
              <a:t>kerjanya</a:t>
            </a:r>
            <a:r>
              <a:rPr lang="en-ID" b="0" i="0" dirty="0">
                <a:solidFill>
                  <a:srgbClr val="000000"/>
                </a:solidFill>
                <a:effectLst/>
                <a:latin typeface="Montserrat-FF"/>
              </a:rPr>
              <a:t> </a:t>
            </a:r>
            <a:r>
              <a:rPr lang="en-ID" b="0" i="0" dirty="0" err="1">
                <a:solidFill>
                  <a:srgbClr val="000000"/>
                </a:solidFill>
                <a:effectLst/>
                <a:latin typeface="Montserrat-FF"/>
              </a:rPr>
              <a:t>berjalan</a:t>
            </a:r>
            <a:r>
              <a:rPr lang="en-ID" b="0" i="0" dirty="0">
                <a:solidFill>
                  <a:srgbClr val="000000"/>
                </a:solidFill>
                <a:effectLst/>
                <a:latin typeface="Montserrat-FF"/>
              </a:rPr>
              <a:t> </a:t>
            </a:r>
            <a:r>
              <a:rPr lang="en-ID" b="0" i="0" dirty="0" err="1">
                <a:solidFill>
                  <a:srgbClr val="000000"/>
                </a:solidFill>
                <a:effectLst/>
                <a:latin typeface="Montserrat-FF"/>
              </a:rPr>
              <a:t>lancar</a:t>
            </a:r>
            <a:r>
              <a:rPr lang="en-ID" b="0" i="0" dirty="0">
                <a:solidFill>
                  <a:srgbClr val="000000"/>
                </a:solidFill>
                <a:effectLst/>
                <a:latin typeface="Montserrat-FF"/>
              </a:rPr>
              <a:t> </a:t>
            </a:r>
            <a:r>
              <a:rPr lang="en-ID" b="0" i="0" dirty="0" err="1">
                <a:solidFill>
                  <a:srgbClr val="000000"/>
                </a:solidFill>
                <a:effectLst/>
                <a:latin typeface="Montserrat-FF"/>
              </a:rPr>
              <a:t>serta</a:t>
            </a:r>
            <a:r>
              <a:rPr lang="en-ID" b="0" i="0" dirty="0">
                <a:solidFill>
                  <a:srgbClr val="000000"/>
                </a:solidFill>
                <a:effectLst/>
                <a:latin typeface="Montserrat-FF"/>
              </a:rPr>
              <a:t> </a:t>
            </a:r>
            <a:r>
              <a:rPr lang="en-ID" b="0" i="0" dirty="0" err="1">
                <a:solidFill>
                  <a:srgbClr val="000000"/>
                </a:solidFill>
                <a:effectLst/>
                <a:latin typeface="Montserrat-FF"/>
              </a:rPr>
              <a:t>mengawasi</a:t>
            </a:r>
            <a:r>
              <a:rPr lang="en-ID" b="0" i="0" dirty="0">
                <a:solidFill>
                  <a:srgbClr val="000000"/>
                </a:solidFill>
                <a:effectLst/>
                <a:latin typeface="Montserrat-FF"/>
              </a:rPr>
              <a:t>, </a:t>
            </a:r>
            <a:r>
              <a:rPr lang="en-ID" b="0" i="0" dirty="0" err="1">
                <a:solidFill>
                  <a:srgbClr val="000000"/>
                </a:solidFill>
                <a:effectLst/>
                <a:latin typeface="Montserrat-FF"/>
              </a:rPr>
              <a:t>memberikan</a:t>
            </a:r>
            <a:r>
              <a:rPr lang="en-ID" b="0" i="0" dirty="0">
                <a:solidFill>
                  <a:srgbClr val="000000"/>
                </a:solidFill>
                <a:effectLst/>
                <a:latin typeface="Montserrat-FF"/>
              </a:rPr>
              <a:t> </a:t>
            </a:r>
            <a:r>
              <a:rPr lang="en-ID" b="0" i="0" dirty="0" err="1">
                <a:solidFill>
                  <a:srgbClr val="000000"/>
                </a:solidFill>
                <a:effectLst/>
                <a:latin typeface="Montserrat-FF"/>
              </a:rPr>
              <a:t>pelatihan</a:t>
            </a:r>
            <a:r>
              <a:rPr lang="en-ID" b="0" i="0" dirty="0">
                <a:solidFill>
                  <a:srgbClr val="000000"/>
                </a:solidFill>
                <a:effectLst/>
                <a:latin typeface="Montserrat-FF"/>
              </a:rPr>
              <a:t>, dan </a:t>
            </a:r>
            <a:r>
              <a:rPr lang="en-ID" b="0" i="0" dirty="0" err="1">
                <a:solidFill>
                  <a:srgbClr val="000000"/>
                </a:solidFill>
                <a:effectLst/>
                <a:latin typeface="Montserrat-FF"/>
              </a:rPr>
              <a:t>bertanggung</a:t>
            </a:r>
            <a:r>
              <a:rPr lang="en-ID" b="0" i="0" dirty="0">
                <a:solidFill>
                  <a:srgbClr val="000000"/>
                </a:solidFill>
                <a:effectLst/>
                <a:latin typeface="Montserrat-FF"/>
              </a:rPr>
              <a:t> </a:t>
            </a:r>
            <a:r>
              <a:rPr lang="en-ID" b="0" i="0" dirty="0" err="1">
                <a:solidFill>
                  <a:srgbClr val="000000"/>
                </a:solidFill>
                <a:effectLst/>
                <a:latin typeface="Montserrat-FF"/>
              </a:rPr>
              <a:t>jawab</a:t>
            </a:r>
            <a:r>
              <a:rPr lang="en-ID" b="0" i="0" dirty="0">
                <a:solidFill>
                  <a:srgbClr val="000000"/>
                </a:solidFill>
                <a:effectLst/>
                <a:latin typeface="Montserrat-FF"/>
              </a:rPr>
              <a:t> </a:t>
            </a:r>
            <a:r>
              <a:rPr lang="en-ID" b="0" i="0" dirty="0" err="1">
                <a:solidFill>
                  <a:srgbClr val="000000"/>
                </a:solidFill>
                <a:effectLst/>
                <a:latin typeface="Montserrat-FF"/>
              </a:rPr>
              <a:t>atas</a:t>
            </a:r>
            <a:r>
              <a:rPr lang="en-ID" b="0" i="0" dirty="0">
                <a:solidFill>
                  <a:srgbClr val="000000"/>
                </a:solidFill>
                <a:effectLst/>
                <a:latin typeface="Montserrat-FF"/>
              </a:rPr>
              <a:t> </a:t>
            </a:r>
            <a:r>
              <a:rPr lang="en-ID" b="0" i="0" dirty="0" err="1">
                <a:solidFill>
                  <a:srgbClr val="000000"/>
                </a:solidFill>
                <a:effectLst/>
                <a:latin typeface="Montserrat-FF"/>
              </a:rPr>
              <a:t>departemen</a:t>
            </a:r>
            <a:r>
              <a:rPr lang="en-ID" b="0" i="0" dirty="0">
                <a:solidFill>
                  <a:srgbClr val="000000"/>
                </a:solidFill>
                <a:effectLst/>
                <a:latin typeface="Montserrat-FF"/>
              </a:rPr>
              <a:t> housekeeping di </a:t>
            </a:r>
            <a:r>
              <a:rPr lang="en-ID" b="0" i="0" dirty="0" err="1">
                <a:solidFill>
                  <a:srgbClr val="000000"/>
                </a:solidFill>
                <a:effectLst/>
                <a:latin typeface="Montserrat-FF"/>
              </a:rPr>
              <a:t>sebuah</a:t>
            </a:r>
            <a:r>
              <a:rPr lang="en-ID" b="0" i="0" dirty="0">
                <a:solidFill>
                  <a:srgbClr val="000000"/>
                </a:solidFill>
                <a:effectLst/>
                <a:latin typeface="Montserrat-FF"/>
              </a:rPr>
              <a:t> hotel.</a:t>
            </a:r>
          </a:p>
          <a:p>
            <a:pPr marL="342900" indent="-342900">
              <a:buAutoNum type="arabicPeriod"/>
            </a:pPr>
            <a:endParaRPr lang="en-ID" b="0" i="0" dirty="0">
              <a:solidFill>
                <a:srgbClr val="000000"/>
              </a:solidFill>
              <a:effectLst/>
              <a:latin typeface="Montserrat-FF"/>
            </a:endParaRPr>
          </a:p>
          <a:p>
            <a:pPr marL="342900" indent="-342900">
              <a:buAutoNum type="arabicPeriod"/>
            </a:pPr>
            <a:r>
              <a:rPr lang="en-ID" b="1" i="0" dirty="0">
                <a:solidFill>
                  <a:srgbClr val="000000"/>
                </a:solidFill>
                <a:effectLst/>
                <a:latin typeface="Montserrat-FF"/>
              </a:rPr>
              <a:t>Assistant Housekeeper</a:t>
            </a:r>
            <a:br>
              <a:rPr lang="en-ID" dirty="0"/>
            </a:br>
            <a:r>
              <a:rPr lang="en-ID" b="0" i="0" dirty="0" err="1">
                <a:solidFill>
                  <a:srgbClr val="000000"/>
                </a:solidFill>
                <a:effectLst/>
                <a:latin typeface="Montserrat-FF"/>
              </a:rPr>
              <a:t>Posisi</a:t>
            </a:r>
            <a:r>
              <a:rPr lang="en-ID" b="0" i="0" dirty="0">
                <a:solidFill>
                  <a:srgbClr val="000000"/>
                </a:solidFill>
                <a:effectLst/>
                <a:latin typeface="Montserrat-FF"/>
              </a:rPr>
              <a:t> </a:t>
            </a:r>
            <a:r>
              <a:rPr lang="en-ID" b="0" i="0" dirty="0" err="1">
                <a:solidFill>
                  <a:srgbClr val="000000"/>
                </a:solidFill>
                <a:effectLst/>
                <a:latin typeface="Montserrat-FF"/>
              </a:rPr>
              <a:t>ini</a:t>
            </a:r>
            <a:r>
              <a:rPr lang="en-ID" b="0" i="0" dirty="0">
                <a:solidFill>
                  <a:srgbClr val="000000"/>
                </a:solidFill>
                <a:effectLst/>
                <a:latin typeface="Montserrat-FF"/>
              </a:rPr>
              <a:t> sangat </a:t>
            </a:r>
            <a:r>
              <a:rPr lang="en-ID" b="0" i="0" dirty="0" err="1">
                <a:solidFill>
                  <a:srgbClr val="000000"/>
                </a:solidFill>
                <a:effectLst/>
                <a:latin typeface="Montserrat-FF"/>
              </a:rPr>
              <a:t>penting</a:t>
            </a:r>
            <a:r>
              <a:rPr lang="en-ID" b="0" i="0" dirty="0">
                <a:solidFill>
                  <a:srgbClr val="000000"/>
                </a:solidFill>
                <a:effectLst/>
                <a:latin typeface="Montserrat-FF"/>
              </a:rPr>
              <a:t> agar </a:t>
            </a:r>
            <a:r>
              <a:rPr lang="en-ID" b="0" i="0" dirty="0" err="1">
                <a:solidFill>
                  <a:srgbClr val="000000"/>
                </a:solidFill>
                <a:effectLst/>
                <a:latin typeface="Montserrat-FF"/>
              </a:rPr>
              <a:t>departemen</a:t>
            </a:r>
            <a:r>
              <a:rPr lang="en-ID" b="0" i="0" dirty="0">
                <a:solidFill>
                  <a:srgbClr val="000000"/>
                </a:solidFill>
                <a:effectLst/>
                <a:latin typeface="Montserrat-FF"/>
              </a:rPr>
              <a:t> housekeeping </a:t>
            </a:r>
            <a:r>
              <a:rPr lang="en-ID" b="0" i="0" dirty="0" err="1">
                <a:solidFill>
                  <a:srgbClr val="000000"/>
                </a:solidFill>
                <a:effectLst/>
                <a:latin typeface="Montserrat-FF"/>
              </a:rPr>
              <a:t>berjalan</a:t>
            </a:r>
            <a:r>
              <a:rPr lang="en-ID" b="0" i="0" dirty="0">
                <a:solidFill>
                  <a:srgbClr val="000000"/>
                </a:solidFill>
                <a:effectLst/>
                <a:latin typeface="Montserrat-FF"/>
              </a:rPr>
              <a:t> </a:t>
            </a:r>
            <a:r>
              <a:rPr lang="en-ID" b="0" i="0" dirty="0" err="1">
                <a:solidFill>
                  <a:srgbClr val="000000"/>
                </a:solidFill>
                <a:effectLst/>
                <a:latin typeface="Montserrat-FF"/>
              </a:rPr>
              <a:t>lancar</a:t>
            </a:r>
            <a:r>
              <a:rPr lang="en-ID" b="0" i="0" dirty="0">
                <a:solidFill>
                  <a:srgbClr val="000000"/>
                </a:solidFill>
                <a:effectLst/>
                <a:latin typeface="Montserrat-FF"/>
              </a:rPr>
              <a:t>, </a:t>
            </a:r>
            <a:r>
              <a:rPr lang="en-ID" b="0" i="0" dirty="0" err="1">
                <a:solidFill>
                  <a:srgbClr val="000000"/>
                </a:solidFill>
                <a:effectLst/>
                <a:latin typeface="Montserrat-FF"/>
              </a:rPr>
              <a:t>terlebih</a:t>
            </a:r>
            <a:r>
              <a:rPr lang="en-ID" b="0" i="0" dirty="0">
                <a:solidFill>
                  <a:srgbClr val="000000"/>
                </a:solidFill>
                <a:effectLst/>
                <a:latin typeface="Montserrat-FF"/>
              </a:rPr>
              <a:t> </a:t>
            </a:r>
            <a:r>
              <a:rPr lang="en-ID" b="0" i="0" dirty="0" err="1">
                <a:solidFill>
                  <a:srgbClr val="000000"/>
                </a:solidFill>
                <a:effectLst/>
                <a:latin typeface="Montserrat-FF"/>
              </a:rPr>
              <a:t>jika</a:t>
            </a:r>
            <a:r>
              <a:rPr lang="en-ID" b="0" i="0" dirty="0">
                <a:solidFill>
                  <a:srgbClr val="000000"/>
                </a:solidFill>
                <a:effectLst/>
                <a:latin typeface="Montserrat-FF"/>
              </a:rPr>
              <a:t> executive housekeeper </a:t>
            </a:r>
            <a:r>
              <a:rPr lang="en-ID" b="0" i="0" dirty="0" err="1">
                <a:solidFill>
                  <a:srgbClr val="000000"/>
                </a:solidFill>
                <a:effectLst/>
                <a:latin typeface="Montserrat-FF"/>
              </a:rPr>
              <a:t>tidak</a:t>
            </a:r>
            <a:r>
              <a:rPr lang="en-ID" b="0" i="0" dirty="0">
                <a:solidFill>
                  <a:srgbClr val="000000"/>
                </a:solidFill>
                <a:effectLst/>
                <a:latin typeface="Montserrat-FF"/>
              </a:rPr>
              <a:t> </a:t>
            </a:r>
            <a:r>
              <a:rPr lang="en-ID" b="0" i="0" dirty="0" err="1">
                <a:solidFill>
                  <a:srgbClr val="000000"/>
                </a:solidFill>
                <a:effectLst/>
                <a:latin typeface="Montserrat-FF"/>
              </a:rPr>
              <a:t>bisa</a:t>
            </a:r>
            <a:r>
              <a:rPr lang="en-ID" b="0" i="0" dirty="0">
                <a:solidFill>
                  <a:srgbClr val="000000"/>
                </a:solidFill>
                <a:effectLst/>
                <a:latin typeface="Montserrat-FF"/>
              </a:rPr>
              <a:t> </a:t>
            </a:r>
            <a:r>
              <a:rPr lang="en-ID" b="0" i="0" dirty="0" err="1">
                <a:solidFill>
                  <a:srgbClr val="000000"/>
                </a:solidFill>
                <a:effectLst/>
                <a:latin typeface="Montserrat-FF"/>
              </a:rPr>
              <a:t>hadir</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memimpin</a:t>
            </a:r>
            <a:r>
              <a:rPr lang="en-ID" b="0" i="0" dirty="0">
                <a:solidFill>
                  <a:srgbClr val="000000"/>
                </a:solidFill>
                <a:effectLst/>
                <a:latin typeface="Montserrat-FF"/>
              </a:rPr>
              <a:t> </a:t>
            </a:r>
            <a:r>
              <a:rPr lang="en-ID" b="0" i="0" dirty="0" err="1">
                <a:solidFill>
                  <a:srgbClr val="000000"/>
                </a:solidFill>
                <a:effectLst/>
                <a:latin typeface="Montserrat-FF"/>
              </a:rPr>
              <a:t>tugas</a:t>
            </a:r>
            <a:r>
              <a:rPr lang="en-ID" b="0" i="0" dirty="0">
                <a:solidFill>
                  <a:srgbClr val="000000"/>
                </a:solidFill>
                <a:effectLst/>
                <a:latin typeface="Montserrat-FF"/>
              </a:rPr>
              <a:t> </a:t>
            </a:r>
            <a:r>
              <a:rPr lang="en-ID" b="0" i="0" dirty="0" err="1">
                <a:solidFill>
                  <a:srgbClr val="000000"/>
                </a:solidFill>
                <a:effectLst/>
                <a:latin typeface="Montserrat-FF"/>
              </a:rPr>
              <a:t>sehari-hari</a:t>
            </a:r>
            <a:r>
              <a:rPr lang="en-ID" dirty="0">
                <a:solidFill>
                  <a:srgbClr val="000000"/>
                </a:solidFill>
                <a:latin typeface="Montserrat-FF"/>
              </a:rPr>
              <a:t>  dan </a:t>
            </a:r>
            <a:r>
              <a:rPr lang="en-ID" dirty="0" err="1">
                <a:solidFill>
                  <a:srgbClr val="000000"/>
                </a:solidFill>
                <a:latin typeface="Montserrat-FF"/>
              </a:rPr>
              <a:t>ber</a:t>
            </a:r>
            <a:r>
              <a:rPr lang="en-ID" b="0" i="0" dirty="0" err="1">
                <a:solidFill>
                  <a:srgbClr val="000000"/>
                </a:solidFill>
                <a:effectLst/>
                <a:latin typeface="Montserrat-FF"/>
              </a:rPr>
              <a:t>tanggung</a:t>
            </a:r>
            <a:r>
              <a:rPr lang="en-ID" b="0" i="0" dirty="0">
                <a:solidFill>
                  <a:srgbClr val="000000"/>
                </a:solidFill>
                <a:effectLst/>
                <a:latin typeface="Montserrat-FF"/>
              </a:rPr>
              <a:t> </a:t>
            </a:r>
            <a:r>
              <a:rPr lang="en-ID" b="0" i="0" dirty="0" err="1">
                <a:solidFill>
                  <a:srgbClr val="000000"/>
                </a:solidFill>
                <a:effectLst/>
                <a:latin typeface="Montserrat-FF"/>
              </a:rPr>
              <a:t>jawab</a:t>
            </a:r>
            <a:r>
              <a:rPr lang="en-ID" b="0" i="0" dirty="0">
                <a:solidFill>
                  <a:srgbClr val="000000"/>
                </a:solidFill>
                <a:effectLst/>
                <a:latin typeface="Montserrat-FF"/>
              </a:rPr>
              <a:t> </a:t>
            </a:r>
            <a:r>
              <a:rPr lang="en-ID" b="0" i="0" dirty="0" err="1">
                <a:solidFill>
                  <a:srgbClr val="000000"/>
                </a:solidFill>
                <a:effectLst/>
                <a:latin typeface="Montserrat-FF"/>
              </a:rPr>
              <a:t>dalam</a:t>
            </a:r>
            <a:r>
              <a:rPr lang="en-ID" b="0" i="0" dirty="0">
                <a:solidFill>
                  <a:srgbClr val="000000"/>
                </a:solidFill>
                <a:effectLst/>
                <a:latin typeface="Montserrat-FF"/>
              </a:rPr>
              <a:t> </a:t>
            </a:r>
            <a:r>
              <a:rPr lang="en-ID" b="0" i="0" dirty="0" err="1">
                <a:solidFill>
                  <a:srgbClr val="000000"/>
                </a:solidFill>
                <a:effectLst/>
                <a:latin typeface="Montserrat-FF"/>
              </a:rPr>
              <a:t>mengelola</a:t>
            </a:r>
            <a:r>
              <a:rPr lang="en-ID" b="0" i="0" dirty="0">
                <a:solidFill>
                  <a:srgbClr val="000000"/>
                </a:solidFill>
                <a:effectLst/>
                <a:latin typeface="Montserrat-FF"/>
              </a:rPr>
              <a:t> </a:t>
            </a:r>
            <a:r>
              <a:rPr lang="en-ID" b="0" i="0" dirty="0" err="1">
                <a:solidFill>
                  <a:srgbClr val="000000"/>
                </a:solidFill>
                <a:effectLst/>
                <a:latin typeface="Montserrat-FF"/>
              </a:rPr>
              <a:t>laporan</a:t>
            </a:r>
            <a:r>
              <a:rPr lang="en-ID" b="0" i="0" dirty="0">
                <a:solidFill>
                  <a:srgbClr val="000000"/>
                </a:solidFill>
                <a:effectLst/>
                <a:latin typeface="Montserrat-FF"/>
              </a:rPr>
              <a:t> </a:t>
            </a:r>
            <a:r>
              <a:rPr lang="en-ID" b="0" i="0" dirty="0" err="1">
                <a:solidFill>
                  <a:srgbClr val="000000"/>
                </a:solidFill>
                <a:effectLst/>
                <a:latin typeface="Montserrat-FF"/>
              </a:rPr>
              <a:t>kepada</a:t>
            </a:r>
            <a:r>
              <a:rPr lang="en-ID" b="0" i="0" dirty="0">
                <a:solidFill>
                  <a:srgbClr val="000000"/>
                </a:solidFill>
                <a:effectLst/>
                <a:latin typeface="Montserrat-FF"/>
              </a:rPr>
              <a:t> executive housekeeper </a:t>
            </a:r>
            <a:r>
              <a:rPr lang="en-ID" b="0" i="0" dirty="0" err="1">
                <a:solidFill>
                  <a:srgbClr val="000000"/>
                </a:solidFill>
                <a:effectLst/>
                <a:latin typeface="Montserrat-FF"/>
              </a:rPr>
              <a:t>tentang</a:t>
            </a:r>
            <a:r>
              <a:rPr lang="en-ID" b="0" i="0" dirty="0">
                <a:solidFill>
                  <a:srgbClr val="000000"/>
                </a:solidFill>
                <a:effectLst/>
                <a:latin typeface="Montserrat-FF"/>
              </a:rPr>
              <a:t> </a:t>
            </a:r>
            <a:r>
              <a:rPr lang="en-ID" b="0" i="0" dirty="0" err="1">
                <a:solidFill>
                  <a:srgbClr val="000000"/>
                </a:solidFill>
                <a:effectLst/>
                <a:latin typeface="Montserrat-FF"/>
              </a:rPr>
              <a:t>nama-nama</a:t>
            </a:r>
            <a:r>
              <a:rPr lang="en-ID" b="0" i="0" dirty="0">
                <a:solidFill>
                  <a:srgbClr val="000000"/>
                </a:solidFill>
                <a:effectLst/>
                <a:latin typeface="Montserrat-FF"/>
              </a:rPr>
              <a:t> </a:t>
            </a:r>
            <a:r>
              <a:rPr lang="en-ID" b="0" i="0" dirty="0" err="1">
                <a:solidFill>
                  <a:srgbClr val="000000"/>
                </a:solidFill>
                <a:effectLst/>
                <a:latin typeface="Montserrat-FF"/>
              </a:rPr>
              <a:t>petugas</a:t>
            </a:r>
            <a:r>
              <a:rPr lang="en-ID" b="0" i="0" dirty="0">
                <a:solidFill>
                  <a:srgbClr val="000000"/>
                </a:solidFill>
                <a:effectLst/>
                <a:latin typeface="Montserrat-FF"/>
              </a:rPr>
              <a:t> yang </a:t>
            </a:r>
            <a:r>
              <a:rPr lang="en-ID" b="0" i="0" dirty="0" err="1">
                <a:solidFill>
                  <a:srgbClr val="000000"/>
                </a:solidFill>
                <a:effectLst/>
                <a:latin typeface="Montserrat-FF"/>
              </a:rPr>
              <a:t>masuk</a:t>
            </a:r>
            <a:r>
              <a:rPr lang="en-ID" b="0" i="0" dirty="0">
                <a:solidFill>
                  <a:srgbClr val="000000"/>
                </a:solidFill>
                <a:effectLst/>
                <a:latin typeface="Montserrat-FF"/>
              </a:rPr>
              <a:t> di </a:t>
            </a:r>
            <a:r>
              <a:rPr lang="en-ID" b="0" i="0" dirty="0" err="1">
                <a:solidFill>
                  <a:srgbClr val="000000"/>
                </a:solidFill>
                <a:effectLst/>
                <a:latin typeface="Montserrat-FF"/>
              </a:rPr>
              <a:t>hari</a:t>
            </a:r>
            <a:r>
              <a:rPr lang="en-ID" b="0" i="0" dirty="0">
                <a:solidFill>
                  <a:srgbClr val="000000"/>
                </a:solidFill>
                <a:effectLst/>
                <a:latin typeface="Montserrat-FF"/>
              </a:rPr>
              <a:t> </a:t>
            </a:r>
            <a:r>
              <a:rPr lang="en-ID" b="0" i="0" dirty="0" err="1">
                <a:solidFill>
                  <a:srgbClr val="000000"/>
                </a:solidFill>
                <a:effectLst/>
                <a:latin typeface="Montserrat-FF"/>
              </a:rPr>
              <a:t>itu</a:t>
            </a:r>
            <a:r>
              <a:rPr lang="en-ID" b="0" i="0" dirty="0">
                <a:solidFill>
                  <a:srgbClr val="000000"/>
                </a:solidFill>
                <a:effectLst/>
                <a:latin typeface="Montserrat-FF"/>
              </a:rPr>
              <a:t>, </a:t>
            </a:r>
            <a:r>
              <a:rPr lang="en-ID" b="0" i="0" dirty="0" err="1">
                <a:solidFill>
                  <a:srgbClr val="000000"/>
                </a:solidFill>
                <a:effectLst/>
                <a:latin typeface="Montserrat-FF"/>
              </a:rPr>
              <a:t>progres</a:t>
            </a:r>
            <a:r>
              <a:rPr lang="en-ID" b="0" i="0" dirty="0">
                <a:solidFill>
                  <a:srgbClr val="000000"/>
                </a:solidFill>
                <a:effectLst/>
                <a:latin typeface="Montserrat-FF"/>
              </a:rPr>
              <a:t> </a:t>
            </a:r>
            <a:r>
              <a:rPr lang="en-ID" b="0" i="0" dirty="0" err="1">
                <a:solidFill>
                  <a:srgbClr val="000000"/>
                </a:solidFill>
                <a:effectLst/>
                <a:latin typeface="Montserrat-FF"/>
              </a:rPr>
              <a:t>pekerjaan</a:t>
            </a:r>
            <a:r>
              <a:rPr lang="en-ID" b="0" i="0" dirty="0">
                <a:solidFill>
                  <a:srgbClr val="000000"/>
                </a:solidFill>
                <a:effectLst/>
                <a:latin typeface="Montserrat-FF"/>
              </a:rPr>
              <a:t>, </a:t>
            </a:r>
            <a:r>
              <a:rPr lang="en-ID" b="0" i="0" dirty="0" err="1">
                <a:solidFill>
                  <a:srgbClr val="000000"/>
                </a:solidFill>
                <a:effectLst/>
                <a:latin typeface="Montserrat-FF"/>
              </a:rPr>
              <a:t>hingga</a:t>
            </a:r>
            <a:r>
              <a:rPr lang="en-ID" b="0" i="0" dirty="0">
                <a:solidFill>
                  <a:srgbClr val="000000"/>
                </a:solidFill>
                <a:effectLst/>
                <a:latin typeface="Montserrat-FF"/>
              </a:rPr>
              <a:t> </a:t>
            </a:r>
            <a:r>
              <a:rPr lang="en-ID" b="0" i="0" dirty="0" err="1">
                <a:solidFill>
                  <a:srgbClr val="000000"/>
                </a:solidFill>
                <a:effectLst/>
                <a:latin typeface="Montserrat-FF"/>
              </a:rPr>
              <a:t>laporan</a:t>
            </a:r>
            <a:r>
              <a:rPr lang="en-ID" b="0" i="0" dirty="0">
                <a:solidFill>
                  <a:srgbClr val="000000"/>
                </a:solidFill>
                <a:effectLst/>
                <a:latin typeface="Montserrat-FF"/>
              </a:rPr>
              <a:t> </a:t>
            </a:r>
            <a:r>
              <a:rPr lang="en-ID" b="0" i="0" dirty="0" err="1">
                <a:solidFill>
                  <a:srgbClr val="000000"/>
                </a:solidFill>
                <a:effectLst/>
                <a:latin typeface="Montserrat-FF"/>
              </a:rPr>
              <a:t>masalah</a:t>
            </a:r>
            <a:r>
              <a:rPr lang="en-ID" b="0" i="0" dirty="0">
                <a:solidFill>
                  <a:srgbClr val="000000"/>
                </a:solidFill>
                <a:effectLst/>
                <a:latin typeface="Montserrat-FF"/>
              </a:rPr>
              <a:t> yang </a:t>
            </a:r>
            <a:r>
              <a:rPr lang="en-ID" b="0" i="0" dirty="0" err="1">
                <a:solidFill>
                  <a:srgbClr val="000000"/>
                </a:solidFill>
                <a:effectLst/>
                <a:latin typeface="Montserrat-FF"/>
              </a:rPr>
              <a:t>ditemukan</a:t>
            </a:r>
            <a:r>
              <a:rPr lang="en-ID" b="0" i="0" dirty="0">
                <a:solidFill>
                  <a:srgbClr val="000000"/>
                </a:solidFill>
                <a:effectLst/>
                <a:latin typeface="Montserrat-FF"/>
              </a:rPr>
              <a:t>. </a:t>
            </a:r>
            <a:br>
              <a:rPr lang="en-ID" dirty="0"/>
            </a:br>
            <a:br>
              <a:rPr lang="en-ID" dirty="0"/>
            </a:br>
            <a:br>
              <a:rPr lang="en-ID" dirty="0"/>
            </a:br>
            <a:endParaRPr lang="en-ID" dirty="0"/>
          </a:p>
        </p:txBody>
      </p:sp>
    </p:spTree>
    <p:extLst>
      <p:ext uri="{BB962C8B-B14F-4D97-AF65-F5344CB8AC3E}">
        <p14:creationId xmlns:p14="http://schemas.microsoft.com/office/powerpoint/2010/main" val="31359489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E7BEF0-0C06-421E-8AB2-6A404040A1D3}"/>
              </a:ext>
            </a:extLst>
          </p:cNvPr>
          <p:cNvSpPr txBox="1"/>
          <p:nvPr/>
        </p:nvSpPr>
        <p:spPr>
          <a:xfrm>
            <a:off x="990600" y="457200"/>
            <a:ext cx="7467600" cy="6186309"/>
          </a:xfrm>
          <a:prstGeom prst="rect">
            <a:avLst/>
          </a:prstGeom>
          <a:noFill/>
        </p:spPr>
        <p:txBody>
          <a:bodyPr wrap="square">
            <a:spAutoFit/>
          </a:bodyPr>
          <a:lstStyle/>
          <a:p>
            <a:r>
              <a:rPr lang="en-ID" b="1" i="0" dirty="0">
                <a:solidFill>
                  <a:srgbClr val="000000"/>
                </a:solidFill>
                <a:effectLst/>
                <a:latin typeface="Montserrat-FF"/>
              </a:rPr>
              <a:t>3. Order Taker</a:t>
            </a:r>
            <a:br>
              <a:rPr lang="en-ID" dirty="0"/>
            </a:br>
            <a:r>
              <a:rPr lang="en-ID" dirty="0" err="1">
                <a:solidFill>
                  <a:srgbClr val="000000"/>
                </a:solidFill>
                <a:latin typeface="Montserrat-FF"/>
              </a:rPr>
              <a:t>B</a:t>
            </a:r>
            <a:r>
              <a:rPr lang="en-ID" b="0" i="0" dirty="0" err="1">
                <a:solidFill>
                  <a:srgbClr val="000000"/>
                </a:solidFill>
                <a:effectLst/>
                <a:latin typeface="Montserrat-FF"/>
              </a:rPr>
              <a:t>ertugas</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mencatat</a:t>
            </a:r>
            <a:r>
              <a:rPr lang="en-ID" b="0" i="0" dirty="0">
                <a:solidFill>
                  <a:srgbClr val="000000"/>
                </a:solidFill>
                <a:effectLst/>
                <a:latin typeface="Montserrat-FF"/>
              </a:rPr>
              <a:t> </a:t>
            </a:r>
            <a:r>
              <a:rPr lang="en-ID" b="0" i="0" dirty="0" err="1">
                <a:solidFill>
                  <a:srgbClr val="000000"/>
                </a:solidFill>
                <a:effectLst/>
                <a:latin typeface="Montserrat-FF"/>
              </a:rPr>
              <a:t>pesanan</a:t>
            </a:r>
            <a:r>
              <a:rPr lang="en-ID" b="0" i="0" dirty="0">
                <a:solidFill>
                  <a:srgbClr val="000000"/>
                </a:solidFill>
                <a:effectLst/>
                <a:latin typeface="Montserrat-FF"/>
              </a:rPr>
              <a:t>, </a:t>
            </a:r>
            <a:r>
              <a:rPr lang="en-ID" b="0" i="0" dirty="0" err="1">
                <a:solidFill>
                  <a:srgbClr val="000000"/>
                </a:solidFill>
                <a:effectLst/>
                <a:latin typeface="Montserrat-FF"/>
              </a:rPr>
              <a:t>menerima</a:t>
            </a:r>
            <a:r>
              <a:rPr lang="en-ID" b="0" i="0" dirty="0">
                <a:solidFill>
                  <a:srgbClr val="000000"/>
                </a:solidFill>
                <a:effectLst/>
                <a:latin typeface="Montserrat-FF"/>
              </a:rPr>
              <a:t> </a:t>
            </a:r>
            <a:r>
              <a:rPr lang="en-ID" b="0" i="0" dirty="0" err="1">
                <a:solidFill>
                  <a:srgbClr val="000000"/>
                </a:solidFill>
                <a:effectLst/>
                <a:latin typeface="Montserrat-FF"/>
              </a:rPr>
              <a:t>telepon</a:t>
            </a:r>
            <a:r>
              <a:rPr lang="en-ID" b="0" i="0" dirty="0">
                <a:solidFill>
                  <a:srgbClr val="000000"/>
                </a:solidFill>
                <a:effectLst/>
                <a:latin typeface="Montserrat-FF"/>
              </a:rPr>
              <a:t>, </a:t>
            </a:r>
            <a:r>
              <a:rPr lang="en-ID" b="0" i="0" dirty="0" err="1">
                <a:solidFill>
                  <a:srgbClr val="000000"/>
                </a:solidFill>
                <a:effectLst/>
                <a:latin typeface="Montserrat-FF"/>
              </a:rPr>
              <a:t>hingga</a:t>
            </a:r>
            <a:r>
              <a:rPr lang="en-ID" b="0" i="0" dirty="0">
                <a:solidFill>
                  <a:srgbClr val="000000"/>
                </a:solidFill>
                <a:effectLst/>
                <a:latin typeface="Montserrat-FF"/>
              </a:rPr>
              <a:t> </a:t>
            </a:r>
            <a:r>
              <a:rPr lang="en-ID" b="0" i="0" dirty="0" err="1">
                <a:solidFill>
                  <a:srgbClr val="000000"/>
                </a:solidFill>
                <a:effectLst/>
                <a:latin typeface="Montserrat-FF"/>
              </a:rPr>
              <a:t>memberikan</a:t>
            </a:r>
            <a:r>
              <a:rPr lang="en-ID" b="0" i="0" dirty="0">
                <a:solidFill>
                  <a:srgbClr val="000000"/>
                </a:solidFill>
                <a:effectLst/>
                <a:latin typeface="Montserrat-FF"/>
              </a:rPr>
              <a:t> </a:t>
            </a:r>
            <a:r>
              <a:rPr lang="en-ID" b="0" i="0" dirty="0" err="1">
                <a:solidFill>
                  <a:srgbClr val="000000"/>
                </a:solidFill>
                <a:effectLst/>
                <a:latin typeface="Montserrat-FF"/>
              </a:rPr>
              <a:t>informasi</a:t>
            </a:r>
            <a:r>
              <a:rPr lang="en-ID" b="0" i="0" dirty="0">
                <a:solidFill>
                  <a:srgbClr val="000000"/>
                </a:solidFill>
                <a:effectLst/>
                <a:latin typeface="Montserrat-FF"/>
              </a:rPr>
              <a:t> </a:t>
            </a:r>
            <a:r>
              <a:rPr lang="en-ID" b="0" i="0" dirty="0" err="1">
                <a:solidFill>
                  <a:srgbClr val="000000"/>
                </a:solidFill>
                <a:effectLst/>
                <a:latin typeface="Montserrat-FF"/>
              </a:rPr>
              <a:t>kepada</a:t>
            </a:r>
            <a:r>
              <a:rPr lang="en-ID" b="0" i="0" dirty="0">
                <a:solidFill>
                  <a:srgbClr val="000000"/>
                </a:solidFill>
                <a:effectLst/>
                <a:latin typeface="Montserrat-FF"/>
              </a:rPr>
              <a:t> para </a:t>
            </a:r>
            <a:r>
              <a:rPr lang="en-ID" b="0" i="0" dirty="0" err="1">
                <a:solidFill>
                  <a:srgbClr val="000000"/>
                </a:solidFill>
                <a:effectLst/>
                <a:latin typeface="Montserrat-FF"/>
              </a:rPr>
              <a:t>tamu</a:t>
            </a:r>
            <a:r>
              <a:rPr lang="en-ID" b="0" i="0" dirty="0">
                <a:solidFill>
                  <a:srgbClr val="000000"/>
                </a:solidFill>
                <a:effectLst/>
                <a:latin typeface="Montserrat-FF"/>
              </a:rPr>
              <a:t> yang </a:t>
            </a:r>
            <a:r>
              <a:rPr lang="en-ID" b="0" i="0" dirty="0" err="1">
                <a:solidFill>
                  <a:srgbClr val="000000"/>
                </a:solidFill>
                <a:effectLst/>
                <a:latin typeface="Montserrat-FF"/>
              </a:rPr>
              <a:t>menginap</a:t>
            </a:r>
            <a:r>
              <a:rPr lang="en-ID" b="0" i="0" dirty="0">
                <a:solidFill>
                  <a:srgbClr val="000000"/>
                </a:solidFill>
                <a:effectLst/>
                <a:latin typeface="Montserrat-FF"/>
              </a:rPr>
              <a:t>.</a:t>
            </a:r>
            <a:br>
              <a:rPr lang="en-ID" dirty="0"/>
            </a:br>
            <a:r>
              <a:rPr lang="en-ID" dirty="0" err="1"/>
              <a:t>S</a:t>
            </a:r>
            <a:r>
              <a:rPr lang="en-ID" b="0" i="0" dirty="0" err="1">
                <a:solidFill>
                  <a:srgbClr val="000000"/>
                </a:solidFill>
                <a:effectLst/>
                <a:latin typeface="Montserrat-FF"/>
              </a:rPr>
              <a:t>eluruh</a:t>
            </a:r>
            <a:r>
              <a:rPr lang="en-ID" b="0" i="0" dirty="0">
                <a:solidFill>
                  <a:srgbClr val="000000"/>
                </a:solidFill>
                <a:effectLst/>
                <a:latin typeface="Montserrat-FF"/>
              </a:rPr>
              <a:t> </a:t>
            </a:r>
            <a:r>
              <a:rPr lang="en-ID" b="0" i="0" dirty="0" err="1">
                <a:solidFill>
                  <a:srgbClr val="000000"/>
                </a:solidFill>
                <a:effectLst/>
                <a:latin typeface="Montserrat-FF"/>
              </a:rPr>
              <a:t>pesanan</a:t>
            </a:r>
            <a:r>
              <a:rPr lang="en-ID" b="0" i="0" dirty="0">
                <a:solidFill>
                  <a:srgbClr val="000000"/>
                </a:solidFill>
                <a:effectLst/>
                <a:latin typeface="Montserrat-FF"/>
              </a:rPr>
              <a:t> </a:t>
            </a:r>
            <a:r>
              <a:rPr lang="en-ID" b="0" i="0" dirty="0" err="1">
                <a:solidFill>
                  <a:srgbClr val="000000"/>
                </a:solidFill>
                <a:effectLst/>
                <a:latin typeface="Montserrat-FF"/>
              </a:rPr>
              <a:t>hingga</a:t>
            </a:r>
            <a:r>
              <a:rPr lang="en-ID" b="0" i="0" dirty="0">
                <a:solidFill>
                  <a:srgbClr val="000000"/>
                </a:solidFill>
                <a:effectLst/>
                <a:latin typeface="Montserrat-FF"/>
              </a:rPr>
              <a:t> </a:t>
            </a:r>
            <a:r>
              <a:rPr lang="en-ID" b="0" i="0" dirty="0" err="1">
                <a:solidFill>
                  <a:srgbClr val="000000"/>
                </a:solidFill>
                <a:effectLst/>
                <a:latin typeface="Montserrat-FF"/>
              </a:rPr>
              <a:t>laporan</a:t>
            </a:r>
            <a:r>
              <a:rPr lang="en-ID" b="0" i="0" dirty="0">
                <a:solidFill>
                  <a:srgbClr val="000000"/>
                </a:solidFill>
                <a:effectLst/>
                <a:latin typeface="Montserrat-FF"/>
              </a:rPr>
              <a:t> yang </a:t>
            </a:r>
            <a:r>
              <a:rPr lang="en-ID" b="0" i="0" dirty="0" err="1">
                <a:solidFill>
                  <a:srgbClr val="000000"/>
                </a:solidFill>
                <a:effectLst/>
                <a:latin typeface="Montserrat-FF"/>
              </a:rPr>
              <a:t>diperoleh</a:t>
            </a:r>
            <a:r>
              <a:rPr lang="en-ID" b="0" i="0" dirty="0">
                <a:solidFill>
                  <a:srgbClr val="000000"/>
                </a:solidFill>
                <a:effectLst/>
                <a:latin typeface="Montserrat-FF"/>
              </a:rPr>
              <a:t> </a:t>
            </a:r>
            <a:r>
              <a:rPr lang="en-ID" b="0" i="0" dirty="0" err="1">
                <a:solidFill>
                  <a:srgbClr val="000000"/>
                </a:solidFill>
                <a:effectLst/>
                <a:latin typeface="Montserrat-FF"/>
              </a:rPr>
              <a:t>dari</a:t>
            </a:r>
            <a:r>
              <a:rPr lang="en-ID" b="0" i="0" dirty="0">
                <a:solidFill>
                  <a:srgbClr val="000000"/>
                </a:solidFill>
                <a:effectLst/>
                <a:latin typeface="Montserrat-FF"/>
              </a:rPr>
              <a:t> para </a:t>
            </a:r>
            <a:r>
              <a:rPr lang="en-ID" b="0" i="0" dirty="0" err="1">
                <a:solidFill>
                  <a:srgbClr val="000000"/>
                </a:solidFill>
                <a:effectLst/>
                <a:latin typeface="Montserrat-FF"/>
              </a:rPr>
              <a:t>tamu</a:t>
            </a:r>
            <a:r>
              <a:rPr lang="en-ID" b="0" i="0" dirty="0">
                <a:solidFill>
                  <a:srgbClr val="000000"/>
                </a:solidFill>
                <a:effectLst/>
                <a:latin typeface="Montserrat-FF"/>
              </a:rPr>
              <a:t> </a:t>
            </a:r>
            <a:r>
              <a:rPr lang="en-ID" b="0" i="0" dirty="0" err="1">
                <a:solidFill>
                  <a:srgbClr val="000000"/>
                </a:solidFill>
                <a:effectLst/>
                <a:latin typeface="Montserrat-FF"/>
              </a:rPr>
              <a:t>akan</a:t>
            </a:r>
            <a:r>
              <a:rPr lang="en-ID" b="0" i="0" dirty="0">
                <a:solidFill>
                  <a:srgbClr val="000000"/>
                </a:solidFill>
                <a:effectLst/>
                <a:latin typeface="Montserrat-FF"/>
              </a:rPr>
              <a:t> </a:t>
            </a:r>
            <a:r>
              <a:rPr lang="en-ID" b="0" i="0" dirty="0" err="1">
                <a:solidFill>
                  <a:srgbClr val="000000"/>
                </a:solidFill>
                <a:effectLst/>
                <a:latin typeface="Montserrat-FF"/>
              </a:rPr>
              <a:t>disampaikan</a:t>
            </a:r>
            <a:r>
              <a:rPr lang="en-ID" b="0" i="0" dirty="0">
                <a:solidFill>
                  <a:srgbClr val="000000"/>
                </a:solidFill>
                <a:effectLst/>
                <a:latin typeface="Montserrat-FF"/>
              </a:rPr>
              <a:t> </a:t>
            </a:r>
            <a:r>
              <a:rPr lang="en-ID" b="0" i="0" dirty="0" err="1">
                <a:solidFill>
                  <a:srgbClr val="000000"/>
                </a:solidFill>
                <a:effectLst/>
                <a:latin typeface="Montserrat-FF"/>
              </a:rPr>
              <a:t>ke</a:t>
            </a:r>
            <a:r>
              <a:rPr lang="en-ID" b="0" i="0" dirty="0">
                <a:solidFill>
                  <a:srgbClr val="000000"/>
                </a:solidFill>
                <a:effectLst/>
                <a:latin typeface="Montserrat-FF"/>
              </a:rPr>
              <a:t> </a:t>
            </a:r>
            <a:r>
              <a:rPr lang="en-ID" b="0" i="0" dirty="0" err="1">
                <a:solidFill>
                  <a:srgbClr val="000000"/>
                </a:solidFill>
                <a:effectLst/>
                <a:latin typeface="Montserrat-FF"/>
              </a:rPr>
              <a:t>dalam</a:t>
            </a:r>
            <a:r>
              <a:rPr lang="en-ID" b="0" i="0" dirty="0">
                <a:solidFill>
                  <a:srgbClr val="000000"/>
                </a:solidFill>
                <a:effectLst/>
                <a:latin typeface="Montserrat-FF"/>
              </a:rPr>
              <a:t> </a:t>
            </a:r>
            <a:r>
              <a:rPr lang="en-ID" b="0" i="0" dirty="0" err="1">
                <a:solidFill>
                  <a:srgbClr val="000000"/>
                </a:solidFill>
                <a:effectLst/>
                <a:latin typeface="Montserrat-FF"/>
              </a:rPr>
              <a:t>tim</a:t>
            </a:r>
            <a:r>
              <a:rPr lang="en-ID" b="0" i="0" dirty="0">
                <a:solidFill>
                  <a:srgbClr val="000000"/>
                </a:solidFill>
                <a:effectLst/>
                <a:latin typeface="Montserrat-FF"/>
              </a:rPr>
              <a:t> internal housekeeping. </a:t>
            </a:r>
            <a:r>
              <a:rPr lang="en-ID" b="0" i="0" dirty="0" err="1">
                <a:solidFill>
                  <a:srgbClr val="000000"/>
                </a:solidFill>
                <a:effectLst/>
                <a:latin typeface="Montserrat-FF"/>
              </a:rPr>
              <a:t>Petugas</a:t>
            </a:r>
            <a:r>
              <a:rPr lang="en-ID" b="0" i="0" dirty="0">
                <a:solidFill>
                  <a:srgbClr val="000000"/>
                </a:solidFill>
                <a:effectLst/>
                <a:latin typeface="Montserrat-FF"/>
              </a:rPr>
              <a:t> yang </a:t>
            </a:r>
            <a:r>
              <a:rPr lang="en-ID" b="0" i="0" dirty="0" err="1">
                <a:solidFill>
                  <a:srgbClr val="000000"/>
                </a:solidFill>
                <a:effectLst/>
                <a:latin typeface="Montserrat-FF"/>
              </a:rPr>
              <a:t>berposisi</a:t>
            </a:r>
            <a:r>
              <a:rPr lang="en-ID" b="0" i="0" dirty="0">
                <a:solidFill>
                  <a:srgbClr val="000000"/>
                </a:solidFill>
                <a:effectLst/>
                <a:latin typeface="Montserrat-FF"/>
              </a:rPr>
              <a:t> </a:t>
            </a:r>
            <a:r>
              <a:rPr lang="en-ID" b="0" i="0" dirty="0" err="1">
                <a:solidFill>
                  <a:srgbClr val="000000"/>
                </a:solidFill>
                <a:effectLst/>
                <a:latin typeface="Montserrat-FF"/>
              </a:rPr>
              <a:t>sebagai</a:t>
            </a:r>
            <a:r>
              <a:rPr lang="en-ID" b="0" i="0" dirty="0">
                <a:solidFill>
                  <a:srgbClr val="000000"/>
                </a:solidFill>
                <a:effectLst/>
                <a:latin typeface="Montserrat-FF"/>
              </a:rPr>
              <a:t> order taker </a:t>
            </a:r>
            <a:r>
              <a:rPr lang="en-ID" b="0" i="0" dirty="0" err="1">
                <a:solidFill>
                  <a:srgbClr val="000000"/>
                </a:solidFill>
                <a:effectLst/>
                <a:latin typeface="Montserrat-FF"/>
              </a:rPr>
              <a:t>harus</a:t>
            </a:r>
            <a:r>
              <a:rPr lang="en-ID" b="0" i="0" dirty="0">
                <a:solidFill>
                  <a:srgbClr val="000000"/>
                </a:solidFill>
                <a:effectLst/>
                <a:latin typeface="Montserrat-FF"/>
              </a:rPr>
              <a:t> </a:t>
            </a:r>
            <a:r>
              <a:rPr lang="en-ID" b="0" i="0" dirty="0" err="1">
                <a:solidFill>
                  <a:srgbClr val="000000"/>
                </a:solidFill>
                <a:effectLst/>
                <a:latin typeface="Montserrat-FF"/>
              </a:rPr>
              <a:t>ramah</a:t>
            </a:r>
            <a:r>
              <a:rPr lang="en-ID" b="0" i="0" dirty="0">
                <a:solidFill>
                  <a:srgbClr val="000000"/>
                </a:solidFill>
                <a:effectLst/>
                <a:latin typeface="Montserrat-FF"/>
              </a:rPr>
              <a:t>, </a:t>
            </a:r>
            <a:r>
              <a:rPr lang="en-ID" b="0" i="0" dirty="0" err="1">
                <a:solidFill>
                  <a:srgbClr val="000000"/>
                </a:solidFill>
                <a:effectLst/>
                <a:latin typeface="Montserrat-FF"/>
              </a:rPr>
              <a:t>karena</a:t>
            </a:r>
            <a:r>
              <a:rPr lang="en-ID" b="0" i="0" dirty="0">
                <a:solidFill>
                  <a:srgbClr val="000000"/>
                </a:solidFill>
                <a:effectLst/>
                <a:latin typeface="Montserrat-FF"/>
              </a:rPr>
              <a:t> </a:t>
            </a:r>
            <a:r>
              <a:rPr lang="en-ID" b="0" i="0" dirty="0" err="1">
                <a:solidFill>
                  <a:srgbClr val="000000"/>
                </a:solidFill>
                <a:effectLst/>
                <a:latin typeface="Montserrat-FF"/>
              </a:rPr>
              <a:t>ia</a:t>
            </a:r>
            <a:r>
              <a:rPr lang="en-ID" b="0" i="0" dirty="0">
                <a:solidFill>
                  <a:srgbClr val="000000"/>
                </a:solidFill>
                <a:effectLst/>
                <a:latin typeface="Montserrat-FF"/>
              </a:rPr>
              <a:t> </a:t>
            </a:r>
            <a:r>
              <a:rPr lang="en-ID" b="0" i="0" dirty="0" err="1">
                <a:solidFill>
                  <a:srgbClr val="000000"/>
                </a:solidFill>
                <a:effectLst/>
                <a:latin typeface="Montserrat-FF"/>
              </a:rPr>
              <a:t>berpapasan</a:t>
            </a:r>
            <a:r>
              <a:rPr lang="en-ID" b="0" i="0" dirty="0">
                <a:solidFill>
                  <a:srgbClr val="000000"/>
                </a:solidFill>
                <a:effectLst/>
                <a:latin typeface="Montserrat-FF"/>
              </a:rPr>
              <a:t> </a:t>
            </a:r>
            <a:r>
              <a:rPr lang="en-ID" b="0" i="0" dirty="0" err="1">
                <a:solidFill>
                  <a:srgbClr val="000000"/>
                </a:solidFill>
                <a:effectLst/>
                <a:latin typeface="Montserrat-FF"/>
              </a:rPr>
              <a:t>langsung</a:t>
            </a:r>
            <a:r>
              <a:rPr lang="en-ID" b="0" i="0" dirty="0">
                <a:solidFill>
                  <a:srgbClr val="000000"/>
                </a:solidFill>
                <a:effectLst/>
                <a:latin typeface="Montserrat-FF"/>
              </a:rPr>
              <a:t> </a:t>
            </a:r>
            <a:r>
              <a:rPr lang="en-ID" b="0" i="0" dirty="0" err="1">
                <a:solidFill>
                  <a:srgbClr val="000000"/>
                </a:solidFill>
                <a:effectLst/>
                <a:latin typeface="Montserrat-FF"/>
              </a:rPr>
              <a:t>dengan</a:t>
            </a:r>
            <a:r>
              <a:rPr lang="en-ID" b="0" i="0" dirty="0">
                <a:solidFill>
                  <a:srgbClr val="000000"/>
                </a:solidFill>
                <a:effectLst/>
                <a:latin typeface="Montserrat-FF"/>
              </a:rPr>
              <a:t> </a:t>
            </a:r>
            <a:r>
              <a:rPr lang="en-ID" b="0" i="0" dirty="0" err="1">
                <a:solidFill>
                  <a:srgbClr val="000000"/>
                </a:solidFill>
                <a:effectLst/>
                <a:latin typeface="Montserrat-FF"/>
              </a:rPr>
              <a:t>tamu</a:t>
            </a:r>
            <a:r>
              <a:rPr lang="en-ID" b="0" i="0" dirty="0">
                <a:solidFill>
                  <a:srgbClr val="000000"/>
                </a:solidFill>
                <a:effectLst/>
                <a:latin typeface="Montserrat-FF"/>
              </a:rPr>
              <a:t>.</a:t>
            </a:r>
            <a:br>
              <a:rPr lang="en-ID" dirty="0"/>
            </a:br>
            <a:br>
              <a:rPr lang="en-ID" dirty="0"/>
            </a:br>
            <a:r>
              <a:rPr lang="en-ID" b="1" i="0" dirty="0">
                <a:solidFill>
                  <a:srgbClr val="000000"/>
                </a:solidFill>
                <a:effectLst/>
                <a:latin typeface="Montserrat-FF"/>
              </a:rPr>
              <a:t>4. Floor Supervisor</a:t>
            </a:r>
            <a:br>
              <a:rPr lang="en-ID" dirty="0"/>
            </a:br>
            <a:r>
              <a:rPr lang="en-ID" dirty="0" err="1">
                <a:solidFill>
                  <a:srgbClr val="000000"/>
                </a:solidFill>
                <a:latin typeface="Montserrat-FF"/>
              </a:rPr>
              <a:t>B</a:t>
            </a:r>
            <a:r>
              <a:rPr lang="en-ID" b="0" i="0" dirty="0" err="1">
                <a:solidFill>
                  <a:srgbClr val="000000"/>
                </a:solidFill>
                <a:effectLst/>
                <a:latin typeface="Montserrat-FF"/>
              </a:rPr>
              <a:t>ertugas</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memastikan</a:t>
            </a:r>
            <a:r>
              <a:rPr lang="en-ID" b="0" i="0" dirty="0">
                <a:solidFill>
                  <a:srgbClr val="000000"/>
                </a:solidFill>
                <a:effectLst/>
                <a:latin typeface="Montserrat-FF"/>
              </a:rPr>
              <a:t> para </a:t>
            </a:r>
            <a:r>
              <a:rPr lang="en-ID" b="0" i="0" dirty="0" err="1">
                <a:solidFill>
                  <a:srgbClr val="000000"/>
                </a:solidFill>
                <a:effectLst/>
                <a:latin typeface="Montserrat-FF"/>
              </a:rPr>
              <a:t>tamu</a:t>
            </a:r>
            <a:r>
              <a:rPr lang="en-ID" b="0" i="0" dirty="0">
                <a:solidFill>
                  <a:srgbClr val="000000"/>
                </a:solidFill>
                <a:effectLst/>
                <a:latin typeface="Montserrat-FF"/>
              </a:rPr>
              <a:t> </a:t>
            </a:r>
            <a:r>
              <a:rPr lang="en-ID" b="0" i="0" dirty="0" err="1">
                <a:solidFill>
                  <a:srgbClr val="000000"/>
                </a:solidFill>
                <a:effectLst/>
                <a:latin typeface="Montserrat-FF"/>
              </a:rPr>
              <a:t>mendapat</a:t>
            </a:r>
            <a:r>
              <a:rPr lang="en-ID" b="0" i="0" dirty="0">
                <a:solidFill>
                  <a:srgbClr val="000000"/>
                </a:solidFill>
                <a:effectLst/>
                <a:latin typeface="Montserrat-FF"/>
              </a:rPr>
              <a:t> </a:t>
            </a:r>
            <a:r>
              <a:rPr lang="en-ID" b="0" i="0" dirty="0" err="1">
                <a:solidFill>
                  <a:srgbClr val="000000"/>
                </a:solidFill>
                <a:effectLst/>
                <a:latin typeface="Montserrat-FF"/>
              </a:rPr>
              <a:t>pelayanan</a:t>
            </a:r>
            <a:r>
              <a:rPr lang="en-ID" b="0" i="0" dirty="0">
                <a:solidFill>
                  <a:srgbClr val="000000"/>
                </a:solidFill>
                <a:effectLst/>
                <a:latin typeface="Montserrat-FF"/>
              </a:rPr>
              <a:t> </a:t>
            </a:r>
            <a:r>
              <a:rPr lang="en-ID" b="0" i="0" dirty="0" err="1">
                <a:solidFill>
                  <a:srgbClr val="000000"/>
                </a:solidFill>
                <a:effectLst/>
                <a:latin typeface="Montserrat-FF"/>
              </a:rPr>
              <a:t>terbaik</a:t>
            </a:r>
            <a:r>
              <a:rPr lang="en-ID" b="0" i="0" dirty="0">
                <a:solidFill>
                  <a:srgbClr val="000000"/>
                </a:solidFill>
                <a:effectLst/>
                <a:latin typeface="Montserrat-FF"/>
              </a:rPr>
              <a:t> </a:t>
            </a:r>
            <a:r>
              <a:rPr lang="en-ID" b="0" i="0" dirty="0" err="1">
                <a:solidFill>
                  <a:srgbClr val="000000"/>
                </a:solidFill>
                <a:effectLst/>
                <a:latin typeface="Montserrat-FF"/>
              </a:rPr>
              <a:t>saat</a:t>
            </a:r>
            <a:r>
              <a:rPr lang="en-ID" b="0" i="0" dirty="0">
                <a:solidFill>
                  <a:srgbClr val="000000"/>
                </a:solidFill>
                <a:effectLst/>
                <a:latin typeface="Montserrat-FF"/>
              </a:rPr>
              <a:t> </a:t>
            </a:r>
            <a:r>
              <a:rPr lang="en-ID" b="0" i="0" dirty="0" err="1">
                <a:solidFill>
                  <a:srgbClr val="000000"/>
                </a:solidFill>
                <a:effectLst/>
                <a:latin typeface="Montserrat-FF"/>
              </a:rPr>
              <a:t>menginap</a:t>
            </a:r>
            <a:r>
              <a:rPr lang="en-ID" b="0" i="0" dirty="0">
                <a:solidFill>
                  <a:srgbClr val="000000"/>
                </a:solidFill>
                <a:effectLst/>
                <a:latin typeface="Montserrat-FF"/>
              </a:rPr>
              <a:t> di hotel. Di </a:t>
            </a:r>
            <a:r>
              <a:rPr lang="en-ID" b="0" i="0" dirty="0" err="1">
                <a:solidFill>
                  <a:srgbClr val="000000"/>
                </a:solidFill>
                <a:effectLst/>
                <a:latin typeface="Montserrat-FF"/>
              </a:rPr>
              <a:t>sini</a:t>
            </a:r>
            <a:r>
              <a:rPr lang="en-ID" b="0" i="0" dirty="0">
                <a:solidFill>
                  <a:srgbClr val="000000"/>
                </a:solidFill>
                <a:effectLst/>
                <a:latin typeface="Montserrat-FF"/>
              </a:rPr>
              <a:t>, </a:t>
            </a:r>
            <a:r>
              <a:rPr lang="en-ID" b="0" i="0" dirty="0" err="1">
                <a:solidFill>
                  <a:srgbClr val="000000"/>
                </a:solidFill>
                <a:effectLst/>
                <a:latin typeface="Montserrat-FF"/>
              </a:rPr>
              <a:t>petugas</a:t>
            </a:r>
            <a:r>
              <a:rPr lang="en-ID" b="0" i="0" dirty="0">
                <a:solidFill>
                  <a:srgbClr val="000000"/>
                </a:solidFill>
                <a:effectLst/>
                <a:latin typeface="Montserrat-FF"/>
              </a:rPr>
              <a:t> floor supervisor </a:t>
            </a:r>
            <a:r>
              <a:rPr lang="en-ID" b="0" i="0" dirty="0" err="1">
                <a:solidFill>
                  <a:srgbClr val="000000"/>
                </a:solidFill>
                <a:effectLst/>
                <a:latin typeface="Montserrat-FF"/>
              </a:rPr>
              <a:t>harus</a:t>
            </a:r>
            <a:r>
              <a:rPr lang="en-ID" b="0" i="0" dirty="0">
                <a:solidFill>
                  <a:srgbClr val="000000"/>
                </a:solidFill>
                <a:effectLst/>
                <a:latin typeface="Montserrat-FF"/>
              </a:rPr>
              <a:t> </a:t>
            </a:r>
            <a:r>
              <a:rPr lang="en-ID" b="0" i="0" dirty="0" err="1">
                <a:solidFill>
                  <a:srgbClr val="000000"/>
                </a:solidFill>
                <a:effectLst/>
                <a:latin typeface="Montserrat-FF"/>
              </a:rPr>
              <a:t>tampil</a:t>
            </a:r>
            <a:r>
              <a:rPr lang="en-ID" b="0" i="0" dirty="0">
                <a:solidFill>
                  <a:srgbClr val="000000"/>
                </a:solidFill>
                <a:effectLst/>
                <a:latin typeface="Montserrat-FF"/>
              </a:rPr>
              <a:t> </a:t>
            </a:r>
            <a:r>
              <a:rPr lang="en-ID" b="0" i="0" dirty="0" err="1">
                <a:solidFill>
                  <a:srgbClr val="000000"/>
                </a:solidFill>
                <a:effectLst/>
                <a:latin typeface="Montserrat-FF"/>
              </a:rPr>
              <a:t>baik</a:t>
            </a:r>
            <a:r>
              <a:rPr lang="en-ID" b="0" i="0" dirty="0">
                <a:solidFill>
                  <a:srgbClr val="000000"/>
                </a:solidFill>
                <a:effectLst/>
                <a:latin typeface="Montserrat-FF"/>
              </a:rPr>
              <a:t> dan </a:t>
            </a:r>
            <a:r>
              <a:rPr lang="en-ID" b="0" i="0" dirty="0" err="1">
                <a:solidFill>
                  <a:srgbClr val="000000"/>
                </a:solidFill>
                <a:effectLst/>
                <a:latin typeface="Montserrat-FF"/>
              </a:rPr>
              <a:t>ramah</a:t>
            </a:r>
            <a:r>
              <a:rPr lang="en-ID" b="0" i="0" dirty="0">
                <a:solidFill>
                  <a:srgbClr val="000000"/>
                </a:solidFill>
                <a:effectLst/>
                <a:latin typeface="Montserrat-FF"/>
              </a:rPr>
              <a:t> </a:t>
            </a:r>
            <a:r>
              <a:rPr lang="en-ID" b="0" i="0" dirty="0" err="1">
                <a:solidFill>
                  <a:srgbClr val="000000"/>
                </a:solidFill>
                <a:effectLst/>
                <a:latin typeface="Montserrat-FF"/>
              </a:rPr>
              <a:t>kepada</a:t>
            </a:r>
            <a:r>
              <a:rPr lang="en-ID" b="0" i="0" dirty="0">
                <a:solidFill>
                  <a:srgbClr val="000000"/>
                </a:solidFill>
                <a:effectLst/>
                <a:latin typeface="Montserrat-FF"/>
              </a:rPr>
              <a:t> </a:t>
            </a:r>
            <a:r>
              <a:rPr lang="en-ID" b="0" i="0" dirty="0" err="1">
                <a:solidFill>
                  <a:srgbClr val="000000"/>
                </a:solidFill>
                <a:effectLst/>
                <a:latin typeface="Montserrat-FF"/>
              </a:rPr>
              <a:t>seluruh</a:t>
            </a:r>
            <a:r>
              <a:rPr lang="en-ID" b="0" i="0" dirty="0">
                <a:solidFill>
                  <a:srgbClr val="000000"/>
                </a:solidFill>
                <a:effectLst/>
                <a:latin typeface="Montserrat-FF"/>
              </a:rPr>
              <a:t> </a:t>
            </a:r>
            <a:r>
              <a:rPr lang="en-ID" b="0" i="0" dirty="0" err="1">
                <a:solidFill>
                  <a:srgbClr val="000000"/>
                </a:solidFill>
                <a:effectLst/>
                <a:latin typeface="Montserrat-FF"/>
              </a:rPr>
              <a:t>tamu</a:t>
            </a:r>
            <a:r>
              <a:rPr lang="en-ID" b="0" i="0" dirty="0">
                <a:solidFill>
                  <a:srgbClr val="000000"/>
                </a:solidFill>
                <a:effectLst/>
                <a:latin typeface="Montserrat-FF"/>
              </a:rPr>
              <a:t>, </a:t>
            </a:r>
            <a:r>
              <a:rPr lang="en-ID" b="0" i="0" dirty="0" err="1">
                <a:solidFill>
                  <a:srgbClr val="000000"/>
                </a:solidFill>
                <a:effectLst/>
                <a:latin typeface="Montserrat-FF"/>
              </a:rPr>
              <a:t>sebab</a:t>
            </a:r>
            <a:r>
              <a:rPr lang="en-ID" b="0" i="0" dirty="0">
                <a:solidFill>
                  <a:srgbClr val="000000"/>
                </a:solidFill>
                <a:effectLst/>
                <a:latin typeface="Montserrat-FF"/>
              </a:rPr>
              <a:t> </a:t>
            </a:r>
            <a:r>
              <a:rPr lang="en-ID" b="0" i="0" dirty="0" err="1">
                <a:solidFill>
                  <a:srgbClr val="000000"/>
                </a:solidFill>
                <a:effectLst/>
                <a:latin typeface="Montserrat-FF"/>
              </a:rPr>
              <a:t>hal</a:t>
            </a:r>
            <a:r>
              <a:rPr lang="en-ID" b="0" i="0" dirty="0">
                <a:solidFill>
                  <a:srgbClr val="000000"/>
                </a:solidFill>
                <a:effectLst/>
                <a:latin typeface="Montserrat-FF"/>
              </a:rPr>
              <a:t> </a:t>
            </a:r>
            <a:r>
              <a:rPr lang="en-ID" b="0" i="0" dirty="0" err="1">
                <a:solidFill>
                  <a:srgbClr val="000000"/>
                </a:solidFill>
                <a:effectLst/>
                <a:latin typeface="Montserrat-FF"/>
              </a:rPr>
              <a:t>ini</a:t>
            </a:r>
            <a:r>
              <a:rPr lang="en-ID" b="0" i="0" dirty="0">
                <a:solidFill>
                  <a:srgbClr val="000000"/>
                </a:solidFill>
                <a:effectLst/>
                <a:latin typeface="Montserrat-FF"/>
              </a:rPr>
              <a:t> </a:t>
            </a:r>
            <a:r>
              <a:rPr lang="en-ID" b="0" i="0" dirty="0" err="1">
                <a:solidFill>
                  <a:srgbClr val="000000"/>
                </a:solidFill>
                <a:effectLst/>
                <a:latin typeface="Montserrat-FF"/>
              </a:rPr>
              <a:t>akan</a:t>
            </a:r>
            <a:r>
              <a:rPr lang="en-ID" b="0" i="0" dirty="0">
                <a:solidFill>
                  <a:srgbClr val="000000"/>
                </a:solidFill>
                <a:effectLst/>
                <a:latin typeface="Montserrat-FF"/>
              </a:rPr>
              <a:t> </a:t>
            </a:r>
            <a:r>
              <a:rPr lang="en-ID" b="0" i="0" dirty="0" err="1">
                <a:solidFill>
                  <a:srgbClr val="000000"/>
                </a:solidFill>
                <a:effectLst/>
                <a:latin typeface="Montserrat-FF"/>
              </a:rPr>
              <a:t>terkait</a:t>
            </a:r>
            <a:r>
              <a:rPr lang="en-ID" b="0" i="0" dirty="0">
                <a:solidFill>
                  <a:srgbClr val="000000"/>
                </a:solidFill>
                <a:effectLst/>
                <a:latin typeface="Montserrat-FF"/>
              </a:rPr>
              <a:t> </a:t>
            </a:r>
            <a:r>
              <a:rPr lang="en-ID" b="0" i="0" dirty="0" err="1">
                <a:solidFill>
                  <a:srgbClr val="000000"/>
                </a:solidFill>
                <a:effectLst/>
                <a:latin typeface="Montserrat-FF"/>
              </a:rPr>
              <a:t>dengan</a:t>
            </a:r>
            <a:r>
              <a:rPr lang="en-ID" b="0" i="0" dirty="0">
                <a:solidFill>
                  <a:srgbClr val="000000"/>
                </a:solidFill>
                <a:effectLst/>
                <a:latin typeface="Montserrat-FF"/>
              </a:rPr>
              <a:t> </a:t>
            </a:r>
            <a:r>
              <a:rPr lang="en-ID" b="0" i="0" dirty="0" err="1">
                <a:solidFill>
                  <a:srgbClr val="000000"/>
                </a:solidFill>
                <a:effectLst/>
                <a:latin typeface="Montserrat-FF"/>
              </a:rPr>
              <a:t>reputasi</a:t>
            </a:r>
            <a:r>
              <a:rPr lang="en-ID" b="0" i="0" dirty="0">
                <a:solidFill>
                  <a:srgbClr val="000000"/>
                </a:solidFill>
                <a:effectLst/>
                <a:latin typeface="Montserrat-FF"/>
              </a:rPr>
              <a:t> hotel </a:t>
            </a:r>
            <a:r>
              <a:rPr lang="en-ID" b="0" i="0" dirty="0" err="1">
                <a:solidFill>
                  <a:srgbClr val="000000"/>
                </a:solidFill>
                <a:effectLst/>
                <a:latin typeface="Montserrat-FF"/>
              </a:rPr>
              <a:t>ke</a:t>
            </a:r>
            <a:r>
              <a:rPr lang="en-ID" b="0" i="0" dirty="0">
                <a:solidFill>
                  <a:srgbClr val="000000"/>
                </a:solidFill>
                <a:effectLst/>
                <a:latin typeface="Montserrat-FF"/>
              </a:rPr>
              <a:t> </a:t>
            </a:r>
            <a:r>
              <a:rPr lang="en-ID" b="0" i="0" dirty="0" err="1">
                <a:solidFill>
                  <a:srgbClr val="000000"/>
                </a:solidFill>
                <a:effectLst/>
                <a:latin typeface="Montserrat-FF"/>
              </a:rPr>
              <a:t>depannya</a:t>
            </a:r>
            <a:r>
              <a:rPr lang="en-ID" b="0" i="0" dirty="0">
                <a:solidFill>
                  <a:srgbClr val="000000"/>
                </a:solidFill>
                <a:effectLst/>
                <a:latin typeface="Montserrat-FF"/>
              </a:rPr>
              <a:t>.</a:t>
            </a:r>
            <a:br>
              <a:rPr lang="en-ID" dirty="0"/>
            </a:br>
            <a:br>
              <a:rPr lang="en-ID" dirty="0"/>
            </a:br>
            <a:r>
              <a:rPr lang="en-ID" b="1" i="0" dirty="0">
                <a:solidFill>
                  <a:srgbClr val="000000"/>
                </a:solidFill>
                <a:effectLst/>
                <a:latin typeface="Montserrat-FF"/>
              </a:rPr>
              <a:t>5. Housekeeper</a:t>
            </a:r>
            <a:br>
              <a:rPr lang="en-ID" dirty="0"/>
            </a:br>
            <a:r>
              <a:rPr lang="en-ID" b="0" i="0" dirty="0" err="1">
                <a:solidFill>
                  <a:srgbClr val="000000"/>
                </a:solidFill>
                <a:effectLst/>
                <a:latin typeface="Montserrat-FF"/>
              </a:rPr>
              <a:t>Posisi</a:t>
            </a:r>
            <a:r>
              <a:rPr lang="en-ID" b="0" i="0" dirty="0">
                <a:solidFill>
                  <a:srgbClr val="000000"/>
                </a:solidFill>
                <a:effectLst/>
                <a:latin typeface="Montserrat-FF"/>
              </a:rPr>
              <a:t> housekeeper juga </a:t>
            </a:r>
            <a:r>
              <a:rPr lang="en-ID" b="0" i="0" dirty="0" err="1">
                <a:solidFill>
                  <a:srgbClr val="000000"/>
                </a:solidFill>
                <a:effectLst/>
                <a:latin typeface="Montserrat-FF"/>
              </a:rPr>
              <a:t>berhadapan</a:t>
            </a:r>
            <a:r>
              <a:rPr lang="en-ID" b="0" i="0" dirty="0">
                <a:solidFill>
                  <a:srgbClr val="000000"/>
                </a:solidFill>
                <a:effectLst/>
                <a:latin typeface="Montserrat-FF"/>
              </a:rPr>
              <a:t> </a:t>
            </a:r>
            <a:r>
              <a:rPr lang="en-ID" b="0" i="0" dirty="0" err="1">
                <a:solidFill>
                  <a:srgbClr val="000000"/>
                </a:solidFill>
                <a:effectLst/>
                <a:latin typeface="Montserrat-FF"/>
              </a:rPr>
              <a:t>langsung</a:t>
            </a:r>
            <a:r>
              <a:rPr lang="en-ID" b="0" i="0" dirty="0">
                <a:solidFill>
                  <a:srgbClr val="000000"/>
                </a:solidFill>
                <a:effectLst/>
                <a:latin typeface="Montserrat-FF"/>
              </a:rPr>
              <a:t> </a:t>
            </a:r>
            <a:r>
              <a:rPr lang="en-ID" b="0" i="0" dirty="0" err="1">
                <a:solidFill>
                  <a:srgbClr val="000000"/>
                </a:solidFill>
                <a:effectLst/>
                <a:latin typeface="Montserrat-FF"/>
              </a:rPr>
              <a:t>dengan</a:t>
            </a:r>
            <a:r>
              <a:rPr lang="en-ID" b="0" i="0" dirty="0">
                <a:solidFill>
                  <a:srgbClr val="000000"/>
                </a:solidFill>
                <a:effectLst/>
                <a:latin typeface="Montserrat-FF"/>
              </a:rPr>
              <a:t> </a:t>
            </a:r>
            <a:r>
              <a:rPr lang="en-ID" b="0" i="0" dirty="0" err="1">
                <a:solidFill>
                  <a:srgbClr val="000000"/>
                </a:solidFill>
                <a:effectLst/>
                <a:latin typeface="Montserrat-FF"/>
              </a:rPr>
              <a:t>tamu</a:t>
            </a:r>
            <a:r>
              <a:rPr lang="en-ID" b="0" i="0" dirty="0">
                <a:solidFill>
                  <a:srgbClr val="000000"/>
                </a:solidFill>
                <a:effectLst/>
                <a:latin typeface="Montserrat-FF"/>
              </a:rPr>
              <a:t> yang </a:t>
            </a:r>
            <a:r>
              <a:rPr lang="en-ID" b="0" i="0" dirty="0" err="1">
                <a:solidFill>
                  <a:srgbClr val="000000"/>
                </a:solidFill>
                <a:effectLst/>
                <a:latin typeface="Montserrat-FF"/>
              </a:rPr>
              <a:t>menginap</a:t>
            </a:r>
            <a:r>
              <a:rPr lang="en-ID" b="0" i="0" dirty="0">
                <a:solidFill>
                  <a:srgbClr val="000000"/>
                </a:solidFill>
                <a:effectLst/>
                <a:latin typeface="Montserrat-FF"/>
              </a:rPr>
              <a:t>. </a:t>
            </a:r>
            <a:r>
              <a:rPr lang="en-ID" b="0" i="0" dirty="0" err="1">
                <a:solidFill>
                  <a:srgbClr val="000000"/>
                </a:solidFill>
                <a:effectLst/>
                <a:latin typeface="Montserrat-FF"/>
              </a:rPr>
              <a:t>Tugas</a:t>
            </a:r>
            <a:r>
              <a:rPr lang="en-ID" b="0" i="0" dirty="0">
                <a:solidFill>
                  <a:srgbClr val="000000"/>
                </a:solidFill>
                <a:effectLst/>
                <a:latin typeface="Montserrat-FF"/>
              </a:rPr>
              <a:t> </a:t>
            </a:r>
            <a:r>
              <a:rPr lang="en-ID" b="0" i="0" dirty="0" err="1">
                <a:solidFill>
                  <a:srgbClr val="000000"/>
                </a:solidFill>
                <a:effectLst/>
                <a:latin typeface="Montserrat-FF"/>
              </a:rPr>
              <a:t>mereka</a:t>
            </a:r>
            <a:r>
              <a:rPr lang="en-ID" b="0" i="0" dirty="0">
                <a:solidFill>
                  <a:srgbClr val="000000"/>
                </a:solidFill>
                <a:effectLst/>
                <a:latin typeface="Montserrat-FF"/>
              </a:rPr>
              <a:t> </a:t>
            </a:r>
            <a:r>
              <a:rPr lang="en-ID" b="0" i="0" dirty="0" err="1">
                <a:solidFill>
                  <a:srgbClr val="000000"/>
                </a:solidFill>
                <a:effectLst/>
                <a:latin typeface="Montserrat-FF"/>
              </a:rPr>
              <a:t>adalah</a:t>
            </a:r>
            <a:r>
              <a:rPr lang="en-ID" b="0" i="0" dirty="0">
                <a:solidFill>
                  <a:srgbClr val="000000"/>
                </a:solidFill>
                <a:effectLst/>
                <a:latin typeface="Montserrat-FF"/>
              </a:rPr>
              <a:t> </a:t>
            </a:r>
            <a:r>
              <a:rPr lang="en-ID" b="0" i="0" dirty="0" err="1">
                <a:solidFill>
                  <a:srgbClr val="000000"/>
                </a:solidFill>
                <a:effectLst/>
                <a:latin typeface="Montserrat-FF"/>
              </a:rPr>
              <a:t>membersihkan</a:t>
            </a:r>
            <a:r>
              <a:rPr lang="en-ID" b="0" i="0" dirty="0">
                <a:solidFill>
                  <a:srgbClr val="000000"/>
                </a:solidFill>
                <a:effectLst/>
                <a:latin typeface="Montserrat-FF"/>
              </a:rPr>
              <a:t> </a:t>
            </a:r>
            <a:r>
              <a:rPr lang="en-ID" b="0" i="0" dirty="0" err="1">
                <a:solidFill>
                  <a:srgbClr val="000000"/>
                </a:solidFill>
                <a:effectLst/>
                <a:latin typeface="Montserrat-FF"/>
              </a:rPr>
              <a:t>kamar</a:t>
            </a:r>
            <a:r>
              <a:rPr lang="en-ID" b="0" i="0" dirty="0">
                <a:solidFill>
                  <a:srgbClr val="000000"/>
                </a:solidFill>
                <a:effectLst/>
                <a:latin typeface="Montserrat-FF"/>
              </a:rPr>
              <a:t> </a:t>
            </a:r>
            <a:r>
              <a:rPr lang="en-ID" b="0" i="0" dirty="0" err="1">
                <a:solidFill>
                  <a:srgbClr val="000000"/>
                </a:solidFill>
                <a:effectLst/>
                <a:latin typeface="Montserrat-FF"/>
              </a:rPr>
              <a:t>setelah</a:t>
            </a:r>
            <a:r>
              <a:rPr lang="en-ID" b="0" i="0" dirty="0">
                <a:solidFill>
                  <a:srgbClr val="000000"/>
                </a:solidFill>
                <a:effectLst/>
                <a:latin typeface="Montserrat-FF"/>
              </a:rPr>
              <a:t> </a:t>
            </a:r>
            <a:r>
              <a:rPr lang="en-ID" b="0" i="0" dirty="0" err="1">
                <a:solidFill>
                  <a:srgbClr val="000000"/>
                </a:solidFill>
                <a:effectLst/>
                <a:latin typeface="Montserrat-FF"/>
              </a:rPr>
              <a:t>ditempati</a:t>
            </a:r>
            <a:r>
              <a:rPr lang="en-ID" b="0" i="0" dirty="0">
                <a:solidFill>
                  <a:srgbClr val="000000"/>
                </a:solidFill>
                <a:effectLst/>
                <a:latin typeface="Montserrat-FF"/>
              </a:rPr>
              <a:t> </a:t>
            </a:r>
            <a:r>
              <a:rPr lang="en-ID" b="0" i="0" dirty="0" err="1">
                <a:solidFill>
                  <a:srgbClr val="000000"/>
                </a:solidFill>
                <a:effectLst/>
                <a:latin typeface="Montserrat-FF"/>
              </a:rPr>
              <a:t>hingga</a:t>
            </a:r>
            <a:r>
              <a:rPr lang="en-ID" b="0" i="0" dirty="0">
                <a:solidFill>
                  <a:srgbClr val="000000"/>
                </a:solidFill>
                <a:effectLst/>
                <a:latin typeface="Montserrat-FF"/>
              </a:rPr>
              <a:t> </a:t>
            </a:r>
            <a:r>
              <a:rPr lang="en-ID" b="0" i="0" dirty="0" err="1">
                <a:solidFill>
                  <a:srgbClr val="000000"/>
                </a:solidFill>
                <a:effectLst/>
                <a:latin typeface="Montserrat-FF"/>
              </a:rPr>
              <a:t>memastikan</a:t>
            </a:r>
            <a:r>
              <a:rPr lang="en-ID" b="0" i="0" dirty="0">
                <a:solidFill>
                  <a:srgbClr val="000000"/>
                </a:solidFill>
                <a:effectLst/>
                <a:latin typeface="Montserrat-FF"/>
              </a:rPr>
              <a:t> </a:t>
            </a:r>
            <a:r>
              <a:rPr lang="en-ID" b="0" i="0" dirty="0" err="1">
                <a:solidFill>
                  <a:srgbClr val="000000"/>
                </a:solidFill>
                <a:effectLst/>
                <a:latin typeface="Montserrat-FF"/>
              </a:rPr>
              <a:t>seluruh</a:t>
            </a:r>
            <a:r>
              <a:rPr lang="en-ID" b="0" i="0" dirty="0">
                <a:solidFill>
                  <a:srgbClr val="000000"/>
                </a:solidFill>
                <a:effectLst/>
                <a:latin typeface="Montserrat-FF"/>
              </a:rPr>
              <a:t> </a:t>
            </a:r>
            <a:r>
              <a:rPr lang="en-ID" b="0" i="0" dirty="0" err="1">
                <a:solidFill>
                  <a:srgbClr val="000000"/>
                </a:solidFill>
                <a:effectLst/>
                <a:latin typeface="Montserrat-FF"/>
              </a:rPr>
              <a:t>kamar</a:t>
            </a:r>
            <a:r>
              <a:rPr lang="en-ID" b="0" i="0" dirty="0">
                <a:solidFill>
                  <a:srgbClr val="000000"/>
                </a:solidFill>
                <a:effectLst/>
                <a:latin typeface="Montserrat-FF"/>
              </a:rPr>
              <a:t> </a:t>
            </a:r>
            <a:r>
              <a:rPr lang="en-ID" b="0" i="0" dirty="0" err="1">
                <a:solidFill>
                  <a:srgbClr val="000000"/>
                </a:solidFill>
                <a:effectLst/>
                <a:latin typeface="Montserrat-FF"/>
              </a:rPr>
              <a:t>dalam</a:t>
            </a:r>
            <a:r>
              <a:rPr lang="en-ID" b="0" i="0" dirty="0">
                <a:solidFill>
                  <a:srgbClr val="000000"/>
                </a:solidFill>
                <a:effectLst/>
                <a:latin typeface="Montserrat-FF"/>
              </a:rPr>
              <a:t> </a:t>
            </a:r>
            <a:r>
              <a:rPr lang="en-ID" b="0" i="0" dirty="0" err="1">
                <a:solidFill>
                  <a:srgbClr val="000000"/>
                </a:solidFill>
                <a:effectLst/>
                <a:latin typeface="Montserrat-FF"/>
              </a:rPr>
              <a:t>keadaan</a:t>
            </a:r>
            <a:r>
              <a:rPr lang="en-ID" b="0" i="0" dirty="0">
                <a:solidFill>
                  <a:srgbClr val="000000"/>
                </a:solidFill>
                <a:effectLst/>
                <a:latin typeface="Montserrat-FF"/>
              </a:rPr>
              <a:t> </a:t>
            </a:r>
            <a:r>
              <a:rPr lang="en-ID" b="0" i="0" dirty="0" err="1">
                <a:solidFill>
                  <a:srgbClr val="000000"/>
                </a:solidFill>
                <a:effectLst/>
                <a:latin typeface="Montserrat-FF"/>
              </a:rPr>
              <a:t>bersih</a:t>
            </a:r>
            <a:r>
              <a:rPr lang="en-ID" b="0" i="0" dirty="0">
                <a:solidFill>
                  <a:srgbClr val="000000"/>
                </a:solidFill>
                <a:effectLst/>
                <a:latin typeface="Montserrat-FF"/>
              </a:rPr>
              <a:t> dan </a:t>
            </a:r>
            <a:r>
              <a:rPr lang="en-ID" b="0" i="0" dirty="0" err="1">
                <a:solidFill>
                  <a:srgbClr val="000000"/>
                </a:solidFill>
                <a:effectLst/>
                <a:latin typeface="Montserrat-FF"/>
              </a:rPr>
              <a:t>baik</a:t>
            </a:r>
            <a:r>
              <a:rPr lang="en-ID" b="0" i="0" dirty="0">
                <a:solidFill>
                  <a:srgbClr val="000000"/>
                </a:solidFill>
                <a:effectLst/>
                <a:latin typeface="Montserrat-FF"/>
              </a:rPr>
              <a:t>. </a:t>
            </a:r>
            <a:r>
              <a:rPr lang="en-ID" b="0" i="0" dirty="0" err="1">
                <a:solidFill>
                  <a:srgbClr val="000000"/>
                </a:solidFill>
                <a:effectLst/>
                <a:latin typeface="Montserrat-FF"/>
              </a:rPr>
              <a:t>Untuk</a:t>
            </a:r>
            <a:r>
              <a:rPr lang="en-ID" b="0" i="0" dirty="0">
                <a:solidFill>
                  <a:srgbClr val="000000"/>
                </a:solidFill>
                <a:effectLst/>
                <a:latin typeface="Montserrat-FF"/>
              </a:rPr>
              <a:t> </a:t>
            </a:r>
            <a:r>
              <a:rPr lang="en-ID" b="0" i="0" dirty="0" err="1">
                <a:solidFill>
                  <a:srgbClr val="000000"/>
                </a:solidFill>
                <a:effectLst/>
                <a:latin typeface="Montserrat-FF"/>
              </a:rPr>
              <a:t>itu</a:t>
            </a:r>
            <a:r>
              <a:rPr lang="en-ID" b="0" i="0" dirty="0">
                <a:solidFill>
                  <a:srgbClr val="000000"/>
                </a:solidFill>
                <a:effectLst/>
                <a:latin typeface="Montserrat-FF"/>
              </a:rPr>
              <a:t>, </a:t>
            </a:r>
            <a:r>
              <a:rPr lang="en-ID" b="0" i="0" dirty="0" err="1">
                <a:solidFill>
                  <a:srgbClr val="000000"/>
                </a:solidFill>
                <a:effectLst/>
                <a:latin typeface="Montserrat-FF"/>
              </a:rPr>
              <a:t>seorang</a:t>
            </a:r>
            <a:r>
              <a:rPr lang="en-ID" b="0" i="0" dirty="0">
                <a:solidFill>
                  <a:srgbClr val="000000"/>
                </a:solidFill>
                <a:effectLst/>
                <a:latin typeface="Montserrat-FF"/>
              </a:rPr>
              <a:t> housekeeper </a:t>
            </a:r>
            <a:r>
              <a:rPr lang="en-ID" b="0" i="0" dirty="0" err="1">
                <a:solidFill>
                  <a:srgbClr val="000000"/>
                </a:solidFill>
                <a:effectLst/>
                <a:latin typeface="Montserrat-FF"/>
              </a:rPr>
              <a:t>harus</a:t>
            </a:r>
            <a:r>
              <a:rPr lang="en-ID" b="0" i="0" dirty="0">
                <a:solidFill>
                  <a:srgbClr val="000000"/>
                </a:solidFill>
                <a:effectLst/>
                <a:latin typeface="Montserrat-FF"/>
              </a:rPr>
              <a:t> </a:t>
            </a:r>
            <a:r>
              <a:rPr lang="en-ID" b="0" i="0" dirty="0" err="1">
                <a:solidFill>
                  <a:srgbClr val="000000"/>
                </a:solidFill>
                <a:effectLst/>
                <a:latin typeface="Montserrat-FF"/>
              </a:rPr>
              <a:t>memiliki</a:t>
            </a:r>
            <a:r>
              <a:rPr lang="en-ID" b="0" i="0" dirty="0">
                <a:solidFill>
                  <a:srgbClr val="000000"/>
                </a:solidFill>
                <a:effectLst/>
                <a:latin typeface="Montserrat-FF"/>
              </a:rPr>
              <a:t> skill yang </a:t>
            </a:r>
            <a:r>
              <a:rPr lang="en-ID" b="0" i="0" dirty="0" err="1">
                <a:solidFill>
                  <a:srgbClr val="000000"/>
                </a:solidFill>
                <a:effectLst/>
                <a:latin typeface="Montserrat-FF"/>
              </a:rPr>
              <a:t>bagus</a:t>
            </a:r>
            <a:r>
              <a:rPr lang="en-ID" b="0" i="0" dirty="0">
                <a:solidFill>
                  <a:srgbClr val="000000"/>
                </a:solidFill>
                <a:effectLst/>
                <a:latin typeface="Montserrat-FF"/>
              </a:rPr>
              <a:t> </a:t>
            </a:r>
            <a:r>
              <a:rPr lang="en-ID" b="0" i="0" dirty="0" err="1">
                <a:solidFill>
                  <a:srgbClr val="000000"/>
                </a:solidFill>
                <a:effectLst/>
                <a:latin typeface="Montserrat-FF"/>
              </a:rPr>
              <a:t>serta</a:t>
            </a:r>
            <a:r>
              <a:rPr lang="en-ID" b="0" i="0" dirty="0">
                <a:solidFill>
                  <a:srgbClr val="000000"/>
                </a:solidFill>
                <a:effectLst/>
                <a:latin typeface="Montserrat-FF"/>
              </a:rPr>
              <a:t> </a:t>
            </a:r>
            <a:r>
              <a:rPr lang="en-ID" b="0" i="0" dirty="0" err="1">
                <a:solidFill>
                  <a:srgbClr val="000000"/>
                </a:solidFill>
                <a:effectLst/>
                <a:latin typeface="Montserrat-FF"/>
              </a:rPr>
              <a:t>sikap</a:t>
            </a:r>
            <a:r>
              <a:rPr lang="en-ID" b="0" i="0" dirty="0">
                <a:solidFill>
                  <a:srgbClr val="000000"/>
                </a:solidFill>
                <a:effectLst/>
                <a:latin typeface="Montserrat-FF"/>
              </a:rPr>
              <a:t> yang </a:t>
            </a:r>
            <a:r>
              <a:rPr lang="en-ID" b="0" i="0" dirty="0" err="1">
                <a:solidFill>
                  <a:srgbClr val="000000"/>
                </a:solidFill>
                <a:effectLst/>
                <a:latin typeface="Montserrat-FF"/>
              </a:rPr>
              <a:t>ramah</a:t>
            </a:r>
            <a:r>
              <a:rPr lang="en-ID" b="0" i="0" dirty="0">
                <a:solidFill>
                  <a:srgbClr val="000000"/>
                </a:solidFill>
                <a:effectLst/>
                <a:latin typeface="Montserrat-FF"/>
              </a:rPr>
              <a:t>.</a:t>
            </a:r>
            <a:br>
              <a:rPr lang="en-ID" dirty="0"/>
            </a:br>
            <a:br>
              <a:rPr lang="en-ID" dirty="0"/>
            </a:br>
            <a:endParaRPr lang="en-ID" dirty="0"/>
          </a:p>
        </p:txBody>
      </p:sp>
    </p:spTree>
    <p:extLst>
      <p:ext uri="{BB962C8B-B14F-4D97-AF65-F5344CB8AC3E}">
        <p14:creationId xmlns:p14="http://schemas.microsoft.com/office/powerpoint/2010/main" val="27374514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F768C9-CF0E-468E-90DF-C820EA6E39E5}"/>
              </a:ext>
            </a:extLst>
          </p:cNvPr>
          <p:cNvSpPr txBox="1"/>
          <p:nvPr/>
        </p:nvSpPr>
        <p:spPr>
          <a:xfrm>
            <a:off x="1752600" y="3105835"/>
            <a:ext cx="5867400" cy="861774"/>
          </a:xfrm>
          <a:prstGeom prst="rect">
            <a:avLst/>
          </a:prstGeom>
          <a:noFill/>
        </p:spPr>
        <p:txBody>
          <a:bodyPr wrap="square">
            <a:spAutoFit/>
          </a:bodyPr>
          <a:lstStyle/>
          <a:p>
            <a:r>
              <a:rPr lang="en-ID" b="1" i="1" dirty="0">
                <a:solidFill>
                  <a:srgbClr val="000000"/>
                </a:solidFill>
                <a:latin typeface="Montserrat-FF"/>
              </a:rPr>
              <a:t>	</a:t>
            </a:r>
            <a:r>
              <a:rPr lang="en-ID" sz="3200" b="1" i="1" dirty="0">
                <a:solidFill>
                  <a:srgbClr val="FF0000"/>
                </a:solidFill>
                <a:latin typeface="Montserrat-FF"/>
              </a:rPr>
              <a:t>PERAWATAN TAMAN</a:t>
            </a:r>
            <a:br>
              <a:rPr lang="en-ID" dirty="0"/>
            </a:br>
            <a:endParaRPr lang="en-ID" dirty="0"/>
          </a:p>
        </p:txBody>
      </p:sp>
    </p:spTree>
    <p:extLst>
      <p:ext uri="{BB962C8B-B14F-4D97-AF65-F5344CB8AC3E}">
        <p14:creationId xmlns:p14="http://schemas.microsoft.com/office/powerpoint/2010/main" val="15836439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officeArt object">
            <a:extLst>
              <a:ext uri="{FF2B5EF4-FFF2-40B4-BE49-F238E27FC236}">
                <a16:creationId xmlns:a16="http://schemas.microsoft.com/office/drawing/2014/main" id="{1F3260FB-5F74-4234-AE27-FF992F2D4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36" t="4823" r="48962" b="12268"/>
          <a:stretch>
            <a:fillRect/>
          </a:stretch>
        </p:blipFill>
        <p:spPr bwMode="auto">
          <a:xfrm>
            <a:off x="1832811" y="914400"/>
            <a:ext cx="5730875" cy="476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4" name="TextBox 3">
            <a:extLst>
              <a:ext uri="{FF2B5EF4-FFF2-40B4-BE49-F238E27FC236}">
                <a16:creationId xmlns:a16="http://schemas.microsoft.com/office/drawing/2014/main" id="{ACCDA452-A97D-407E-8649-6C2321F363F6}"/>
              </a:ext>
            </a:extLst>
          </p:cNvPr>
          <p:cNvSpPr txBox="1"/>
          <p:nvPr/>
        </p:nvSpPr>
        <p:spPr>
          <a:xfrm>
            <a:off x="2209801" y="399037"/>
            <a:ext cx="5349874" cy="369332"/>
          </a:xfrm>
          <a:prstGeom prst="rect">
            <a:avLst/>
          </a:prstGeom>
          <a:noFill/>
        </p:spPr>
        <p:txBody>
          <a:bodyPr wrap="square">
            <a:spAutoFit/>
          </a:bodyPr>
          <a:lstStyle/>
          <a:p>
            <a:r>
              <a:rPr lang="en-US" sz="1800" b="1" dirty="0">
                <a:effectLst/>
                <a:latin typeface="Arial" panose="020B0604020202020204" pitchFamily="34" charset="0"/>
                <a:ea typeface="Times New Roman" panose="02020603050405020304" pitchFamily="18" charset="0"/>
                <a:cs typeface="Times New Roman" panose="02020603050405020304" pitchFamily="18" charset="0"/>
              </a:rPr>
              <a:t>DISKRIPSI TAMAN ISTANA KEPRESIDENAN</a:t>
            </a:r>
            <a:endParaRPr lang="en-ID" dirty="0"/>
          </a:p>
        </p:txBody>
      </p:sp>
      <p:sp>
        <p:nvSpPr>
          <p:cNvPr id="6" name="TextBox 5">
            <a:extLst>
              <a:ext uri="{FF2B5EF4-FFF2-40B4-BE49-F238E27FC236}">
                <a16:creationId xmlns:a16="http://schemas.microsoft.com/office/drawing/2014/main" id="{02DF3494-F401-40D3-9239-AEDD6A88496A}"/>
              </a:ext>
            </a:extLst>
          </p:cNvPr>
          <p:cNvSpPr txBox="1"/>
          <p:nvPr/>
        </p:nvSpPr>
        <p:spPr>
          <a:xfrm>
            <a:off x="762000" y="5585711"/>
            <a:ext cx="7543800" cy="873252"/>
          </a:xfrm>
          <a:prstGeom prst="rect">
            <a:avLst/>
          </a:prstGeom>
          <a:noFill/>
        </p:spPr>
        <p:txBody>
          <a:bodyPr wrap="square">
            <a:spAutoFit/>
          </a:bodyPr>
          <a:lstStyle/>
          <a:p>
            <a:pPr algn="just">
              <a:lnSpc>
                <a:spcPct val="150000"/>
              </a:lnSpc>
              <a:tabLst>
                <a:tab pos="830580" algn="l"/>
              </a:tabLst>
            </a:pPr>
            <a:r>
              <a:rPr lang="id-ID" sz="1800" b="1" dirty="0">
                <a:solidFill>
                  <a:srgbClr val="000000"/>
                </a:solidFill>
                <a:effectLst/>
                <a:uFill>
                  <a:solidFill>
                    <a:srgbClr val="000000"/>
                  </a:solidFill>
                </a:uFill>
                <a:latin typeface="Arial" panose="020B0604020202020204" pitchFamily="34" charset="0"/>
                <a:ea typeface="Arial" panose="020B0604020202020204" pitchFamily="34" charset="0"/>
              </a:rPr>
              <a:t>1.Istana merdeka, 2.Istana negara, 3. Wisma negara, 4. Kantor </a:t>
            </a:r>
            <a:r>
              <a:rPr lang="en-US" sz="1800" b="1" dirty="0">
                <a:solidFill>
                  <a:srgbClr val="000000"/>
                </a:solidFill>
                <a:effectLst/>
                <a:uFill>
                  <a:solidFill>
                    <a:srgbClr val="000000"/>
                  </a:solidFill>
                </a:uFill>
                <a:latin typeface="Arial" panose="020B0604020202020204" pitchFamily="34" charset="0"/>
                <a:ea typeface="Arial" panose="020B0604020202020204" pitchFamily="34" charset="0"/>
              </a:rPr>
              <a:t>P</a:t>
            </a:r>
            <a:r>
              <a:rPr lang="id-ID" sz="1800" b="1" dirty="0">
                <a:solidFill>
                  <a:srgbClr val="000000"/>
                </a:solidFill>
                <a:effectLst/>
                <a:uFill>
                  <a:solidFill>
                    <a:srgbClr val="000000"/>
                  </a:solidFill>
                </a:uFill>
                <a:latin typeface="Arial" panose="020B0604020202020204" pitchFamily="34" charset="0"/>
                <a:ea typeface="Arial" panose="020B0604020202020204" pitchFamily="34" charset="0"/>
              </a:rPr>
              <a:t>residen,</a:t>
            </a:r>
            <a:r>
              <a:rPr lang="en-US" sz="1800" b="1" dirty="0">
                <a:solidFill>
                  <a:srgbClr val="000000"/>
                </a:solidFill>
                <a:effectLst/>
                <a:uFill>
                  <a:solidFill>
                    <a:srgbClr val="000000"/>
                  </a:solidFill>
                </a:uFill>
                <a:latin typeface="Arial" panose="020B0604020202020204" pitchFamily="34" charset="0"/>
                <a:ea typeface="Arial" panose="020B0604020202020204" pitchFamily="34" charset="0"/>
              </a:rPr>
              <a:t>5. </a:t>
            </a:r>
            <a:r>
              <a:rPr lang="en-US" b="1" dirty="0">
                <a:solidFill>
                  <a:srgbClr val="000000"/>
                </a:solidFill>
                <a:uFill>
                  <a:solidFill>
                    <a:srgbClr val="000000"/>
                  </a:solidFill>
                </a:uFill>
                <a:latin typeface="Arial" panose="020B0604020202020204" pitchFamily="34" charset="0"/>
                <a:ea typeface="Arial" panose="020B0604020202020204" pitchFamily="34" charset="0"/>
              </a:rPr>
              <a:t>Kantor Wakil </a:t>
            </a:r>
            <a:r>
              <a:rPr lang="en-US" b="1" dirty="0" err="1">
                <a:solidFill>
                  <a:srgbClr val="000000"/>
                </a:solidFill>
                <a:uFill>
                  <a:solidFill>
                    <a:srgbClr val="000000"/>
                  </a:solidFill>
                </a:uFill>
                <a:latin typeface="Arial" panose="020B0604020202020204" pitchFamily="34" charset="0"/>
                <a:ea typeface="Arial" panose="020B0604020202020204" pitchFamily="34" charset="0"/>
              </a:rPr>
              <a:t>Presiden</a:t>
            </a:r>
            <a:r>
              <a:rPr lang="en-US" b="1" dirty="0">
                <a:solidFill>
                  <a:srgbClr val="000000"/>
                </a:solidFill>
                <a:uFill>
                  <a:solidFill>
                    <a:srgbClr val="000000"/>
                  </a:solidFill>
                </a:uFill>
                <a:latin typeface="Arial" panose="020B0604020202020204" pitchFamily="34" charset="0"/>
                <a:ea typeface="Arial" panose="020B0604020202020204" pitchFamily="34" charset="0"/>
              </a:rPr>
              <a:t> </a:t>
            </a:r>
            <a:r>
              <a:rPr lang="id-ID" sz="1800" b="1" dirty="0">
                <a:solidFill>
                  <a:srgbClr val="000000"/>
                </a:solidFill>
                <a:effectLst/>
                <a:uFill>
                  <a:solidFill>
                    <a:srgbClr val="000000"/>
                  </a:solidFill>
                </a:uFill>
                <a:latin typeface="Arial" panose="020B0604020202020204" pitchFamily="34" charset="0"/>
                <a:ea typeface="Arial" panose="020B0604020202020204" pitchFamily="34" charset="0"/>
              </a:rPr>
              <a:t>6.Masjid, 7. Gd Bina Graha.</a:t>
            </a:r>
            <a:endParaRPr lang="en-ID" sz="2400" dirty="0">
              <a:solidFill>
                <a:srgbClr val="000000"/>
              </a:solidFill>
              <a:effectLst/>
              <a:uFill>
                <a:solidFill>
                  <a:srgbClr val="000000"/>
                </a:solidFill>
              </a:u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85024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3A26A9-3FD2-4A1B-9BCD-0E2BF13DFC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pic>
        <p:nvPicPr>
          <p:cNvPr id="5" name="Picture 4">
            <a:extLst>
              <a:ext uri="{FF2B5EF4-FFF2-40B4-BE49-F238E27FC236}">
                <a16:creationId xmlns:a16="http://schemas.microsoft.com/office/drawing/2014/main" id="{9487B8AA-350D-426C-BAB2-2160E961F9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37409356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C33E60-11CA-4C7B-818D-11BAD6F0E9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5905111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4FC7A-E9B7-47B3-80EF-9ABA9FC8D4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2703275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999EE-0C3C-48D8-B7FC-6CD5173354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42302920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B5704B-3AE9-47A1-9886-088E056520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34019254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1A590C-5CE9-457E-B0AE-84D8612690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6799"/>
            <a:ext cx="9144000" cy="6464401"/>
          </a:xfrm>
          <a:prstGeom prst="rect">
            <a:avLst/>
          </a:prstGeom>
        </p:spPr>
      </p:pic>
    </p:spTree>
    <p:extLst>
      <p:ext uri="{BB962C8B-B14F-4D97-AF65-F5344CB8AC3E}">
        <p14:creationId xmlns:p14="http://schemas.microsoft.com/office/powerpoint/2010/main" val="307328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3DC769-E854-419E-B913-8FC967D4EE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92750"/>
            <a:ext cx="9144000" cy="6272499"/>
          </a:xfrm>
          <a:prstGeom prst="rect">
            <a:avLst/>
          </a:prstGeom>
        </p:spPr>
      </p:pic>
    </p:spTree>
    <p:extLst>
      <p:ext uri="{BB962C8B-B14F-4D97-AF65-F5344CB8AC3E}">
        <p14:creationId xmlns:p14="http://schemas.microsoft.com/office/powerpoint/2010/main" val="27888810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67435" y="520700"/>
            <a:ext cx="7287895" cy="398780"/>
          </a:xfrm>
          <a:prstGeom prst="rect">
            <a:avLst/>
          </a:prstGeom>
          <a:noFill/>
        </p:spPr>
        <p:txBody>
          <a:bodyPr wrap="square" rtlCol="0">
            <a:spAutoFit/>
          </a:bodyPr>
          <a:lstStyle/>
          <a:p>
            <a:pPr algn="ctr"/>
            <a:r>
              <a:rPr lang="en-SG" altLang="en-US" sz="2000" b="1">
                <a:sym typeface="+mn-ea"/>
              </a:rPr>
              <a:t>11</a:t>
            </a:r>
            <a:r>
              <a:rPr lang="en-US" sz="2000" b="1">
                <a:sym typeface="+mn-ea"/>
              </a:rPr>
              <a:t>. </a:t>
            </a:r>
            <a:r>
              <a:rPr lang="en-SG" altLang="en-US" sz="2000" b="1">
                <a:sym typeface="+mn-ea"/>
              </a:rPr>
              <a:t>    </a:t>
            </a:r>
            <a:r>
              <a:rPr lang="en-US" sz="2000" b="1">
                <a:sym typeface="+mn-ea"/>
              </a:rPr>
              <a:t> Me</a:t>
            </a:r>
            <a:r>
              <a:rPr lang="en-SG" altLang="en-US" sz="2000" b="1">
                <a:sym typeface="+mn-ea"/>
              </a:rPr>
              <a:t>mbuat Laporan Pengelolaan Bangunan Gedung</a:t>
            </a:r>
            <a:r>
              <a:rPr lang="en-US" sz="2000" b="1">
                <a:sym typeface="+mn-ea"/>
              </a:rPr>
              <a:t> </a:t>
            </a:r>
            <a:endParaRPr lang="en-SG" altLang="en-US" sz="2000" dirty="0">
              <a:solidFill>
                <a:srgbClr val="0070C0"/>
              </a:solidFill>
            </a:endParaRPr>
          </a:p>
        </p:txBody>
      </p:sp>
      <p:pic>
        <p:nvPicPr>
          <p:cNvPr id="4" name="Picture 3" descr="WhatsApp Image 2023-10-29 at 00.05.39 (2)"/>
          <p:cNvPicPr>
            <a:picLocks noChangeAspect="1"/>
          </p:cNvPicPr>
          <p:nvPr/>
        </p:nvPicPr>
        <p:blipFill>
          <a:blip r:embed="rId2"/>
          <a:stretch>
            <a:fillRect/>
          </a:stretch>
        </p:blipFill>
        <p:spPr>
          <a:xfrm>
            <a:off x="1143000" y="1219200"/>
            <a:ext cx="6858000" cy="44196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776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lang="en-SG" altLang="en-US" sz="2000" dirty="0" smtClean="0">
            <a:solidFill>
              <a:srgbClr val="0070C0"/>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827</TotalTime>
  <Words>3126</Words>
  <Application>Microsoft Office PowerPoint</Application>
  <PresentationFormat>On-screen Show (4:3)</PresentationFormat>
  <Paragraphs>251</Paragraphs>
  <Slides>63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Calibri</vt:lpstr>
      <vt:lpstr>Google Sans</vt:lpstr>
      <vt:lpstr>Montserrat</vt:lpstr>
      <vt:lpstr>Montserrat-FF</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Admin</cp:lastModifiedBy>
  <cp:revision>294</cp:revision>
  <dcterms:created xsi:type="dcterms:W3CDTF">2023-05-02T10:15:00Z</dcterms:created>
  <dcterms:modified xsi:type="dcterms:W3CDTF">2025-11-11T06:21:54Z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767B3C506E664D658C9DED46C8B4486A_13</vt:lpwstr>
  </property>
  <property fmtid="{D5CDD505-2E9C-101B-9397-08002B2CF9AE}" pid="3" name="KSOProductBuildVer">
    <vt:lpwstr>1033-12.2.0.13266</vt:lpwstr>
  </property>
</Properties>
</file>